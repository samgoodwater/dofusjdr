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601200" cy="12801600" type="A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5" d="100"/>
          <a:sy n="135" d="100"/>
        </p:scale>
        <p:origin x="76" y="-4484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8A492B-935E-8530-D727-D03458F3CE3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094140-3565-C791-6839-564CA34D7C4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801862" name="Title 1"/>
          <p:cNvSpPr>
            <a:spLocks noGrp="1"/>
          </p:cNvSpPr>
          <p:nvPr>
            <p:ph type="ctrTitle"/>
          </p:nvPr>
        </p:nvSpPr>
        <p:spPr bwMode="auto"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5145721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0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900"/>
            </a:lvl3pPr>
            <a:lvl4pPr marL="1440180" indent="0" algn="ctr">
              <a:buNone/>
              <a:defRPr sz="1700"/>
            </a:lvl4pPr>
            <a:lvl5pPr marL="1920240" indent="0" algn="ctr">
              <a:buNone/>
              <a:defRPr sz="1700"/>
            </a:lvl5pPr>
            <a:lvl6pPr marL="2400300" indent="0" algn="ctr">
              <a:buNone/>
              <a:defRPr sz="1700"/>
            </a:lvl6pPr>
            <a:lvl7pPr marL="2880360" indent="0" algn="ctr">
              <a:buNone/>
              <a:defRPr sz="1700"/>
            </a:lvl7pPr>
            <a:lvl8pPr marL="3360420" indent="0" algn="ctr">
              <a:buNone/>
              <a:defRPr sz="1700"/>
            </a:lvl8pPr>
            <a:lvl9pPr marL="3840480" indent="0" algn="ctr">
              <a:buNone/>
              <a:defRPr sz="17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6095782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9717600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780429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595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795331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9611320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15775781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477146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20027" name="Title 1"/>
          <p:cNvSpPr>
            <a:spLocks noGrp="1"/>
          </p:cNvSpPr>
          <p:nvPr>
            <p:ph type="title"/>
          </p:nvPr>
        </p:nvSpPr>
        <p:spPr bwMode="auto">
          <a:xfrm>
            <a:off x="655081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924358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55081" y="8567000"/>
            <a:ext cx="8281035" cy="2800349"/>
          </a:xfrm>
        </p:spPr>
        <p:txBody>
          <a:bodyPr/>
          <a:lstStyle>
            <a:lvl1pPr marL="0" indent="0">
              <a:buNone/>
              <a:defRPr sz="250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20653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6133553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526519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2553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213504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60082" y="3407833"/>
            <a:ext cx="4080510" cy="81224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4933119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860608" y="3407833"/>
            <a:ext cx="4080510" cy="81224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573137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5300341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588728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918167" name="Title 1"/>
          <p:cNvSpPr>
            <a:spLocks noGrp="1"/>
          </p:cNvSpPr>
          <p:nvPr>
            <p:ph type="title"/>
          </p:nvPr>
        </p:nvSpPr>
        <p:spPr bwMode="auto">
          <a:xfrm>
            <a:off x="661333" y="681570"/>
            <a:ext cx="8281035" cy="2474384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1474566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1334" y="3138171"/>
            <a:ext cx="4061757" cy="1537968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900" b="1"/>
            </a:lvl3pPr>
            <a:lvl4pPr marL="1440180" indent="0">
              <a:buNone/>
              <a:defRPr sz="1700" b="1"/>
            </a:lvl4pPr>
            <a:lvl5pPr marL="1920240" indent="0">
              <a:buNone/>
              <a:defRPr sz="1700" b="1"/>
            </a:lvl5pPr>
            <a:lvl6pPr marL="2400300" indent="0">
              <a:buNone/>
              <a:defRPr sz="1700" b="1"/>
            </a:lvl6pPr>
            <a:lvl7pPr marL="2880360" indent="0">
              <a:buNone/>
              <a:defRPr sz="1700" b="1"/>
            </a:lvl7pPr>
            <a:lvl8pPr marL="3360420" indent="0">
              <a:buNone/>
              <a:defRPr sz="1700" b="1"/>
            </a:lvl8pPr>
            <a:lvl9pPr marL="3840480" indent="0">
              <a:buNone/>
              <a:defRPr sz="17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51981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61334" y="4676140"/>
            <a:ext cx="4061757" cy="68778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8959773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860608" y="3138171"/>
            <a:ext cx="4081761" cy="1537968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900" b="1"/>
            </a:lvl3pPr>
            <a:lvl4pPr marL="1440180" indent="0">
              <a:buNone/>
              <a:defRPr sz="1700" b="1"/>
            </a:lvl4pPr>
            <a:lvl5pPr marL="1920240" indent="0">
              <a:buNone/>
              <a:defRPr sz="1700" b="1"/>
            </a:lvl5pPr>
            <a:lvl6pPr marL="2400300" indent="0">
              <a:buNone/>
              <a:defRPr sz="1700" b="1"/>
            </a:lvl6pPr>
            <a:lvl7pPr marL="2880360" indent="0">
              <a:buNone/>
              <a:defRPr sz="1700" b="1"/>
            </a:lvl7pPr>
            <a:lvl8pPr marL="3360420" indent="0">
              <a:buNone/>
              <a:defRPr sz="1700" b="1"/>
            </a:lvl8pPr>
            <a:lvl9pPr marL="3840480" indent="0">
              <a:buNone/>
              <a:defRPr sz="17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926268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860608" y="4676140"/>
            <a:ext cx="4081761" cy="68778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2325780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3360073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3537887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6531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76701286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6086697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883426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6143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15404326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5586821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11549" name="Title 1"/>
          <p:cNvSpPr>
            <a:spLocks noGrp="1"/>
          </p:cNvSpPr>
          <p:nvPr>
            <p:ph type="title"/>
          </p:nvPr>
        </p:nvSpPr>
        <p:spPr bwMode="auto">
          <a:xfrm>
            <a:off x="661333" y="853440"/>
            <a:ext cx="3096637" cy="2987040"/>
          </a:xfrm>
        </p:spPr>
        <p:txBody>
          <a:bodyPr anchor="b"/>
          <a:lstStyle>
            <a:lvl1pPr>
              <a:defRPr sz="335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796819105" name="Content Placeholder 2"/>
          <p:cNvSpPr>
            <a:spLocks noGrp="1"/>
          </p:cNvSpPr>
          <p:nvPr>
            <p:ph idx="1"/>
          </p:nvPr>
        </p:nvSpPr>
        <p:spPr bwMode="auto">
          <a:xfrm>
            <a:off x="4081760" y="1843196"/>
            <a:ext cx="4860608" cy="9097433"/>
          </a:xfrm>
        </p:spPr>
        <p:txBody>
          <a:bodyPr/>
          <a:lstStyle>
            <a:lvl1pPr>
              <a:defRPr sz="3350"/>
            </a:lvl1pPr>
            <a:lvl2pPr>
              <a:defRPr sz="295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9629209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700"/>
            </a:lvl1pPr>
            <a:lvl2pPr marL="480060" indent="0">
              <a:buNone/>
              <a:defRPr sz="1450"/>
            </a:lvl2pPr>
            <a:lvl3pPr marL="960120" indent="0">
              <a:buNone/>
              <a:defRPr sz="125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3132100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15687667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330529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83607" name="Title 1"/>
          <p:cNvSpPr>
            <a:spLocks noGrp="1"/>
          </p:cNvSpPr>
          <p:nvPr>
            <p:ph type="title"/>
          </p:nvPr>
        </p:nvSpPr>
        <p:spPr bwMode="auto">
          <a:xfrm>
            <a:off x="661333" y="853440"/>
            <a:ext cx="3096637" cy="2987040"/>
          </a:xfrm>
        </p:spPr>
        <p:txBody>
          <a:bodyPr anchor="b"/>
          <a:lstStyle>
            <a:lvl1pPr>
              <a:defRPr sz="335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852606579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50"/>
            </a:lvl1pPr>
            <a:lvl2pPr marL="480060" indent="0">
              <a:buNone/>
              <a:defRPr sz="2950"/>
            </a:lvl2pPr>
            <a:lvl3pPr marL="960120" indent="0">
              <a:buNone/>
              <a:defRPr sz="250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8791679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700"/>
            </a:lvl1pPr>
            <a:lvl2pPr marL="480060" indent="0">
              <a:buNone/>
              <a:defRPr sz="1450"/>
            </a:lvl2pPr>
            <a:lvl3pPr marL="960120" indent="0">
              <a:buNone/>
              <a:defRPr sz="125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2195878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11708416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013143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71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92422478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814340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18773389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634483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7266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870859" y="681566"/>
            <a:ext cx="2070259" cy="10848764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1405903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60082" y="681566"/>
            <a:ext cx="6090760" cy="10848764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6398016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1003955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81677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594195" name="Title Placeholder 1"/>
          <p:cNvSpPr>
            <a:spLocks noGrp="1"/>
          </p:cNvSpPr>
          <p:nvPr>
            <p:ph type="title"/>
          </p:nvPr>
        </p:nvSpPr>
        <p:spPr bwMode="auto">
          <a:xfrm>
            <a:off x="660082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297186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0082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3497983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60082" y="11865189"/>
            <a:ext cx="2160270" cy="681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3F300BA-884B-492F-9DA2-6FBA3E12B197}" type="datetimeFigureOut">
              <a:rPr lang="fr-FR"/>
              <a:t>17/10/2026</a:t>
            </a:fld>
            <a:endParaRPr lang="fr-FR"/>
          </a:p>
        </p:txBody>
      </p:sp>
      <p:sp>
        <p:nvSpPr>
          <p:cNvPr id="95196754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80398" y="11865189"/>
            <a:ext cx="3240405" cy="681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505686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780847" y="11865189"/>
            <a:ext cx="2160270" cy="681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60120" rtl="0">
        <a:lnSpc>
          <a:spcPct val="90000"/>
        </a:lnSpc>
        <a:spcBef>
          <a:spcPts val="0"/>
        </a:spcBef>
        <a:buNone/>
        <a:defRPr sz="4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>
        <a:lnSpc>
          <a:spcPct val="90000"/>
        </a:lnSpc>
        <a:spcBef>
          <a:spcPts val="1050"/>
        </a:spcBef>
        <a:buFont typeface="Arial"/>
        <a:buChar char="•"/>
        <a:defRPr sz="295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11.png"/><Relationship Id="rId26" Type="http://schemas.openxmlformats.org/officeDocument/2006/relationships/image" Target="../media/image38.png"/><Relationship Id="rId39" Type="http://schemas.openxmlformats.org/officeDocument/2006/relationships/image" Target="../media/image24.png"/><Relationship Id="rId21" Type="http://schemas.openxmlformats.org/officeDocument/2006/relationships/image" Target="../media/image4.png"/><Relationship Id="rId34" Type="http://schemas.openxmlformats.org/officeDocument/2006/relationships/image" Target="../media/image31.png"/><Relationship Id="rId42" Type="http://schemas.openxmlformats.org/officeDocument/2006/relationships/image" Target="../media/image2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40.png"/><Relationship Id="rId32" Type="http://schemas.openxmlformats.org/officeDocument/2006/relationships/image" Target="../media/image27.png"/><Relationship Id="rId37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image" Target="../media/image17.png"/><Relationship Id="rId5" Type="http://schemas.openxmlformats.org/officeDocument/2006/relationships/image" Target="../media/image55.png"/><Relationship Id="rId15" Type="http://schemas.openxmlformats.org/officeDocument/2006/relationships/image" Target="../media/image53.png"/><Relationship Id="rId23" Type="http://schemas.openxmlformats.org/officeDocument/2006/relationships/image" Target="../media/image18.png"/><Relationship Id="rId28" Type="http://schemas.openxmlformats.org/officeDocument/2006/relationships/image" Target="../media/image36.png"/><Relationship Id="rId36" Type="http://schemas.openxmlformats.org/officeDocument/2006/relationships/image" Target="../media/image16.png"/><Relationship Id="rId10" Type="http://schemas.openxmlformats.org/officeDocument/2006/relationships/image" Target="../media/image60.png"/><Relationship Id="rId19" Type="http://schemas.openxmlformats.org/officeDocument/2006/relationships/image" Target="../media/image5.png"/><Relationship Id="rId31" Type="http://schemas.openxmlformats.org/officeDocument/2006/relationships/image" Target="../media/image28.png"/><Relationship Id="rId44" Type="http://schemas.openxmlformats.org/officeDocument/2006/relationships/image" Target="../media/image1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.png"/><Relationship Id="rId27" Type="http://schemas.openxmlformats.org/officeDocument/2006/relationships/image" Target="../media/image37.png"/><Relationship Id="rId30" Type="http://schemas.openxmlformats.org/officeDocument/2006/relationships/image" Target="../media/image34.png"/><Relationship Id="rId35" Type="http://schemas.openxmlformats.org/officeDocument/2006/relationships/image" Target="../media/image29.png"/><Relationship Id="rId43" Type="http://schemas.openxmlformats.org/officeDocument/2006/relationships/image" Target="../media/image22.png"/><Relationship Id="rId8" Type="http://schemas.openxmlformats.org/officeDocument/2006/relationships/image" Target="../media/image58.png"/><Relationship Id="rId3" Type="http://schemas.openxmlformats.org/officeDocument/2006/relationships/image" Target="../media/image9.png"/><Relationship Id="rId12" Type="http://schemas.openxmlformats.org/officeDocument/2006/relationships/image" Target="../media/image62.png"/><Relationship Id="rId17" Type="http://schemas.openxmlformats.org/officeDocument/2006/relationships/image" Target="../media/image19.png"/><Relationship Id="rId25" Type="http://schemas.openxmlformats.org/officeDocument/2006/relationships/image" Target="../media/image39.png"/><Relationship Id="rId33" Type="http://schemas.openxmlformats.org/officeDocument/2006/relationships/image" Target="../media/image30.png"/><Relationship Id="rId38" Type="http://schemas.openxmlformats.org/officeDocument/2006/relationships/image" Target="../media/image25.png"/><Relationship Id="rId46" Type="http://schemas.openxmlformats.org/officeDocument/2006/relationships/image" Target="../media/image10.png"/><Relationship Id="rId20" Type="http://schemas.openxmlformats.org/officeDocument/2006/relationships/image" Target="../media/image6.png"/><Relationship Id="rId4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6023474" name="Groupe 2050"/>
          <p:cNvGrpSpPr/>
          <p:nvPr/>
        </p:nvGrpSpPr>
        <p:grpSpPr bwMode="auto">
          <a:xfrm>
            <a:off x="3146885" y="232386"/>
            <a:ext cx="6189934" cy="1729619"/>
            <a:chOff x="3290317" y="321435"/>
            <a:chExt cx="6189934" cy="1729619"/>
          </a:xfrm>
        </p:grpSpPr>
        <p:grpSp>
          <p:nvGrpSpPr>
            <p:cNvPr id="5" name="Groupe 4"/>
            <p:cNvGrpSpPr/>
            <p:nvPr/>
          </p:nvGrpSpPr>
          <p:grpSpPr bwMode="auto">
            <a:xfrm>
              <a:off x="3290317" y="330576"/>
              <a:ext cx="2788239" cy="540000"/>
              <a:chOff x="0" y="0"/>
              <a:chExt cx="2137611" cy="281354"/>
            </a:xfrm>
          </p:grpSpPr>
          <p:sp>
            <p:nvSpPr>
              <p:cNvPr id="6" name="Rectangle : coins arrondis 5"/>
              <p:cNvSpPr/>
              <p:nvPr/>
            </p:nvSpPr>
            <p:spPr bwMode="auto">
              <a:xfrm>
                <a:off x="4011" y="0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7" name="Zone de texte 4"/>
              <p:cNvSpPr txBox="1"/>
              <p:nvPr/>
            </p:nvSpPr>
            <p:spPr bwMode="auto">
              <a:xfrm>
                <a:off x="0" y="0"/>
                <a:ext cx="1071134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Nom prénom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8" name="Groupe 7"/>
            <p:cNvGrpSpPr/>
            <p:nvPr/>
          </p:nvGrpSpPr>
          <p:grpSpPr bwMode="auto">
            <a:xfrm>
              <a:off x="3291918" y="952247"/>
              <a:ext cx="1975026" cy="540000"/>
              <a:chOff x="0" y="0"/>
              <a:chExt cx="2137611" cy="281354"/>
            </a:xfrm>
          </p:grpSpPr>
          <p:sp>
            <p:nvSpPr>
              <p:cNvPr id="9" name="Rectangle : coins arrondis 8"/>
              <p:cNvSpPr/>
              <p:nvPr/>
            </p:nvSpPr>
            <p:spPr bwMode="auto">
              <a:xfrm>
                <a:off x="4011" y="0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10" name="Zone de texte 8"/>
              <p:cNvSpPr txBox="1"/>
              <p:nvPr/>
            </p:nvSpPr>
            <p:spPr bwMode="auto">
              <a:xfrm>
                <a:off x="0" y="0"/>
                <a:ext cx="1460212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Classe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11" name="Groupe 10"/>
            <p:cNvGrpSpPr/>
            <p:nvPr/>
          </p:nvGrpSpPr>
          <p:grpSpPr bwMode="auto">
            <a:xfrm>
              <a:off x="5351346" y="941085"/>
              <a:ext cx="727210" cy="540000"/>
              <a:chOff x="-3" y="0"/>
              <a:chExt cx="2137614" cy="281354"/>
            </a:xfrm>
          </p:grpSpPr>
          <p:sp>
            <p:nvSpPr>
              <p:cNvPr id="12" name="Rectangle : coins arrondis 11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13" name="Zone de texte 11"/>
              <p:cNvSpPr txBox="1"/>
              <p:nvPr/>
            </p:nvSpPr>
            <p:spPr bwMode="auto">
              <a:xfrm>
                <a:off x="-3" y="0"/>
                <a:ext cx="2116127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Niveau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17" name="Groupe 16"/>
            <p:cNvGrpSpPr/>
            <p:nvPr/>
          </p:nvGrpSpPr>
          <p:grpSpPr bwMode="auto">
            <a:xfrm>
              <a:off x="6159511" y="321435"/>
              <a:ext cx="2367543" cy="1160582"/>
              <a:chOff x="-1767" y="-12734"/>
              <a:chExt cx="2144858" cy="604693"/>
            </a:xfrm>
          </p:grpSpPr>
          <p:sp>
            <p:nvSpPr>
              <p:cNvPr id="18" name="Rectangle : coins arrondis 17"/>
              <p:cNvSpPr/>
              <p:nvPr/>
            </p:nvSpPr>
            <p:spPr bwMode="auto">
              <a:xfrm>
                <a:off x="4854" y="-12734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19" name="Zone de texte 17"/>
              <p:cNvSpPr txBox="1"/>
              <p:nvPr/>
            </p:nvSpPr>
            <p:spPr bwMode="auto"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Alignement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432" name="Rectangle : coins arrondis 2431"/>
              <p:cNvSpPr/>
              <p:nvPr/>
            </p:nvSpPr>
            <p:spPr bwMode="auto">
              <a:xfrm>
                <a:off x="9491" y="310604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433" name="Zone de texte 17"/>
              <p:cNvSpPr txBox="1"/>
              <p:nvPr/>
            </p:nvSpPr>
            <p:spPr bwMode="auto">
              <a:xfrm>
                <a:off x="-1767" y="310522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Spécialisation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20" name="Groupe 19"/>
            <p:cNvGrpSpPr/>
            <p:nvPr/>
          </p:nvGrpSpPr>
          <p:grpSpPr bwMode="auto">
            <a:xfrm>
              <a:off x="8613691" y="761857"/>
              <a:ext cx="866560" cy="288000"/>
              <a:chOff x="-3" y="0"/>
              <a:chExt cx="2137614" cy="281354"/>
            </a:xfrm>
          </p:grpSpPr>
          <p:sp>
            <p:nvSpPr>
              <p:cNvPr id="21" name="Rectangle : coins arrondis 20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2" name="Zone de texte 23"/>
              <p:cNvSpPr txBox="1"/>
              <p:nvPr/>
            </p:nvSpPr>
            <p:spPr bwMode="auto">
              <a:xfrm>
                <a:off x="-3" y="0"/>
                <a:ext cx="2116126" cy="23673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Age</a:t>
                </a:r>
                <a:endPara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23" name="Groupe 22"/>
            <p:cNvGrpSpPr/>
            <p:nvPr/>
          </p:nvGrpSpPr>
          <p:grpSpPr bwMode="auto">
            <a:xfrm>
              <a:off x="8618508" y="1192948"/>
              <a:ext cx="850354" cy="288000"/>
              <a:chOff x="-3" y="0"/>
              <a:chExt cx="2137614" cy="281354"/>
            </a:xfrm>
          </p:grpSpPr>
          <p:sp>
            <p:nvSpPr>
              <p:cNvPr id="24" name="Rectangle : coins arrondis 23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5" name="Zone de texte 20"/>
              <p:cNvSpPr txBox="1"/>
              <p:nvPr/>
            </p:nvSpPr>
            <p:spPr bwMode="auto">
              <a:xfrm>
                <a:off x="-3" y="0"/>
                <a:ext cx="2116127" cy="23933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Taille</a:t>
                </a:r>
                <a:endPara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26" name="Groupe 25"/>
            <p:cNvGrpSpPr/>
            <p:nvPr/>
          </p:nvGrpSpPr>
          <p:grpSpPr bwMode="auto">
            <a:xfrm>
              <a:off x="8620194" y="345876"/>
              <a:ext cx="851955" cy="288000"/>
              <a:chOff x="-3" y="0"/>
              <a:chExt cx="2137614" cy="281354"/>
            </a:xfrm>
          </p:grpSpPr>
          <p:sp>
            <p:nvSpPr>
              <p:cNvPr id="27" name="Rectangle : coins arrondis 26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8" name="Zone de texte 26"/>
              <p:cNvSpPr txBox="1"/>
              <p:nvPr/>
            </p:nvSpPr>
            <p:spPr bwMode="auto">
              <a:xfrm>
                <a:off x="-3" y="0"/>
                <a:ext cx="2116127" cy="21842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Poids</a:t>
                </a:r>
                <a:endPara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92" name="Groupe 91"/>
            <p:cNvGrpSpPr/>
            <p:nvPr/>
          </p:nvGrpSpPr>
          <p:grpSpPr bwMode="auto">
            <a:xfrm>
              <a:off x="3291917" y="1606279"/>
              <a:ext cx="4222133" cy="444775"/>
              <a:chOff x="0" y="-1"/>
              <a:chExt cx="1463148" cy="335015"/>
            </a:xfrm>
          </p:grpSpPr>
          <p:sp>
            <p:nvSpPr>
              <p:cNvPr id="93" name="Rectangle : coins arrondis 92"/>
              <p:cNvSpPr/>
              <p:nvPr/>
            </p:nvSpPr>
            <p:spPr bwMode="auto">
              <a:xfrm>
                <a:off x="4011" y="-1"/>
                <a:ext cx="1459137" cy="335015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94" name="Zone de texte 17"/>
              <p:cNvSpPr txBox="1"/>
              <p:nvPr/>
            </p:nvSpPr>
            <p:spPr bwMode="auto"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105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Traits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</p:grpSp>
      <p:grpSp>
        <p:nvGrpSpPr>
          <p:cNvPr id="983220499" name="Groupe 275"/>
          <p:cNvGrpSpPr/>
          <p:nvPr/>
        </p:nvGrpSpPr>
        <p:grpSpPr bwMode="auto">
          <a:xfrm>
            <a:off x="2151209" y="9852745"/>
            <a:ext cx="1847789" cy="604192"/>
            <a:chOff x="1843754" y="12084750"/>
            <a:chExt cx="1847789" cy="604192"/>
          </a:xfrm>
        </p:grpSpPr>
        <p:sp>
          <p:nvSpPr>
            <p:cNvPr id="293" name="Rectangle : coins arrondis 292"/>
            <p:cNvSpPr/>
            <p:nvPr/>
          </p:nvSpPr>
          <p:spPr bwMode="auto">
            <a:xfrm>
              <a:off x="2340726" y="12084750"/>
              <a:ext cx="1350817" cy="54000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400">
                  <a:solidFill>
                    <a:srgbClr val="00695C"/>
                  </a:solidFill>
                  <a:latin typeface="Segoe UI"/>
                  <a:ea typeface="Calibri"/>
                  <a:cs typeface="Segoe UI"/>
                </a:rPr>
                <a:t> </a:t>
              </a:r>
              <a:endParaRPr lang="fr-FR" sz="1050">
                <a:latin typeface="Segoe UI"/>
                <a:ea typeface="Calibri"/>
                <a:cs typeface="Segoe UI"/>
              </a:endParaRPr>
            </a:p>
          </p:txBody>
        </p:sp>
        <p:sp>
          <p:nvSpPr>
            <p:cNvPr id="289" name="Zone de texte 61"/>
            <p:cNvSpPr txBox="1"/>
            <p:nvPr/>
          </p:nvSpPr>
          <p:spPr bwMode="auto">
            <a:xfrm>
              <a:off x="1843754" y="12409634"/>
              <a:ext cx="623518" cy="27930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800">
                  <a:solidFill>
                    <a:schemeClr val="accent4">
                      <a:lumMod val="75000"/>
                    </a:schemeClr>
                  </a:solidFill>
                  <a:latin typeface="Segoe UI"/>
                  <a:ea typeface="Calibri"/>
                  <a:cs typeface="Segoe UI"/>
                </a:rPr>
                <a:t>Kamas</a:t>
              </a:r>
            </a:p>
          </p:txBody>
        </p:sp>
        <p:pic>
          <p:nvPicPr>
            <p:cNvPr id="2098" name="Picture 50"/>
            <p:cNvPicPr>
              <a:picLocks noChangeAspect="1" noChangeArrowheads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1936685" y="12102197"/>
              <a:ext cx="335404" cy="323207"/>
            </a:xfrm>
            <a:prstGeom prst="rect">
              <a:avLst/>
            </a:prstGeom>
            <a:noFill/>
          </p:spPr>
        </p:pic>
        <p:pic>
          <p:nvPicPr>
            <p:cNvPr id="2100" name="Picture 52"/>
            <p:cNvPicPr>
              <a:picLocks noChangeAspect="1" noChangeArrowheads="1"/>
            </p:cNvPicPr>
            <p:nvPr/>
          </p:nvPicPr>
          <p:blipFill rotWithShape="1">
            <a:blip r:embed="rId4"/>
            <a:stretch/>
          </p:blipFill>
          <p:spPr bwMode="auto">
            <a:xfrm flipV="1">
              <a:off x="3374632" y="12232089"/>
              <a:ext cx="263611" cy="254025"/>
            </a:xfrm>
            <a:prstGeom prst="rect">
              <a:avLst/>
            </a:prstGeom>
            <a:noFill/>
          </p:spPr>
        </p:pic>
      </p:grpSp>
      <p:sp>
        <p:nvSpPr>
          <p:cNvPr id="1376311320" name="Rectangle 102"/>
          <p:cNvSpPr/>
          <p:nvPr/>
        </p:nvSpPr>
        <p:spPr bwMode="auto">
          <a:xfrm>
            <a:off x="154587" y="1604687"/>
            <a:ext cx="293546" cy="298021"/>
          </a:xfrm>
          <a:custGeom>
            <a:avLst/>
            <a:gdLst>
              <a:gd name="csX0" fmla="*/ 0 w 293547"/>
              <a:gd name="csY0" fmla="*/ 0 h 298021"/>
              <a:gd name="csX1" fmla="*/ 293547 w 293547"/>
              <a:gd name="csY1" fmla="*/ 0 h 298021"/>
              <a:gd name="csX2" fmla="*/ 293547 w 293547"/>
              <a:gd name="csY2" fmla="*/ 298021 h 298021"/>
              <a:gd name="csX3" fmla="*/ 0 w 293547"/>
              <a:gd name="csY3" fmla="*/ 298021 h 298021"/>
              <a:gd name="csX4" fmla="*/ 0 w 293547"/>
              <a:gd name="csY4" fmla="*/ 0 h 298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547" h="298021" fill="none" extrusionOk="0">
                <a:moveTo>
                  <a:pt x="0" y="0"/>
                </a:moveTo>
                <a:cubicBezTo>
                  <a:pt x="65742" y="-29325"/>
                  <a:pt x="228564" y="10355"/>
                  <a:pt x="293547" y="0"/>
                </a:cubicBezTo>
                <a:cubicBezTo>
                  <a:pt x="302528" y="63850"/>
                  <a:pt x="277618" y="167206"/>
                  <a:pt x="293547" y="298021"/>
                </a:cubicBezTo>
                <a:cubicBezTo>
                  <a:pt x="179902" y="301523"/>
                  <a:pt x="93642" y="285874"/>
                  <a:pt x="0" y="298021"/>
                </a:cubicBezTo>
                <a:cubicBezTo>
                  <a:pt x="-28277" y="236774"/>
                  <a:pt x="32863" y="132860"/>
                  <a:pt x="0" y="0"/>
                </a:cubicBezTo>
                <a:close/>
              </a:path>
              <a:path w="293547" h="298021" stroke="0" extrusionOk="0">
                <a:moveTo>
                  <a:pt x="0" y="0"/>
                </a:moveTo>
                <a:cubicBezTo>
                  <a:pt x="146008" y="-4022"/>
                  <a:pt x="175163" y="21890"/>
                  <a:pt x="293547" y="0"/>
                </a:cubicBezTo>
                <a:cubicBezTo>
                  <a:pt x="309682" y="88200"/>
                  <a:pt x="257965" y="195500"/>
                  <a:pt x="293547" y="298021"/>
                </a:cubicBezTo>
                <a:cubicBezTo>
                  <a:pt x="194268" y="298869"/>
                  <a:pt x="137709" y="287164"/>
                  <a:pt x="0" y="298021"/>
                </a:cubicBezTo>
                <a:cubicBezTo>
                  <a:pt x="-26809" y="228704"/>
                  <a:pt x="4258" y="61614"/>
                  <a:pt x="0" y="0"/>
                </a:cubicBezTo>
                <a:close/>
              </a:path>
            </a:pathLst>
          </a:custGeom>
          <a:solidFill>
            <a:srgbClr val="DBEAFE"/>
          </a:solidFill>
          <a:ln w="38100">
            <a:solidFill>
              <a:srgbClr val="1E3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600">
              <a:latin typeface="Segoe UI"/>
              <a:cs typeface="Segoe UI"/>
            </a:endParaRPr>
          </a:p>
        </p:txBody>
      </p:sp>
      <p:sp>
        <p:nvSpPr>
          <p:cNvPr id="325421567" name="ZoneTexte 104"/>
          <p:cNvSpPr txBox="1"/>
          <p:nvPr/>
        </p:nvSpPr>
        <p:spPr bwMode="auto">
          <a:xfrm>
            <a:off x="455705" y="1600295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400">
                <a:latin typeface="Segoe UI"/>
                <a:cs typeface="Segoe UI"/>
              </a:rPr>
              <a:t>Inspiration</a:t>
            </a:r>
            <a:endParaRPr/>
          </a:p>
        </p:txBody>
      </p:sp>
      <p:sp>
        <p:nvSpPr>
          <p:cNvPr id="1408100575" name="Rectangle : coins arrondis 28"/>
          <p:cNvSpPr/>
          <p:nvPr/>
        </p:nvSpPr>
        <p:spPr bwMode="auto">
          <a:xfrm>
            <a:off x="1576539" y="169152"/>
            <a:ext cx="1438987" cy="181131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600">
              <a:latin typeface="Segoe UI"/>
              <a:cs typeface="Segoe UI"/>
            </a:endParaRPr>
          </a:p>
        </p:txBody>
      </p:sp>
      <p:pic>
        <p:nvPicPr>
          <p:cNvPr id="2053494725" name="Graphique 30"/>
          <p:cNvPicPr>
            <a:picLocks noChangeAspect="1"/>
          </p:cNvPicPr>
          <p:nvPr/>
        </p:nvPicPr>
        <p:blipFill rotWithShape="1">
          <a:blip r:embed="rId5">
            <a:alphaModFix amt="9000"/>
          </a:blip>
          <a:srcRect l="6529" t="-820" r="12057" b="-3605"/>
          <a:stretch/>
        </p:blipFill>
        <p:spPr bwMode="auto">
          <a:xfrm>
            <a:off x="1660765" y="204351"/>
            <a:ext cx="1250519" cy="1698358"/>
          </a:xfrm>
          <a:prstGeom prst="rect">
            <a:avLst/>
          </a:prstGeom>
        </p:spPr>
      </p:pic>
      <p:grpSp>
        <p:nvGrpSpPr>
          <p:cNvPr id="971246051" name="Groupe 2234"/>
          <p:cNvGrpSpPr/>
          <p:nvPr/>
        </p:nvGrpSpPr>
        <p:grpSpPr bwMode="auto">
          <a:xfrm>
            <a:off x="4130504" y="2025177"/>
            <a:ext cx="3500393" cy="976567"/>
            <a:chOff x="4028401" y="2130277"/>
            <a:chExt cx="3500393" cy="976567"/>
          </a:xfrm>
        </p:grpSpPr>
        <p:grpSp>
          <p:nvGrpSpPr>
            <p:cNvPr id="2231" name="Groupe 2230"/>
            <p:cNvGrpSpPr/>
            <p:nvPr/>
          </p:nvGrpSpPr>
          <p:grpSpPr bwMode="auto">
            <a:xfrm>
              <a:off x="4866633" y="2142130"/>
              <a:ext cx="864884" cy="964714"/>
              <a:chOff x="4851498" y="4327033"/>
              <a:chExt cx="864884" cy="964714"/>
            </a:xfrm>
          </p:grpSpPr>
          <p:grpSp>
            <p:nvGrpSpPr>
              <p:cNvPr id="2230" name="Groupe 2229"/>
              <p:cNvGrpSpPr/>
              <p:nvPr/>
            </p:nvGrpSpPr>
            <p:grpSpPr bwMode="auto">
              <a:xfrm>
                <a:off x="4851498" y="4327033"/>
                <a:ext cx="864884" cy="964714"/>
                <a:chOff x="4849684" y="4327033"/>
                <a:chExt cx="864884" cy="964714"/>
              </a:xfrm>
            </p:grpSpPr>
            <p:grpSp>
              <p:nvGrpSpPr>
                <p:cNvPr id="245" name="Groupe 244"/>
                <p:cNvGrpSpPr/>
                <p:nvPr/>
              </p:nvGrpSpPr>
              <p:grpSpPr bwMode="auto">
                <a:xfrm>
                  <a:off x="4882063" y="4327033"/>
                  <a:ext cx="725844" cy="788269"/>
                  <a:chOff x="3990094" y="4467241"/>
                  <a:chExt cx="725844" cy="788269"/>
                </a:xfrm>
              </p:grpSpPr>
              <p:sp>
                <p:nvSpPr>
                  <p:cNvPr id="246" name="Rectangle : coins arrondis 245"/>
                  <p:cNvSpPr/>
                  <p:nvPr/>
                </p:nvSpPr>
                <p:spPr bwMode="auto">
                  <a:xfrm>
                    <a:off x="3990094" y="4715510"/>
                    <a:ext cx="725844" cy="5400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247" name="ZoneTexte 246"/>
                  <p:cNvSpPr txBox="1"/>
                  <p:nvPr/>
                </p:nvSpPr>
                <p:spPr bwMode="auto">
                  <a:xfrm>
                    <a:off x="3992441" y="4467241"/>
                    <a:ext cx="69817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PM</a:t>
                    </a:r>
                    <a:endParaRPr/>
                  </a:p>
                </p:txBody>
              </p:sp>
            </p:grpSp>
            <p:pic>
              <p:nvPicPr>
                <p:cNvPr id="2076" name="Picture 28"/>
                <p:cNvPicPr>
                  <a:picLocks noChangeAspect="1" noChangeArrowheads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>
                  <a:off x="4849684" y="4350051"/>
                  <a:ext cx="180000" cy="180000"/>
                </a:xfrm>
                <a:prstGeom prst="rect">
                  <a:avLst/>
                </a:prstGeom>
                <a:noFill/>
              </p:spPr>
            </p:pic>
            <p:sp>
              <p:nvSpPr>
                <p:cNvPr id="304" name="Zone de texte 80"/>
                <p:cNvSpPr txBox="1"/>
                <p:nvPr/>
              </p:nvSpPr>
              <p:spPr bwMode="auto">
                <a:xfrm>
                  <a:off x="4897040" y="5082197"/>
                  <a:ext cx="719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[3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grpSp>
              <p:nvGrpSpPr>
                <p:cNvPr id="474" name="Groupe 473"/>
                <p:cNvGrpSpPr/>
                <p:nvPr/>
              </p:nvGrpSpPr>
              <p:grpSpPr bwMode="auto">
                <a:xfrm>
                  <a:off x="5241244" y="4586628"/>
                  <a:ext cx="473324" cy="271925"/>
                  <a:chOff x="5241244" y="4726836"/>
                  <a:chExt cx="473324" cy="271925"/>
                </a:xfrm>
              </p:grpSpPr>
              <p:cxnSp>
                <p:nvCxnSpPr>
                  <p:cNvPr id="466" name="Connecteur : en angle 465"/>
                  <p:cNvCxnSpPr/>
                  <p:nvPr/>
                </p:nvCxnSpPr>
                <p:spPr bwMode="auto">
                  <a:xfrm>
                    <a:off x="5348058" y="4726836"/>
                    <a:ext cx="252000" cy="252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3" name="ZoneTexte 472"/>
                  <p:cNvSpPr txBox="1"/>
                  <p:nvPr/>
                </p:nvSpPr>
                <p:spPr bwMode="auto">
                  <a:xfrm>
                    <a:off x="5241244" y="4860262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300" spc="-20">
                        <a:solidFill>
                          <a:schemeClr val="bg1">
                            <a:lumMod val="65000"/>
                          </a:schemeClr>
                        </a:solidFill>
                        <a:latin typeface="Segoe UI"/>
                        <a:cs typeface="Segoe UI"/>
                      </a:rPr>
                      <a:t>MONTURE</a:t>
                    </a:r>
                    <a:endParaRPr/>
                  </a:p>
                </p:txBody>
              </p:sp>
            </p:grpSp>
            <p:sp>
              <p:nvSpPr>
                <p:cNvPr id="427" name="ZoneTexte 426"/>
                <p:cNvSpPr txBox="1"/>
                <p:nvPr/>
              </p:nvSpPr>
              <p:spPr bwMode="auto">
                <a:xfrm>
                  <a:off x="5413623" y="4937788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6</a:t>
                  </a:r>
                  <a:endParaRPr/>
                </a:p>
              </p:txBody>
            </p:sp>
          </p:grpSp>
          <p:sp>
            <p:nvSpPr>
              <p:cNvPr id="420" name="ZoneTexte 419"/>
              <p:cNvSpPr txBox="1"/>
              <p:nvPr/>
            </p:nvSpPr>
            <p:spPr bwMode="auto">
              <a:xfrm>
                <a:off x="4856194" y="4564440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3</a:t>
                </a:r>
                <a:endParaRPr/>
              </a:p>
            </p:txBody>
          </p:sp>
        </p:grpSp>
        <p:grpSp>
          <p:nvGrpSpPr>
            <p:cNvPr id="2234" name="Groupe 2233"/>
            <p:cNvGrpSpPr/>
            <p:nvPr/>
          </p:nvGrpSpPr>
          <p:grpSpPr bwMode="auto">
            <a:xfrm>
              <a:off x="6352990" y="2133966"/>
              <a:ext cx="1175804" cy="956999"/>
              <a:chOff x="6327799" y="4318427"/>
              <a:chExt cx="1175804" cy="956999"/>
            </a:xfrm>
          </p:grpSpPr>
          <p:grpSp>
            <p:nvGrpSpPr>
              <p:cNvPr id="251" name="Groupe 250"/>
              <p:cNvGrpSpPr/>
              <p:nvPr/>
            </p:nvGrpSpPr>
            <p:grpSpPr bwMode="auto">
              <a:xfrm>
                <a:off x="6550528" y="4318427"/>
                <a:ext cx="736104" cy="784902"/>
                <a:chOff x="3979834" y="4470608"/>
                <a:chExt cx="736104" cy="784902"/>
              </a:xfrm>
            </p:grpSpPr>
            <p:sp>
              <p:nvSpPr>
                <p:cNvPr id="252" name="Rectangle : coins arrondis 251"/>
                <p:cNvSpPr/>
                <p:nvPr/>
              </p:nvSpPr>
              <p:spPr bwMode="auto">
                <a:xfrm>
                  <a:off x="3990094" y="4715510"/>
                  <a:ext cx="725844" cy="540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53" name="ZoneTexte 252"/>
                <p:cNvSpPr txBox="1"/>
                <p:nvPr/>
              </p:nvSpPr>
              <p:spPr bwMode="auto">
                <a:xfrm>
                  <a:off x="3979834" y="4470608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100">
                      <a:solidFill>
                        <a:srgbClr val="C00000"/>
                      </a:solidFill>
                      <a:latin typeface="Segoe UI"/>
                      <a:cs typeface="Segoe UI"/>
                    </a:rPr>
                    <a:t>Ini</a:t>
                  </a:r>
                  <a:endParaRPr/>
                </a:p>
              </p:txBody>
            </p:sp>
          </p:grpSp>
          <p:pic>
            <p:nvPicPr>
              <p:cNvPr id="2084" name="Picture 36"/>
              <p:cNvPicPr>
                <a:picLocks noChangeAspect="1" noChangeArrowheads="1"/>
              </p:cNvPicPr>
              <p:nvPr/>
            </p:nvPicPr>
            <p:blipFill rotWithShape="1">
              <a:blip r:embed="rId7"/>
              <a:stretch/>
            </p:blipFill>
            <p:spPr bwMode="auto">
              <a:xfrm>
                <a:off x="6539302" y="4360029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389" name="Zone de texte 80"/>
              <p:cNvSpPr txBox="1"/>
              <p:nvPr/>
            </p:nvSpPr>
            <p:spPr bwMode="auto">
              <a:xfrm>
                <a:off x="6327799" y="5083256"/>
                <a:ext cx="1175804" cy="1921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[Mod. Intel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38" name="ZoneTexte 437"/>
              <p:cNvSpPr txBox="1"/>
              <p:nvPr/>
            </p:nvSpPr>
            <p:spPr bwMode="auto">
              <a:xfrm>
                <a:off x="6533829" y="4552149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rgbClr val="ED7049"/>
                    </a:solidFill>
                    <a:latin typeface="Segoe UI"/>
                    <a:cs typeface="Segoe UI"/>
                  </a:rPr>
                  <a:t>0</a:t>
                </a:r>
                <a:endParaRPr/>
              </a:p>
            </p:txBody>
          </p:sp>
          <p:sp>
            <p:nvSpPr>
              <p:cNvPr id="443" name="ZoneTexte 442"/>
              <p:cNvSpPr txBox="1"/>
              <p:nvPr/>
            </p:nvSpPr>
            <p:spPr bwMode="auto">
              <a:xfrm>
                <a:off x="7035506" y="4927736"/>
                <a:ext cx="27693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ED7049"/>
                    </a:solidFill>
                    <a:latin typeface="Segoe UI"/>
                    <a:cs typeface="Segoe UI"/>
                  </a:rPr>
                  <a:t>17</a:t>
                </a:r>
                <a:endParaRPr/>
              </a:p>
            </p:txBody>
          </p:sp>
          <p:grpSp>
            <p:nvGrpSpPr>
              <p:cNvPr id="484" name="Groupe 483"/>
              <p:cNvGrpSpPr/>
              <p:nvPr/>
            </p:nvGrpSpPr>
            <p:grpSpPr bwMode="auto">
              <a:xfrm>
                <a:off x="6919196" y="4575389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85" name="Connecteur : en angle 484"/>
                <p:cNvCxnSpPr/>
                <p:nvPr/>
              </p:nvCxnSpPr>
              <p:spPr bwMode="auto"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ED704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7" name="ZoneTexte 496"/>
                <p:cNvSpPr txBox="1"/>
                <p:nvPr/>
              </p:nvSpPr>
              <p:spPr bwMode="auto"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ED7049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2233" name="Groupe 2232"/>
            <p:cNvGrpSpPr/>
            <p:nvPr/>
          </p:nvGrpSpPr>
          <p:grpSpPr bwMode="auto">
            <a:xfrm>
              <a:off x="5716309" y="2133206"/>
              <a:ext cx="857566" cy="970733"/>
              <a:chOff x="5699439" y="4321048"/>
              <a:chExt cx="857566" cy="970733"/>
            </a:xfrm>
          </p:grpSpPr>
          <p:grpSp>
            <p:nvGrpSpPr>
              <p:cNvPr id="248" name="Groupe 247"/>
              <p:cNvGrpSpPr/>
              <p:nvPr/>
            </p:nvGrpSpPr>
            <p:grpSpPr bwMode="auto">
              <a:xfrm>
                <a:off x="5726444" y="4321048"/>
                <a:ext cx="725844" cy="789508"/>
                <a:chOff x="3987120" y="4473710"/>
                <a:chExt cx="725844" cy="789508"/>
              </a:xfrm>
            </p:grpSpPr>
            <p:sp>
              <p:nvSpPr>
                <p:cNvPr id="249" name="Rectangle : coins arrondis 248"/>
                <p:cNvSpPr/>
                <p:nvPr/>
              </p:nvSpPr>
              <p:spPr bwMode="auto">
                <a:xfrm>
                  <a:off x="3987120" y="4723218"/>
                  <a:ext cx="725844" cy="54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50" name="ZoneTexte 249"/>
                <p:cNvSpPr txBox="1"/>
                <p:nvPr/>
              </p:nvSpPr>
              <p:spPr bwMode="auto">
                <a:xfrm>
                  <a:off x="3999168" y="4473710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PO</a:t>
                  </a:r>
                  <a:endParaRPr/>
                </a:p>
              </p:txBody>
            </p:sp>
          </p:grpSp>
          <p:pic>
            <p:nvPicPr>
              <p:cNvPr id="2082" name="Picture 34"/>
              <p:cNvPicPr>
                <a:picLocks noChangeAspect="1" noChangeArrowheads="1"/>
              </p:cNvPicPr>
              <p:nvPr/>
            </p:nvPicPr>
            <p:blipFill rotWithShape="1">
              <a:blip r:embed="rId8"/>
              <a:stretch/>
            </p:blipFill>
            <p:spPr bwMode="auto">
              <a:xfrm>
                <a:off x="5750128" y="4366498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305" name="Zone de texte 80"/>
              <p:cNvSpPr txBox="1"/>
              <p:nvPr/>
            </p:nvSpPr>
            <p:spPr bwMode="auto">
              <a:xfrm>
                <a:off x="5747253" y="5082231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28" name="ZoneTexte 427"/>
              <p:cNvSpPr txBox="1"/>
              <p:nvPr/>
            </p:nvSpPr>
            <p:spPr bwMode="auto">
              <a:xfrm>
                <a:off x="6250506" y="4926588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6</a:t>
                </a:r>
                <a:endPara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24" name="ZoneTexte 423"/>
              <p:cNvSpPr txBox="1"/>
              <p:nvPr/>
            </p:nvSpPr>
            <p:spPr bwMode="auto">
              <a:xfrm>
                <a:off x="5699439" y="4561333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0</a:t>
                </a:r>
                <a:endPara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cxnSp>
            <p:nvCxnSpPr>
              <p:cNvPr id="500" name="Connecteur : en angle 499"/>
              <p:cNvCxnSpPr/>
              <p:nvPr/>
            </p:nvCxnSpPr>
            <p:spPr bwMode="auto">
              <a:xfrm>
                <a:off x="6190495" y="4582818"/>
                <a:ext cx="252000" cy="252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1" name="ZoneTexte 500"/>
              <p:cNvSpPr txBox="1"/>
              <p:nvPr/>
            </p:nvSpPr>
            <p:spPr bwMode="auto">
              <a:xfrm>
                <a:off x="6083681" y="4716244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300" spc="-2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grpSp>
          <p:nvGrpSpPr>
            <p:cNvPr id="2232" name="Groupe 2231"/>
            <p:cNvGrpSpPr/>
            <p:nvPr/>
          </p:nvGrpSpPr>
          <p:grpSpPr bwMode="auto">
            <a:xfrm>
              <a:off x="4028401" y="2130277"/>
              <a:ext cx="863916" cy="937774"/>
              <a:chOff x="4024228" y="4326218"/>
              <a:chExt cx="863916" cy="937774"/>
            </a:xfrm>
          </p:grpSpPr>
          <p:grpSp>
            <p:nvGrpSpPr>
              <p:cNvPr id="89" name="Groupe 88"/>
              <p:cNvGrpSpPr/>
              <p:nvPr/>
            </p:nvGrpSpPr>
            <p:grpSpPr bwMode="auto">
              <a:xfrm>
                <a:off x="4046179" y="4326218"/>
                <a:ext cx="735799" cy="789084"/>
                <a:chOff x="3980139" y="4466426"/>
                <a:chExt cx="735799" cy="789084"/>
              </a:xfrm>
            </p:grpSpPr>
            <p:sp>
              <p:nvSpPr>
                <p:cNvPr id="242" name="Rectangle : coins arrondis 241"/>
                <p:cNvSpPr/>
                <p:nvPr/>
              </p:nvSpPr>
              <p:spPr bwMode="auto">
                <a:xfrm>
                  <a:off x="3990094" y="4715510"/>
                  <a:ext cx="725844" cy="54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44" name="ZoneTexte 243"/>
                <p:cNvSpPr txBox="1"/>
                <p:nvPr/>
              </p:nvSpPr>
              <p:spPr bwMode="auto">
                <a:xfrm>
                  <a:off x="3980139" y="4466426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PA</a:t>
                  </a:r>
                  <a:endParaRPr/>
                </a:p>
              </p:txBody>
            </p:sp>
          </p:grpSp>
          <p:pic>
            <p:nvPicPr>
              <p:cNvPr id="2078" name="Picture 30"/>
              <p:cNvPicPr>
                <a:picLocks noChangeAspect="1" noChangeArrowheads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4037431" y="4374959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277" name="Zone de texte 80"/>
              <p:cNvSpPr txBox="1"/>
              <p:nvPr/>
            </p:nvSpPr>
            <p:spPr bwMode="auto">
              <a:xfrm>
                <a:off x="4068955" y="5079267"/>
                <a:ext cx="719585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[6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26" name="ZoneTexte 425"/>
              <p:cNvSpPr txBox="1"/>
              <p:nvPr/>
            </p:nvSpPr>
            <p:spPr bwMode="auto">
              <a:xfrm>
                <a:off x="4557053" y="4945485"/>
                <a:ext cx="30970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12</a:t>
                </a:r>
                <a:endParaRPr lang="fr-FR" sz="7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19" name="ZoneTexte 418"/>
              <p:cNvSpPr txBox="1"/>
              <p:nvPr/>
            </p:nvSpPr>
            <p:spPr bwMode="auto">
              <a:xfrm>
                <a:off x="4024228" y="4562873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6</a:t>
                </a:r>
                <a:endParaRPr lang="fr-FR" sz="7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grpSp>
            <p:nvGrpSpPr>
              <p:cNvPr id="475" name="Groupe 474"/>
              <p:cNvGrpSpPr/>
              <p:nvPr/>
            </p:nvGrpSpPr>
            <p:grpSpPr bwMode="auto">
              <a:xfrm>
                <a:off x="4414820" y="4591136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76" name="Connecteur : en angle 475"/>
                <p:cNvCxnSpPr/>
                <p:nvPr/>
              </p:nvCxnSpPr>
              <p:spPr bwMode="auto"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7" name="ZoneTexte 476"/>
                <p:cNvSpPr txBox="1"/>
                <p:nvPr/>
              </p:nvSpPr>
              <p:spPr bwMode="auto"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</p:grpSp>
      <p:grpSp>
        <p:nvGrpSpPr>
          <p:cNvPr id="1049507556" name="Groupe 467"/>
          <p:cNvGrpSpPr/>
          <p:nvPr/>
        </p:nvGrpSpPr>
        <p:grpSpPr bwMode="auto">
          <a:xfrm>
            <a:off x="6732613" y="3010850"/>
            <a:ext cx="972110" cy="920397"/>
            <a:chOff x="6822410" y="5143872"/>
            <a:chExt cx="972110" cy="920397"/>
          </a:xfrm>
        </p:grpSpPr>
        <p:pic>
          <p:nvPicPr>
            <p:cNvPr id="2086" name="Picture 38"/>
            <p:cNvPicPr>
              <a:picLocks noChangeAspect="1" noChangeArrowheads="1"/>
            </p:cNvPicPr>
            <p:nvPr/>
          </p:nvPicPr>
          <p:blipFill rotWithShape="1">
            <a:blip r:embed="rId10"/>
            <a:stretch/>
          </p:blipFill>
          <p:spPr bwMode="auto">
            <a:xfrm>
              <a:off x="6822410" y="5180005"/>
              <a:ext cx="180000" cy="180000"/>
            </a:xfrm>
            <a:prstGeom prst="rect">
              <a:avLst/>
            </a:prstGeom>
            <a:noFill/>
          </p:spPr>
        </p:pic>
        <p:sp>
          <p:nvSpPr>
            <p:cNvPr id="400" name="Zone de texte 80"/>
            <p:cNvSpPr txBox="1"/>
            <p:nvPr/>
          </p:nvSpPr>
          <p:spPr bwMode="auto">
            <a:xfrm>
              <a:off x="6945201" y="5854719"/>
              <a:ext cx="695585" cy="2095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700">
                  <a:solidFill>
                    <a:srgbClr val="BFBFBF"/>
                  </a:solidFill>
                  <a:latin typeface="Segoe UI"/>
                  <a:ea typeface="Calibri"/>
                  <a:cs typeface="Segoe UI"/>
                </a:rPr>
                <a:t>[equip.]</a:t>
              </a:r>
              <a:endParaRPr lang="fr-FR" sz="1400">
                <a:latin typeface="Segoe UI"/>
                <a:ea typeface="Calibri"/>
                <a:cs typeface="Segoe UI"/>
              </a:endParaRPr>
            </a:p>
          </p:txBody>
        </p:sp>
        <p:grpSp>
          <p:nvGrpSpPr>
            <p:cNvPr id="2108" name="Groupe 2107"/>
            <p:cNvGrpSpPr/>
            <p:nvPr/>
          </p:nvGrpSpPr>
          <p:grpSpPr bwMode="auto">
            <a:xfrm>
              <a:off x="6941046" y="5143872"/>
              <a:ext cx="853474" cy="727614"/>
              <a:chOff x="6941046" y="5284080"/>
              <a:chExt cx="853474" cy="727614"/>
            </a:xfrm>
          </p:grpSpPr>
          <p:grpSp>
            <p:nvGrpSpPr>
              <p:cNvPr id="259" name="Groupe 258"/>
              <p:cNvGrpSpPr/>
              <p:nvPr/>
            </p:nvGrpSpPr>
            <p:grpSpPr bwMode="auto">
              <a:xfrm>
                <a:off x="6945201" y="5284080"/>
                <a:ext cx="849319" cy="722195"/>
                <a:chOff x="5142013" y="5203440"/>
                <a:chExt cx="952823" cy="722195"/>
              </a:xfrm>
            </p:grpSpPr>
            <p:sp>
              <p:nvSpPr>
                <p:cNvPr id="260" name="Rectangle : coins arrondis 259"/>
                <p:cNvSpPr/>
                <p:nvPr/>
              </p:nvSpPr>
              <p:spPr bwMode="auto">
                <a:xfrm>
                  <a:off x="5183865" y="5456050"/>
                  <a:ext cx="725843" cy="46958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61" name="ZoneTexte 260"/>
                <p:cNvSpPr txBox="1"/>
                <p:nvPr/>
              </p:nvSpPr>
              <p:spPr bwMode="auto">
                <a:xfrm>
                  <a:off x="5142013" y="5203440"/>
                  <a:ext cx="9528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0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Invocations</a:t>
                  </a:r>
                  <a:endParaRPr/>
                </a:p>
              </p:txBody>
            </p:sp>
          </p:grpSp>
          <p:sp>
            <p:nvSpPr>
              <p:cNvPr id="429" name="ZoneTexte 428"/>
              <p:cNvSpPr txBox="1"/>
              <p:nvPr/>
            </p:nvSpPr>
            <p:spPr bwMode="auto">
              <a:xfrm>
                <a:off x="7446774" y="582702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6</a:t>
                </a:r>
                <a:endParaRPr lang="fr-FR" sz="7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45" name="ZoneTexte 444"/>
              <p:cNvSpPr txBox="1"/>
              <p:nvPr/>
            </p:nvSpPr>
            <p:spPr bwMode="auto">
              <a:xfrm>
                <a:off x="6941046" y="552191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1</a:t>
                </a:r>
                <a:endParaRPr/>
              </a:p>
            </p:txBody>
          </p:sp>
          <p:grpSp>
            <p:nvGrpSpPr>
              <p:cNvPr id="2104" name="Groupe 2103"/>
              <p:cNvGrpSpPr/>
              <p:nvPr/>
            </p:nvGrpSpPr>
            <p:grpSpPr bwMode="auto">
              <a:xfrm>
                <a:off x="7259474" y="5546755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2105" name="Connecteur : en angle 2104"/>
                <p:cNvCxnSpPr/>
                <p:nvPr/>
              </p:nvCxnSpPr>
              <p:spPr bwMode="auto"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6" name="ZoneTexte 2105"/>
                <p:cNvSpPr txBox="1"/>
                <p:nvPr/>
              </p:nvSpPr>
              <p:spPr bwMode="auto"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</p:grpSp>
      <p:pic>
        <p:nvPicPr>
          <p:cNvPr id="411176893" name="Image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4508" y="297270"/>
            <a:ext cx="1231610" cy="123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5484194" name="ZoneTexte 2109"/>
          <p:cNvSpPr txBox="1"/>
          <p:nvPr/>
        </p:nvSpPr>
        <p:spPr bwMode="auto">
          <a:xfrm>
            <a:off x="63161" y="27296"/>
            <a:ext cx="1442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050">
                <a:solidFill>
                  <a:srgbClr val="90A4AE"/>
                </a:solidFill>
                <a:latin typeface="Segoe UI"/>
                <a:cs typeface="Segoe UI"/>
              </a:rPr>
              <a:t>FICHE PERSONNAGE</a:t>
            </a:r>
            <a:endParaRPr lang="fr-FR" sz="1200">
              <a:latin typeface="Segoe UI"/>
              <a:cs typeface="Segoe UI"/>
            </a:endParaRPr>
          </a:p>
        </p:txBody>
      </p:sp>
      <p:sp>
        <p:nvSpPr>
          <p:cNvPr id="1187360503" name="ZoneTexte 2110"/>
          <p:cNvSpPr txBox="1"/>
          <p:nvPr/>
        </p:nvSpPr>
        <p:spPr bwMode="auto">
          <a:xfrm>
            <a:off x="5389450" y="18125"/>
            <a:ext cx="4161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800">
                <a:solidFill>
                  <a:srgbClr val="90A4AE"/>
                </a:solidFill>
                <a:latin typeface="Segoe UI"/>
                <a:cs typeface="Segoe UI"/>
              </a:rPr>
              <a:t>Fiche à destination des joueurs·euses</a:t>
            </a:r>
            <a:endParaRPr lang="fr-FR" sz="1000">
              <a:latin typeface="Segoe UI"/>
              <a:cs typeface="Segoe UI"/>
            </a:endParaRPr>
          </a:p>
        </p:txBody>
      </p:sp>
      <p:grpSp>
        <p:nvGrpSpPr>
          <p:cNvPr id="300954712" name="Groupe 471"/>
          <p:cNvGrpSpPr/>
          <p:nvPr/>
        </p:nvGrpSpPr>
        <p:grpSpPr bwMode="auto">
          <a:xfrm>
            <a:off x="7789194" y="2093613"/>
            <a:ext cx="1600717" cy="1196336"/>
            <a:chOff x="7789194" y="2083750"/>
            <a:chExt cx="1600717" cy="1196336"/>
          </a:xfrm>
        </p:grpSpPr>
        <p:grpSp>
          <p:nvGrpSpPr>
            <p:cNvPr id="60" name="Groupe 59"/>
            <p:cNvGrpSpPr/>
            <p:nvPr/>
          </p:nvGrpSpPr>
          <p:grpSpPr bwMode="auto">
            <a:xfrm>
              <a:off x="7789194" y="2083750"/>
              <a:ext cx="1600717" cy="1196336"/>
              <a:chOff x="7789194" y="2122866"/>
              <a:chExt cx="1600717" cy="1196336"/>
            </a:xfrm>
          </p:grpSpPr>
          <p:sp>
            <p:nvSpPr>
              <p:cNvPr id="390" name="Zone de texte 80"/>
              <p:cNvSpPr txBox="1"/>
              <p:nvPr/>
            </p:nvSpPr>
            <p:spPr bwMode="auto">
              <a:xfrm>
                <a:off x="7810646" y="3025580"/>
                <a:ext cx="1579265" cy="29362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[Jet de classe dépendant du niveau</a:t>
                </a:r>
                <a:endParaRPr/>
              </a:p>
              <a:p>
                <a:pPr algn="ctr"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+ Mod. Vitalité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45" name="Groupe 44"/>
              <p:cNvGrpSpPr/>
              <p:nvPr/>
            </p:nvGrpSpPr>
            <p:grpSpPr bwMode="auto">
              <a:xfrm>
                <a:off x="7789194" y="2122866"/>
                <a:ext cx="1583887" cy="927563"/>
                <a:chOff x="7789194" y="2122866"/>
                <a:chExt cx="1583887" cy="927563"/>
              </a:xfrm>
            </p:grpSpPr>
            <p:grpSp>
              <p:nvGrpSpPr>
                <p:cNvPr id="109" name="Groupe 108"/>
                <p:cNvGrpSpPr/>
                <p:nvPr/>
              </p:nvGrpSpPr>
              <p:grpSpPr bwMode="auto">
                <a:xfrm>
                  <a:off x="7789194" y="2122866"/>
                  <a:ext cx="1579265" cy="927090"/>
                  <a:chOff x="2276455" y="3693767"/>
                  <a:chExt cx="1579265" cy="927090"/>
                </a:xfrm>
              </p:grpSpPr>
              <p:grpSp>
                <p:nvGrpSpPr>
                  <p:cNvPr id="99" name="Groupe 98"/>
                  <p:cNvGrpSpPr/>
                  <p:nvPr/>
                </p:nvGrpSpPr>
                <p:grpSpPr bwMode="auto">
                  <a:xfrm>
                    <a:off x="2276455" y="3972857"/>
                    <a:ext cx="1579265" cy="648001"/>
                    <a:chOff x="2084666" y="4211556"/>
                    <a:chExt cx="1118224" cy="648001"/>
                  </a:xfrm>
                </p:grpSpPr>
                <p:grpSp>
                  <p:nvGrpSpPr>
                    <p:cNvPr id="95" name="Groupe 94"/>
                    <p:cNvGrpSpPr/>
                    <p:nvPr/>
                  </p:nvGrpSpPr>
                  <p:grpSpPr bwMode="auto">
                    <a:xfrm>
                      <a:off x="2084666" y="4211556"/>
                      <a:ext cx="1118224" cy="648001"/>
                      <a:chOff x="4011" y="0"/>
                      <a:chExt cx="1716367" cy="211172"/>
                    </a:xfrm>
                  </p:grpSpPr>
                  <p:sp>
                    <p:nvSpPr>
                      <p:cNvPr id="96" name="Rectangle : coins arrondis 95"/>
                      <p:cNvSpPr/>
                      <p:nvPr/>
                    </p:nvSpPr>
                    <p:spPr bwMode="auto">
                      <a:xfrm>
                        <a:off x="4011" y="0"/>
                        <a:ext cx="1716367" cy="211172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600">
                            <a:solidFill>
                              <a:srgbClr val="00695C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 </a:t>
                        </a:r>
                        <a:r>
                          <a:rPr lang="fr-FR" sz="24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/</a:t>
                        </a:r>
                        <a:endParaRPr lang="fr-FR" sz="12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sp>
                    <p:nvSpPr>
                      <p:cNvPr id="97" name="Zone de texte 8"/>
                      <p:cNvSpPr txBox="1"/>
                      <p:nvPr/>
                    </p:nvSpPr>
                    <p:spPr bwMode="auto">
                      <a:xfrm>
                        <a:off x="88060" y="0"/>
                        <a:ext cx="683946" cy="115387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1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Actuel</a:t>
                        </a:r>
                        <a:endParaRPr lang="fr-FR" sz="200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</p:grpSp>
                <p:sp>
                  <p:nvSpPr>
                    <p:cNvPr id="98" name="Zone de texte 8"/>
                    <p:cNvSpPr txBox="1"/>
                    <p:nvPr/>
                  </p:nvSpPr>
                  <p:spPr bwMode="auto">
                    <a:xfrm>
                      <a:off x="2759129" y="4216874"/>
                      <a:ext cx="386975" cy="354078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110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rPr>
                        <a:t>Max</a:t>
                      </a:r>
                      <a:endParaRPr lang="fr-FR" sz="2000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</p:grpSp>
              <p:sp>
                <p:nvSpPr>
                  <p:cNvPr id="106" name="ZoneTexte 105"/>
                  <p:cNvSpPr txBox="1"/>
                  <p:nvPr/>
                </p:nvSpPr>
                <p:spPr bwMode="auto">
                  <a:xfrm>
                    <a:off x="2478590" y="3693767"/>
                    <a:ext cx="1304873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1100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cs typeface="Segoe UI"/>
                      </a:rPr>
                      <a:t>Points de vie</a:t>
                    </a:r>
                    <a:endParaRPr/>
                  </a:p>
                </p:txBody>
              </p:sp>
            </p:grpSp>
            <p:sp>
              <p:nvSpPr>
                <p:cNvPr id="450" name="ZoneTexte 449"/>
                <p:cNvSpPr txBox="1"/>
                <p:nvPr/>
              </p:nvSpPr>
              <p:spPr bwMode="auto">
                <a:xfrm>
                  <a:off x="9139414" y="286576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rgbClr val="EF8B47"/>
                      </a:solidFill>
                      <a:latin typeface="Segoe UI"/>
                      <a:cs typeface="Segoe UI"/>
                    </a:rPr>
                    <a:t>∞</a:t>
                  </a:r>
                  <a:endParaRPr/>
                </a:p>
              </p:txBody>
            </p:sp>
          </p:grpSp>
        </p:grpSp>
        <p:pic>
          <p:nvPicPr>
            <p:cNvPr id="471" name="Picture 36"/>
            <p:cNvPicPr>
              <a:picLocks noChangeAspect="1" noChangeArrowheads="1"/>
            </p:cNvPicPr>
            <p:nvPr/>
          </p:nvPicPr>
          <p:blipFill rotWithShape="1">
            <a:blip r:embed="rId12"/>
            <a:stretch/>
          </p:blipFill>
          <p:spPr bwMode="auto">
            <a:xfrm>
              <a:off x="7801090" y="2128474"/>
              <a:ext cx="180000" cy="180000"/>
            </a:xfrm>
            <a:prstGeom prst="rect">
              <a:avLst/>
            </a:prstGeom>
            <a:noFill/>
          </p:spPr>
        </p:pic>
      </p:grpSp>
      <p:grpSp>
        <p:nvGrpSpPr>
          <p:cNvPr id="554523250" name="Groupe 508"/>
          <p:cNvGrpSpPr/>
          <p:nvPr/>
        </p:nvGrpSpPr>
        <p:grpSpPr bwMode="auto">
          <a:xfrm>
            <a:off x="4864534" y="2954251"/>
            <a:ext cx="1830505" cy="530668"/>
            <a:chOff x="4025701" y="5312299"/>
            <a:chExt cx="1830505" cy="530668"/>
          </a:xfrm>
        </p:grpSpPr>
        <p:grpSp>
          <p:nvGrpSpPr>
            <p:cNvPr id="467" name="Groupe 466"/>
            <p:cNvGrpSpPr/>
            <p:nvPr/>
          </p:nvGrpSpPr>
          <p:grpSpPr bwMode="auto">
            <a:xfrm>
              <a:off x="4025701" y="5312299"/>
              <a:ext cx="1830505" cy="530668"/>
              <a:chOff x="4025701" y="5312299"/>
              <a:chExt cx="1830505" cy="530668"/>
            </a:xfrm>
          </p:grpSpPr>
          <p:sp>
            <p:nvSpPr>
              <p:cNvPr id="401" name="Zone de texte 80"/>
              <p:cNvSpPr txBox="1"/>
              <p:nvPr/>
            </p:nvSpPr>
            <p:spPr bwMode="auto">
              <a:xfrm>
                <a:off x="4452691" y="5633417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70" name="Groupe 69"/>
              <p:cNvGrpSpPr/>
              <p:nvPr/>
            </p:nvGrpSpPr>
            <p:grpSpPr bwMode="auto">
              <a:xfrm>
                <a:off x="4025701" y="5312299"/>
                <a:ext cx="1830505" cy="514110"/>
                <a:chOff x="4025701" y="5452507"/>
                <a:chExt cx="1830505" cy="514110"/>
              </a:xfrm>
            </p:grpSpPr>
            <p:grpSp>
              <p:nvGrpSpPr>
                <p:cNvPr id="483" name="Groupe 482"/>
                <p:cNvGrpSpPr/>
                <p:nvPr/>
              </p:nvGrpSpPr>
              <p:grpSpPr bwMode="auto">
                <a:xfrm>
                  <a:off x="4025701" y="5452507"/>
                  <a:ext cx="1830505" cy="473604"/>
                  <a:chOff x="4025701" y="5452507"/>
                  <a:chExt cx="1830505" cy="473604"/>
                </a:xfrm>
              </p:grpSpPr>
              <p:grpSp>
                <p:nvGrpSpPr>
                  <p:cNvPr id="91" name="Groupe 90"/>
                  <p:cNvGrpSpPr/>
                  <p:nvPr/>
                </p:nvGrpSpPr>
                <p:grpSpPr bwMode="auto">
                  <a:xfrm>
                    <a:off x="4025701" y="5452507"/>
                    <a:ext cx="1729443" cy="473604"/>
                    <a:chOff x="4111246" y="5305839"/>
                    <a:chExt cx="1729443" cy="473604"/>
                  </a:xfrm>
                </p:grpSpPr>
                <p:sp>
                  <p:nvSpPr>
                    <p:cNvPr id="257" name="Rectangle : coins arrondis 256"/>
                    <p:cNvSpPr/>
                    <p:nvPr/>
                  </p:nvSpPr>
                  <p:spPr bwMode="auto">
                    <a:xfrm>
                      <a:off x="5114845" y="5397405"/>
                      <a:ext cx="725844" cy="382038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400">
                          <a:solidFill>
                            <a:srgbClr val="00695C"/>
                          </a:solidFill>
                          <a:latin typeface="Segoe UI"/>
                          <a:ea typeface="Calibri"/>
                          <a:cs typeface="Segoe UI"/>
                        </a:rPr>
                        <a:t> </a:t>
                      </a:r>
                      <a:endParaRPr lang="fr-FR" sz="105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58" name="ZoneTexte 257"/>
                    <p:cNvSpPr txBox="1"/>
                    <p:nvPr/>
                  </p:nvSpPr>
                  <p:spPr bwMode="auto">
                    <a:xfrm>
                      <a:off x="4111246" y="5305839"/>
                      <a:ext cx="102026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/>
                          <a:cs typeface="Segoe UI"/>
                        </a:rPr>
                        <a:t>Bonus de touche</a:t>
                      </a:r>
                      <a:endParaRPr/>
                    </a:p>
                  </p:txBody>
                </p:sp>
              </p:grpSp>
              <p:grpSp>
                <p:nvGrpSpPr>
                  <p:cNvPr id="480" name="Groupe 479"/>
                  <p:cNvGrpSpPr/>
                  <p:nvPr/>
                </p:nvGrpSpPr>
                <p:grpSpPr bwMode="auto">
                  <a:xfrm>
                    <a:off x="5382882" y="5554249"/>
                    <a:ext cx="473324" cy="271925"/>
                    <a:chOff x="5241244" y="4726836"/>
                    <a:chExt cx="473324" cy="271925"/>
                  </a:xfrm>
                </p:grpSpPr>
                <p:cxnSp>
                  <p:nvCxnSpPr>
                    <p:cNvPr id="481" name="Connecteur : en angle 480"/>
                    <p:cNvCxnSpPr/>
                    <p:nvPr/>
                  </p:nvCxnSpPr>
                  <p:spPr bwMode="auto">
                    <a:xfrm>
                      <a:off x="5348058" y="4726836"/>
                      <a:ext cx="252000" cy="252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chemeClr val="bg1">
                          <a:lumMod val="75000"/>
                        </a:schemeClr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2" name="ZoneTexte 481"/>
                    <p:cNvSpPr txBox="1"/>
                    <p:nvPr/>
                  </p:nvSpPr>
                  <p:spPr bwMode="auto">
                    <a:xfrm>
                      <a:off x="5241244" y="486026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chemeClr val="bg1">
                              <a:lumMod val="65000"/>
                            </a:schemeClr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sp>
              <p:nvSpPr>
                <p:cNvPr id="425" name="ZoneTexte 424"/>
                <p:cNvSpPr txBox="1"/>
                <p:nvPr/>
              </p:nvSpPr>
              <p:spPr bwMode="auto"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5</a:t>
                  </a:r>
                  <a:endParaRPr/>
                </a:p>
              </p:txBody>
            </p:sp>
            <p:sp>
              <p:nvSpPr>
                <p:cNvPr id="444" name="ZoneTexte 443"/>
                <p:cNvSpPr txBox="1"/>
                <p:nvPr/>
              </p:nvSpPr>
              <p:spPr bwMode="auto"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0</a:t>
                  </a:r>
                  <a:endPara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</p:grpSp>
        </p:grpSp>
        <p:pic>
          <p:nvPicPr>
            <p:cNvPr id="478" name="Picture 38"/>
            <p:cNvPicPr>
              <a:picLocks noChangeAspect="1" noChangeArrowheads="1"/>
            </p:cNvPicPr>
            <p:nvPr/>
          </p:nvPicPr>
          <p:blipFill rotWithShape="1">
            <a:blip r:embed="rId13"/>
            <a:stretch/>
          </p:blipFill>
          <p:spPr bwMode="auto">
            <a:xfrm>
              <a:off x="4269280" y="5549698"/>
              <a:ext cx="219149" cy="219149"/>
            </a:xfrm>
            <a:prstGeom prst="rect">
              <a:avLst/>
            </a:prstGeom>
            <a:noFill/>
          </p:spPr>
        </p:pic>
      </p:grpSp>
      <p:grpSp>
        <p:nvGrpSpPr>
          <p:cNvPr id="1067131196" name="Groupe 342"/>
          <p:cNvGrpSpPr/>
          <p:nvPr/>
        </p:nvGrpSpPr>
        <p:grpSpPr bwMode="auto">
          <a:xfrm>
            <a:off x="7639721" y="3294110"/>
            <a:ext cx="1885845" cy="1071462"/>
            <a:chOff x="7677836" y="3861723"/>
            <a:chExt cx="1885845" cy="1071462"/>
          </a:xfrm>
        </p:grpSpPr>
        <p:pic>
          <p:nvPicPr>
            <p:cNvPr id="459" name="Picture 36"/>
            <p:cNvPicPr>
              <a:picLocks noChangeAspect="1" noChangeArrowheads="1"/>
            </p:cNvPicPr>
            <p:nvPr/>
          </p:nvPicPr>
          <p:blipFill rotWithShape="1">
            <a:blip r:embed="rId14"/>
            <a:stretch/>
          </p:blipFill>
          <p:spPr bwMode="auto">
            <a:xfrm>
              <a:off x="7779168" y="3895337"/>
              <a:ext cx="175775" cy="175775"/>
            </a:xfrm>
            <a:prstGeom prst="rect">
              <a:avLst/>
            </a:prstGeom>
            <a:noFill/>
          </p:spPr>
        </p:pic>
        <p:grpSp>
          <p:nvGrpSpPr>
            <p:cNvPr id="341" name="Groupe 340"/>
            <p:cNvGrpSpPr/>
            <p:nvPr/>
          </p:nvGrpSpPr>
          <p:grpSpPr bwMode="auto">
            <a:xfrm>
              <a:off x="7677836" y="3861723"/>
              <a:ext cx="1885845" cy="1071462"/>
              <a:chOff x="7677836" y="3861723"/>
              <a:chExt cx="1885845" cy="1071462"/>
            </a:xfrm>
          </p:grpSpPr>
          <p:grpSp>
            <p:nvGrpSpPr>
              <p:cNvPr id="44" name="Groupe 43"/>
              <p:cNvGrpSpPr/>
              <p:nvPr/>
            </p:nvGrpSpPr>
            <p:grpSpPr bwMode="auto">
              <a:xfrm>
                <a:off x="7750012" y="3861723"/>
                <a:ext cx="1555453" cy="685032"/>
                <a:chOff x="7750012" y="3499519"/>
                <a:chExt cx="1555453" cy="685032"/>
              </a:xfrm>
            </p:grpSpPr>
            <p:grpSp>
              <p:nvGrpSpPr>
                <p:cNvPr id="108" name="Groupe 107"/>
                <p:cNvGrpSpPr/>
                <p:nvPr/>
              </p:nvGrpSpPr>
              <p:grpSpPr bwMode="auto">
                <a:xfrm>
                  <a:off x="7789193" y="3499519"/>
                  <a:ext cx="1516272" cy="659520"/>
                  <a:chOff x="2276454" y="4857061"/>
                  <a:chExt cx="1516272" cy="659520"/>
                </a:xfrm>
              </p:grpSpPr>
              <p:sp>
                <p:nvSpPr>
                  <p:cNvPr id="104" name="Rectangle : coins arrondis 103"/>
                  <p:cNvSpPr/>
                  <p:nvPr/>
                </p:nvSpPr>
                <p:spPr bwMode="auto">
                  <a:xfrm>
                    <a:off x="2276454" y="5120581"/>
                    <a:ext cx="792000" cy="3960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endParaRPr lang="fr-FR" sz="1200" b="1">
                      <a:solidFill>
                        <a:schemeClr val="accent2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107" name="ZoneTexte 106"/>
                  <p:cNvSpPr txBox="1"/>
                  <p:nvPr/>
                </p:nvSpPr>
                <p:spPr bwMode="auto">
                  <a:xfrm>
                    <a:off x="2370995" y="4857061"/>
                    <a:ext cx="14217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1100">
                        <a:solidFill>
                          <a:schemeClr val="tx2">
                            <a:lumMod val="75000"/>
                          </a:schemeClr>
                        </a:solidFill>
                        <a:latin typeface="Segoe UI"/>
                        <a:cs typeface="Segoe UI"/>
                      </a:rPr>
                      <a:t>Points de boucliers</a:t>
                    </a:r>
                    <a:endParaRPr/>
                  </a:p>
                </p:txBody>
              </p:sp>
            </p:grpSp>
            <p:sp>
              <p:nvSpPr>
                <p:cNvPr id="449" name="ZoneTexte 448"/>
                <p:cNvSpPr txBox="1"/>
                <p:nvPr/>
              </p:nvSpPr>
              <p:spPr bwMode="auto">
                <a:xfrm>
                  <a:off x="8376995" y="3999885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tx2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∞</a:t>
                  </a:r>
                  <a:endParaRPr/>
                </a:p>
              </p:txBody>
            </p:sp>
            <p:sp>
              <p:nvSpPr>
                <p:cNvPr id="62" name="ZoneTexte 61"/>
                <p:cNvSpPr txBox="1"/>
                <p:nvPr/>
              </p:nvSpPr>
              <p:spPr bwMode="auto">
                <a:xfrm>
                  <a:off x="7750012" y="374820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tx2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0</a:t>
                  </a:r>
                  <a:endParaRPr/>
                </a:p>
              </p:txBody>
            </p:sp>
          </p:grpSp>
          <p:grpSp>
            <p:nvGrpSpPr>
              <p:cNvPr id="340" name="Groupe 339"/>
              <p:cNvGrpSpPr/>
              <p:nvPr/>
            </p:nvGrpSpPr>
            <p:grpSpPr bwMode="auto">
              <a:xfrm>
                <a:off x="7677836" y="4270114"/>
                <a:ext cx="1885845" cy="663071"/>
                <a:chOff x="7677836" y="4381695"/>
                <a:chExt cx="1885845" cy="663071"/>
              </a:xfrm>
            </p:grpSpPr>
            <p:grpSp>
              <p:nvGrpSpPr>
                <p:cNvPr id="42" name="Groupe 41"/>
                <p:cNvGrpSpPr/>
                <p:nvPr/>
              </p:nvGrpSpPr>
              <p:grpSpPr bwMode="auto">
                <a:xfrm>
                  <a:off x="7677836" y="4381695"/>
                  <a:ext cx="1885845" cy="663071"/>
                  <a:chOff x="7677836" y="4036255"/>
                  <a:chExt cx="1885845" cy="663071"/>
                </a:xfrm>
              </p:grpSpPr>
              <p:grpSp>
                <p:nvGrpSpPr>
                  <p:cNvPr id="33" name="Groupe 32"/>
                  <p:cNvGrpSpPr/>
                  <p:nvPr/>
                </p:nvGrpSpPr>
                <p:grpSpPr bwMode="auto">
                  <a:xfrm>
                    <a:off x="7677836" y="4047259"/>
                    <a:ext cx="1885845" cy="652066"/>
                    <a:chOff x="7677836" y="4039640"/>
                    <a:chExt cx="1885845" cy="652066"/>
                  </a:xfrm>
                </p:grpSpPr>
                <p:grpSp>
                  <p:nvGrpSpPr>
                    <p:cNvPr id="110" name="Groupe 109"/>
                    <p:cNvGrpSpPr/>
                    <p:nvPr/>
                  </p:nvGrpSpPr>
                  <p:grpSpPr bwMode="auto">
                    <a:xfrm>
                      <a:off x="7677836" y="4039640"/>
                      <a:ext cx="1856075" cy="652066"/>
                      <a:chOff x="2165098" y="4512513"/>
                      <a:chExt cx="1856075" cy="652066"/>
                    </a:xfrm>
                  </p:grpSpPr>
                  <p:sp>
                    <p:nvSpPr>
                      <p:cNvPr id="111" name="Rectangle : coins arrondis 110"/>
                      <p:cNvSpPr/>
                      <p:nvPr/>
                    </p:nvSpPr>
                    <p:spPr bwMode="auto">
                      <a:xfrm>
                        <a:off x="3229173" y="4512513"/>
                        <a:ext cx="792000" cy="396000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4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endParaRPr lang="fr-FR" sz="12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sp>
                    <p:nvSpPr>
                      <p:cNvPr id="112" name="ZoneTexte 111"/>
                      <p:cNvSpPr txBox="1"/>
                      <p:nvPr/>
                    </p:nvSpPr>
                    <p:spPr bwMode="auto">
                      <a:xfrm>
                        <a:off x="2165098" y="4902969"/>
                        <a:ext cx="175687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r">
                          <a:defRPr/>
                        </a:pPr>
                        <a:r>
                          <a:rPr lang="fr-FR" sz="11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Segoe UI"/>
                            <a:cs typeface="Segoe UI"/>
                          </a:rPr>
                          <a:t>Points de vie temporaire</a:t>
                        </a:r>
                        <a:endParaRPr/>
                      </a:p>
                    </p:txBody>
                  </p:sp>
                </p:grpSp>
                <p:sp>
                  <p:nvSpPr>
                    <p:cNvPr id="448" name="ZoneTexte 447"/>
                    <p:cNvSpPr txBox="1"/>
                    <p:nvPr/>
                  </p:nvSpPr>
                  <p:spPr bwMode="auto">
                    <a:xfrm>
                      <a:off x="9330014" y="4273396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egoe UI"/>
                          <a:cs typeface="Segoe UI"/>
                        </a:rPr>
                        <a:t>∞</a:t>
                      </a:r>
                      <a:endParaRPr/>
                    </a:p>
                  </p:txBody>
                </p:sp>
              </p:grpSp>
              <p:sp>
                <p:nvSpPr>
                  <p:cNvPr id="61" name="ZoneTexte 60"/>
                  <p:cNvSpPr txBox="1"/>
                  <p:nvPr/>
                </p:nvSpPr>
                <p:spPr bwMode="auto">
                  <a:xfrm>
                    <a:off x="8704864" y="4036255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chemeClr val="accent4">
                            <a:lumMod val="75000"/>
                          </a:schemeClr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</p:grpSp>
            <p:pic>
              <p:nvPicPr>
                <p:cNvPr id="339" name="Picture 36"/>
                <p:cNvPicPr>
                  <a:picLocks noChangeAspect="1" noChangeArrowheads="1"/>
                </p:cNvPicPr>
                <p:nvPr/>
              </p:nvPicPr>
              <p:blipFill rotWithShape="1">
                <a:blip r:embed="rId15"/>
                <a:stretch/>
              </p:blipFill>
              <p:spPr bwMode="auto">
                <a:xfrm>
                  <a:off x="9368817" y="4831667"/>
                  <a:ext cx="175775" cy="175775"/>
                </a:xfrm>
                <a:prstGeom prst="rect">
                  <a:avLst/>
                </a:prstGeom>
                <a:noFill/>
              </p:spPr>
            </p:pic>
          </p:grpSp>
        </p:grpSp>
      </p:grpSp>
      <p:grpSp>
        <p:nvGrpSpPr>
          <p:cNvPr id="1219709850" name="Groupe 345"/>
          <p:cNvGrpSpPr/>
          <p:nvPr/>
        </p:nvGrpSpPr>
        <p:grpSpPr bwMode="auto">
          <a:xfrm>
            <a:off x="7459539" y="1529157"/>
            <a:ext cx="1927095" cy="624096"/>
            <a:chOff x="7612528" y="4419452"/>
            <a:chExt cx="1927095" cy="624096"/>
          </a:xfrm>
        </p:grpSpPr>
        <p:grpSp>
          <p:nvGrpSpPr>
            <p:cNvPr id="342" name="Groupe 341"/>
            <p:cNvGrpSpPr/>
            <p:nvPr/>
          </p:nvGrpSpPr>
          <p:grpSpPr bwMode="auto">
            <a:xfrm>
              <a:off x="7612528" y="4435886"/>
              <a:ext cx="1927095" cy="607662"/>
              <a:chOff x="7495663" y="3312548"/>
              <a:chExt cx="1927095" cy="607662"/>
            </a:xfrm>
          </p:grpSpPr>
          <p:grpSp>
            <p:nvGrpSpPr>
              <p:cNvPr id="458" name="Groupe 457"/>
              <p:cNvGrpSpPr/>
              <p:nvPr/>
            </p:nvGrpSpPr>
            <p:grpSpPr bwMode="auto">
              <a:xfrm>
                <a:off x="7495663" y="3312548"/>
                <a:ext cx="1927095" cy="607662"/>
                <a:chOff x="7495663" y="3245492"/>
                <a:chExt cx="1927095" cy="607662"/>
              </a:xfrm>
            </p:grpSpPr>
            <p:sp>
              <p:nvSpPr>
                <p:cNvPr id="405" name="ZoneTexte 404"/>
                <p:cNvSpPr txBox="1"/>
                <p:nvPr/>
              </p:nvSpPr>
              <p:spPr bwMode="auto">
                <a:xfrm>
                  <a:off x="7495663" y="3245492"/>
                  <a:ext cx="81298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100">
                      <a:solidFill>
                        <a:schemeClr val="bg2">
                          <a:lumMod val="25000"/>
                        </a:schemeClr>
                      </a:solidFill>
                      <a:latin typeface="Segoe UI"/>
                      <a:cs typeface="Segoe UI"/>
                    </a:rPr>
                    <a:t>Dés de vie</a:t>
                  </a:r>
                  <a:endParaRPr/>
                </a:p>
              </p:txBody>
            </p:sp>
            <p:sp>
              <p:nvSpPr>
                <p:cNvPr id="451" name="Zone de texte 80"/>
                <p:cNvSpPr txBox="1"/>
                <p:nvPr/>
              </p:nvSpPr>
              <p:spPr bwMode="auto">
                <a:xfrm>
                  <a:off x="8315141" y="3636526"/>
                  <a:ext cx="1071563" cy="21662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[Niveau / 2]</a:t>
                  </a:r>
                  <a:r>
                    <a:rPr lang="fr-FR" sz="700" baseline="300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-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grpSp>
              <p:nvGrpSpPr>
                <p:cNvPr id="457" name="Groupe 456"/>
                <p:cNvGrpSpPr/>
                <p:nvPr/>
              </p:nvGrpSpPr>
              <p:grpSpPr bwMode="auto">
                <a:xfrm>
                  <a:off x="8256449" y="3303805"/>
                  <a:ext cx="1166309" cy="369580"/>
                  <a:chOff x="8419230" y="3476525"/>
                  <a:chExt cx="1002301" cy="369580"/>
                </a:xfrm>
              </p:grpSpPr>
              <p:sp>
                <p:nvSpPr>
                  <p:cNvPr id="404" name="Rectangle : coins arrondis 403"/>
                  <p:cNvSpPr/>
                  <p:nvPr/>
                </p:nvSpPr>
                <p:spPr bwMode="auto">
                  <a:xfrm>
                    <a:off x="8455328" y="3493762"/>
                    <a:ext cx="929001" cy="3326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1100"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rPr>
                      <a:t>/</a:t>
                    </a:r>
                    <a:endParaRPr lang="fr-FR" sz="1200">
                      <a:ln>
                        <a:solidFill>
                          <a:schemeClr val="bg2">
                            <a:lumMod val="2500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grpSp>
                <p:nvGrpSpPr>
                  <p:cNvPr id="456" name="Groupe 455"/>
                  <p:cNvGrpSpPr/>
                  <p:nvPr/>
                </p:nvGrpSpPr>
                <p:grpSpPr bwMode="auto">
                  <a:xfrm>
                    <a:off x="8419230" y="3476525"/>
                    <a:ext cx="1002301" cy="369580"/>
                    <a:chOff x="8419230" y="3476525"/>
                    <a:chExt cx="1002301" cy="369580"/>
                  </a:xfrm>
                </p:grpSpPr>
                <p:sp>
                  <p:nvSpPr>
                    <p:cNvPr id="454" name="ZoneTexte 453"/>
                    <p:cNvSpPr txBox="1"/>
                    <p:nvPr/>
                  </p:nvSpPr>
                  <p:spPr bwMode="auto">
                    <a:xfrm>
                      <a:off x="8419230" y="3476525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/>
                    </a:p>
                  </p:txBody>
                </p:sp>
                <p:sp>
                  <p:nvSpPr>
                    <p:cNvPr id="455" name="ZoneTexte 454"/>
                    <p:cNvSpPr txBox="1"/>
                    <p:nvPr/>
                  </p:nvSpPr>
                  <p:spPr bwMode="auto">
                    <a:xfrm>
                      <a:off x="9187864" y="3661439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6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</p:grpSp>
          </p:grpSp>
          <p:pic>
            <p:nvPicPr>
              <p:cNvPr id="511" name="Graphique 510"/>
              <p:cNvPicPr>
                <a:picLocks noChangeAspect="1"/>
              </p:cNvPicPr>
              <p:nvPr/>
            </p:nvPicPr>
            <p:blipFill rotWithShape="1">
              <a:blip r:embed="rId16"/>
              <a:stretch/>
            </p:blipFill>
            <p:spPr bwMode="auto">
              <a:xfrm>
                <a:off x="7832571" y="3548082"/>
                <a:ext cx="144000" cy="144000"/>
              </a:xfrm>
              <a:prstGeom prst="rect">
                <a:avLst/>
              </a:prstGeom>
            </p:spPr>
          </p:pic>
        </p:grpSp>
        <p:cxnSp>
          <p:nvCxnSpPr>
            <p:cNvPr id="345" name="Connecteur droit 344"/>
            <p:cNvCxnSpPr/>
            <p:nvPr/>
          </p:nvCxnSpPr>
          <p:spPr bwMode="auto">
            <a:xfrm>
              <a:off x="8042134" y="4419452"/>
              <a:ext cx="130487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57157588" name="Groupe 359"/>
          <p:cNvGrpSpPr/>
          <p:nvPr/>
        </p:nvGrpSpPr>
        <p:grpSpPr bwMode="auto">
          <a:xfrm>
            <a:off x="3910124" y="4943171"/>
            <a:ext cx="5685443" cy="979233"/>
            <a:chOff x="3910124" y="5044870"/>
            <a:chExt cx="5685443" cy="979233"/>
          </a:xfrm>
        </p:grpSpPr>
        <p:grpSp>
          <p:nvGrpSpPr>
            <p:cNvPr id="353" name="Groupe 352"/>
            <p:cNvGrpSpPr/>
            <p:nvPr/>
          </p:nvGrpSpPr>
          <p:grpSpPr bwMode="auto">
            <a:xfrm>
              <a:off x="3910124" y="5303445"/>
              <a:ext cx="2075295" cy="671568"/>
              <a:chOff x="8111884" y="6385524"/>
              <a:chExt cx="2075295" cy="671568"/>
            </a:xfrm>
          </p:grpSpPr>
          <p:grpSp>
            <p:nvGrpSpPr>
              <p:cNvPr id="235" name="Groupe 234"/>
              <p:cNvGrpSpPr/>
              <p:nvPr/>
            </p:nvGrpSpPr>
            <p:grpSpPr bwMode="auto">
              <a:xfrm>
                <a:off x="8111884" y="6385524"/>
                <a:ext cx="1225448" cy="477859"/>
                <a:chOff x="8197632" y="4638284"/>
                <a:chExt cx="1225448" cy="477859"/>
              </a:xfrm>
            </p:grpSpPr>
            <p:sp>
              <p:nvSpPr>
                <p:cNvPr id="236" name="Rectangle : coins arrondis 235"/>
                <p:cNvSpPr/>
                <p:nvPr/>
              </p:nvSpPr>
              <p:spPr bwMode="auto">
                <a:xfrm>
                  <a:off x="8802201" y="4693768"/>
                  <a:ext cx="620879" cy="42237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endParaRPr lang="fr-FR" sz="1200" b="1">
                    <a:solidFill>
                      <a:schemeClr val="accent2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37" name="ZoneTexte 236"/>
                <p:cNvSpPr txBox="1"/>
                <p:nvPr/>
              </p:nvSpPr>
              <p:spPr bwMode="auto">
                <a:xfrm>
                  <a:off x="8197632" y="4638284"/>
                  <a:ext cx="6504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100">
                      <a:solidFill>
                        <a:srgbClr val="7030A0"/>
                      </a:solidFill>
                      <a:latin typeface="Segoe UI"/>
                      <a:cs typeface="Segoe UI"/>
                    </a:rPr>
                    <a:t>Esquive </a:t>
                  </a:r>
                  <a:endParaRPr/>
                </a:p>
                <a:p>
                  <a:pPr algn="r">
                    <a:defRPr/>
                  </a:pPr>
                  <a:r>
                    <a:rPr lang="fr-FR" sz="1100">
                      <a:solidFill>
                        <a:srgbClr val="7030A0"/>
                      </a:solidFill>
                      <a:latin typeface="Segoe UI"/>
                      <a:cs typeface="Segoe UI"/>
                    </a:rPr>
                    <a:t>PA</a:t>
                  </a:r>
                  <a:endParaRPr lang="fr-FR" sz="1400">
                    <a:solidFill>
                      <a:srgbClr val="7030A0"/>
                    </a:solidFill>
                    <a:latin typeface="Segoe UI"/>
                    <a:cs typeface="Segoe UI"/>
                  </a:endParaRPr>
                </a:p>
              </p:txBody>
            </p:sp>
          </p:grpSp>
          <p:pic>
            <p:nvPicPr>
              <p:cNvPr id="2088" name="Picture 40"/>
              <p:cNvPicPr>
                <a:picLocks noChangeAspect="1" noChangeArrowheads="1"/>
              </p:cNvPicPr>
              <p:nvPr/>
            </p:nvPicPr>
            <p:blipFill rotWithShape="1">
              <a:blip r:embed="rId17"/>
              <a:stretch/>
            </p:blipFill>
            <p:spPr bwMode="auto">
              <a:xfrm>
                <a:off x="8280107" y="6619525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396" name="Zone de texte 80"/>
              <p:cNvSpPr txBox="1"/>
              <p:nvPr/>
            </p:nvSpPr>
            <p:spPr bwMode="auto">
              <a:xfrm>
                <a:off x="8907573" y="6847542"/>
                <a:ext cx="127960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[8 + Mod. Sagesse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31" name="ZoneTexte 430"/>
              <p:cNvSpPr txBox="1"/>
              <p:nvPr/>
            </p:nvSpPr>
            <p:spPr bwMode="auto">
              <a:xfrm>
                <a:off x="9107849" y="6691860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20</a:t>
                </a:r>
                <a:endParaRPr/>
              </a:p>
            </p:txBody>
          </p:sp>
          <p:sp>
            <p:nvSpPr>
              <p:cNvPr id="487" name="ZoneTexte 486"/>
              <p:cNvSpPr txBox="1"/>
              <p:nvPr/>
            </p:nvSpPr>
            <p:spPr bwMode="auto">
              <a:xfrm>
                <a:off x="8625921" y="6423884"/>
                <a:ext cx="31833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7</a:t>
                </a:r>
                <a:endParaRPr/>
              </a:p>
            </p:txBody>
          </p:sp>
          <p:grpSp>
            <p:nvGrpSpPr>
              <p:cNvPr id="503" name="Groupe 502"/>
              <p:cNvGrpSpPr/>
              <p:nvPr/>
            </p:nvGrpSpPr>
            <p:grpSpPr bwMode="auto">
              <a:xfrm>
                <a:off x="8975159" y="6449498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4" name="Connecteur : en angle 503"/>
                <p:cNvCxnSpPr/>
                <p:nvPr/>
              </p:nvCxnSpPr>
              <p:spPr bwMode="auto"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5" name="ZoneTexte 504"/>
                <p:cNvSpPr txBox="1"/>
                <p:nvPr/>
              </p:nvSpPr>
              <p:spPr bwMode="auto"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354" name="Groupe 353"/>
            <p:cNvGrpSpPr/>
            <p:nvPr/>
          </p:nvGrpSpPr>
          <p:grpSpPr bwMode="auto">
            <a:xfrm>
              <a:off x="5054087" y="5301609"/>
              <a:ext cx="1376546" cy="497913"/>
              <a:chOff x="8081068" y="7048956"/>
              <a:chExt cx="1376546" cy="497913"/>
            </a:xfrm>
          </p:grpSpPr>
          <p:grpSp>
            <p:nvGrpSpPr>
              <p:cNvPr id="267" name="Groupe 266"/>
              <p:cNvGrpSpPr/>
              <p:nvPr/>
            </p:nvGrpSpPr>
            <p:grpSpPr bwMode="auto">
              <a:xfrm>
                <a:off x="8081068" y="7048956"/>
                <a:ext cx="1265939" cy="479484"/>
                <a:chOff x="8081068" y="6365668"/>
                <a:chExt cx="1265939" cy="479484"/>
              </a:xfrm>
            </p:grpSpPr>
            <p:grpSp>
              <p:nvGrpSpPr>
                <p:cNvPr id="238" name="Groupe 237"/>
                <p:cNvGrpSpPr/>
                <p:nvPr/>
              </p:nvGrpSpPr>
              <p:grpSpPr bwMode="auto">
                <a:xfrm>
                  <a:off x="8081068" y="6365668"/>
                  <a:ext cx="1265939" cy="479484"/>
                  <a:chOff x="8165301" y="4636491"/>
                  <a:chExt cx="1265939" cy="479484"/>
                </a:xfrm>
              </p:grpSpPr>
              <p:sp>
                <p:nvSpPr>
                  <p:cNvPr id="239" name="Rectangle : coins arrondis 238"/>
                  <p:cNvSpPr/>
                  <p:nvPr/>
                </p:nvSpPr>
                <p:spPr bwMode="auto">
                  <a:xfrm>
                    <a:off x="8810361" y="4693600"/>
                    <a:ext cx="620879" cy="42237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endParaRPr lang="fr-FR" sz="1200" b="1">
                      <a:solidFill>
                        <a:schemeClr val="accent2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240" name="ZoneTexte 239"/>
                  <p:cNvSpPr txBox="1"/>
                  <p:nvPr/>
                </p:nvSpPr>
                <p:spPr bwMode="auto">
                  <a:xfrm>
                    <a:off x="8165301" y="4636491"/>
                    <a:ext cx="69058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Esquive </a:t>
                    </a:r>
                    <a:endParaRPr/>
                  </a:p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PM</a:t>
                    </a:r>
                    <a:endParaRPr lang="fr-FR" sz="1400">
                      <a:solidFill>
                        <a:srgbClr val="7030A0"/>
                      </a:solidFill>
                      <a:latin typeface="Segoe UI"/>
                      <a:cs typeface="Segoe UI"/>
                    </a:endParaRPr>
                  </a:p>
                </p:txBody>
              </p:sp>
            </p:grpSp>
            <p:pic>
              <p:nvPicPr>
                <p:cNvPr id="2090" name="Picture 42"/>
                <p:cNvPicPr>
                  <a:picLocks noChangeAspect="1" noChangeArrowheads="1"/>
                </p:cNvPicPr>
                <p:nvPr/>
              </p:nvPicPr>
              <p:blipFill rotWithShape="1">
                <a:blip r:embed="rId18"/>
                <a:stretch/>
              </p:blipFill>
              <p:spPr bwMode="auto">
                <a:xfrm>
                  <a:off x="8252540" y="6611363"/>
                  <a:ext cx="180000" cy="180000"/>
                </a:xfrm>
                <a:prstGeom prst="rect">
                  <a:avLst/>
                </a:prstGeom>
                <a:noFill/>
              </p:spPr>
            </p:pic>
          </p:grpSp>
          <p:sp>
            <p:nvSpPr>
              <p:cNvPr id="432" name="ZoneTexte 431"/>
              <p:cNvSpPr txBox="1"/>
              <p:nvPr/>
            </p:nvSpPr>
            <p:spPr bwMode="auto">
              <a:xfrm>
                <a:off x="9117376" y="7362203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20</a:t>
                </a:r>
                <a:endParaRPr/>
              </a:p>
            </p:txBody>
          </p:sp>
          <p:sp>
            <p:nvSpPr>
              <p:cNvPr id="488" name="ZoneTexte 487"/>
              <p:cNvSpPr txBox="1"/>
              <p:nvPr/>
            </p:nvSpPr>
            <p:spPr bwMode="auto">
              <a:xfrm>
                <a:off x="8691496" y="7087965"/>
                <a:ext cx="20955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7</a:t>
                </a:r>
                <a:endParaRPr/>
              </a:p>
            </p:txBody>
          </p:sp>
          <p:grpSp>
            <p:nvGrpSpPr>
              <p:cNvPr id="506" name="Groupe 505"/>
              <p:cNvGrpSpPr/>
              <p:nvPr/>
            </p:nvGrpSpPr>
            <p:grpSpPr bwMode="auto">
              <a:xfrm>
                <a:off x="8984290" y="7117984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7" name="Connecteur : en angle 506"/>
                <p:cNvCxnSpPr/>
                <p:nvPr/>
              </p:nvCxnSpPr>
              <p:spPr bwMode="auto"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8" name="ZoneTexte 507"/>
                <p:cNvSpPr txBox="1"/>
                <p:nvPr/>
              </p:nvSpPr>
              <p:spPr bwMode="auto"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352" name="Groupe 351"/>
            <p:cNvGrpSpPr/>
            <p:nvPr/>
          </p:nvGrpSpPr>
          <p:grpSpPr bwMode="auto">
            <a:xfrm>
              <a:off x="8345829" y="5247872"/>
              <a:ext cx="1249738" cy="776231"/>
              <a:chOff x="8118237" y="5766087"/>
              <a:chExt cx="1249738" cy="776231"/>
            </a:xfrm>
          </p:grpSpPr>
          <p:pic>
            <p:nvPicPr>
              <p:cNvPr id="470" name="Picture 40"/>
              <p:cNvPicPr>
                <a:picLocks noChangeAspect="1" noChangeArrowheads="1"/>
              </p:cNvPicPr>
              <p:nvPr/>
            </p:nvPicPr>
            <p:blipFill rotWithShape="1">
              <a:blip r:embed="rId19"/>
              <a:stretch/>
            </p:blipFill>
            <p:spPr bwMode="auto">
              <a:xfrm>
                <a:off x="8316042" y="6030546"/>
                <a:ext cx="143774" cy="143774"/>
              </a:xfrm>
              <a:prstGeom prst="rect">
                <a:avLst/>
              </a:prstGeom>
              <a:noFill/>
            </p:spPr>
          </p:pic>
          <p:grpSp>
            <p:nvGrpSpPr>
              <p:cNvPr id="350" name="Groupe 349"/>
              <p:cNvGrpSpPr/>
              <p:nvPr/>
            </p:nvGrpSpPr>
            <p:grpSpPr bwMode="auto">
              <a:xfrm>
                <a:off x="8118237" y="5766087"/>
                <a:ext cx="1249738" cy="776231"/>
                <a:chOff x="8118237" y="5766087"/>
                <a:chExt cx="1249738" cy="776231"/>
              </a:xfrm>
            </p:grpSpPr>
            <p:grpSp>
              <p:nvGrpSpPr>
                <p:cNvPr id="274" name="Groupe 273"/>
                <p:cNvGrpSpPr/>
                <p:nvPr/>
              </p:nvGrpSpPr>
              <p:grpSpPr bwMode="auto">
                <a:xfrm>
                  <a:off x="8118237" y="5766087"/>
                  <a:ext cx="1249738" cy="771692"/>
                  <a:chOff x="8118237" y="5424175"/>
                  <a:chExt cx="1249738" cy="771692"/>
                </a:xfrm>
              </p:grpSpPr>
              <p:grpSp>
                <p:nvGrpSpPr>
                  <p:cNvPr id="254" name="Groupe 253"/>
                  <p:cNvGrpSpPr/>
                  <p:nvPr/>
                </p:nvGrpSpPr>
                <p:grpSpPr bwMode="auto">
                  <a:xfrm>
                    <a:off x="8118237" y="5655867"/>
                    <a:ext cx="1128180" cy="540000"/>
                    <a:chOff x="8201483" y="5901254"/>
                    <a:chExt cx="1128180" cy="540000"/>
                  </a:xfrm>
                </p:grpSpPr>
                <p:sp>
                  <p:nvSpPr>
                    <p:cNvPr id="255" name="Rectangle : coins arrondis 254"/>
                    <p:cNvSpPr/>
                    <p:nvPr/>
                  </p:nvSpPr>
                  <p:spPr bwMode="auto">
                    <a:xfrm>
                      <a:off x="8609663" y="5901254"/>
                      <a:ext cx="720000" cy="54000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56" name="ZoneTexte 255"/>
                    <p:cNvSpPr txBox="1"/>
                    <p:nvPr/>
                  </p:nvSpPr>
                  <p:spPr bwMode="auto">
                    <a:xfrm>
                      <a:off x="8201483" y="6073828"/>
                      <a:ext cx="4468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latin typeface="Segoe UI"/>
                          <a:cs typeface="Segoe UI"/>
                        </a:rPr>
                        <a:t>CA</a:t>
                      </a:r>
                      <a:endParaRPr lang="fr-FR" sz="1400">
                        <a:latin typeface="Segoe UI"/>
                        <a:cs typeface="Segoe UI"/>
                      </a:endParaRPr>
                    </a:p>
                  </p:txBody>
                </p:sp>
              </p:grpSp>
              <p:sp>
                <p:nvSpPr>
                  <p:cNvPr id="391" name="Zone de texte 80"/>
                  <p:cNvSpPr txBox="1"/>
                  <p:nvPr/>
                </p:nvSpPr>
                <p:spPr bwMode="auto">
                  <a:xfrm>
                    <a:off x="8309658" y="5424175"/>
                    <a:ext cx="1058317" cy="20955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700">
                        <a:solidFill>
                          <a:srgbClr val="BFBFBF"/>
                        </a:solidFill>
                        <a:latin typeface="Segoe UI"/>
                        <a:ea typeface="Calibri"/>
                        <a:cs typeface="Segoe UI"/>
                      </a:rPr>
                      <a:t>[10 + Mod.  Vita + equip.]</a:t>
                    </a:r>
                    <a:endParaRPr lang="fr-FR" sz="1400">
                      <a:latin typeface="Segoe UI"/>
                      <a:ea typeface="Calibri"/>
                      <a:cs typeface="Segoe UI"/>
                    </a:endParaRPr>
                  </a:p>
                </p:txBody>
              </p:sp>
            </p:grpSp>
            <p:sp>
              <p:nvSpPr>
                <p:cNvPr id="430" name="ZoneTexte 429"/>
                <p:cNvSpPr txBox="1"/>
                <p:nvPr/>
              </p:nvSpPr>
              <p:spPr bwMode="auto">
                <a:xfrm>
                  <a:off x="8996792" y="6357652"/>
                  <a:ext cx="30825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6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/>
                      <a:cs typeface="Segoe UI"/>
                    </a:rPr>
                    <a:t>22</a:t>
                  </a:r>
                  <a:endParaRPr/>
                </a:p>
              </p:txBody>
            </p:sp>
            <p:sp>
              <p:nvSpPr>
                <p:cNvPr id="486" name="ZoneTexte 485"/>
                <p:cNvSpPr txBox="1"/>
                <p:nvPr/>
              </p:nvSpPr>
              <p:spPr bwMode="auto">
                <a:xfrm>
                  <a:off x="8483387" y="5983739"/>
                  <a:ext cx="21243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9</a:t>
                  </a:r>
                  <a:endParaRPr/>
                </a:p>
              </p:txBody>
            </p:sp>
            <p:cxnSp>
              <p:nvCxnSpPr>
                <p:cNvPr id="67" name="Connecteur : en angle 66"/>
                <p:cNvCxnSpPr/>
                <p:nvPr/>
              </p:nvCxnSpPr>
              <p:spPr bwMode="auto">
                <a:xfrm>
                  <a:off x="8979718" y="6013261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5B5B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ZoneTexte 68"/>
                <p:cNvSpPr txBox="1"/>
                <p:nvPr/>
              </p:nvSpPr>
              <p:spPr bwMode="auto">
                <a:xfrm>
                  <a:off x="8872904" y="611620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B5B5B5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355" name="Groupe 354"/>
            <p:cNvGrpSpPr/>
            <p:nvPr/>
          </p:nvGrpSpPr>
          <p:grpSpPr bwMode="auto">
            <a:xfrm>
              <a:off x="6225987" y="5312919"/>
              <a:ext cx="1225317" cy="658479"/>
              <a:chOff x="8230027" y="7742196"/>
              <a:chExt cx="1225317" cy="658479"/>
            </a:xfrm>
          </p:grpSpPr>
          <p:grpSp>
            <p:nvGrpSpPr>
              <p:cNvPr id="271" name="Groupe 270"/>
              <p:cNvGrpSpPr/>
              <p:nvPr/>
            </p:nvGrpSpPr>
            <p:grpSpPr bwMode="auto">
              <a:xfrm>
                <a:off x="8230027" y="7742196"/>
                <a:ext cx="1184461" cy="658479"/>
                <a:chOff x="8230027" y="7400284"/>
                <a:chExt cx="1184461" cy="658479"/>
              </a:xfrm>
            </p:grpSpPr>
            <p:grpSp>
              <p:nvGrpSpPr>
                <p:cNvPr id="268" name="Groupe 267"/>
                <p:cNvGrpSpPr/>
                <p:nvPr/>
              </p:nvGrpSpPr>
              <p:grpSpPr bwMode="auto">
                <a:xfrm>
                  <a:off x="8286092" y="7400284"/>
                  <a:ext cx="1060915" cy="468277"/>
                  <a:chOff x="8286092" y="6894316"/>
                  <a:chExt cx="1060915" cy="468277"/>
                </a:xfrm>
              </p:grpSpPr>
              <p:grpSp>
                <p:nvGrpSpPr>
                  <p:cNvPr id="229" name="Groupe 228"/>
                  <p:cNvGrpSpPr/>
                  <p:nvPr/>
                </p:nvGrpSpPr>
                <p:grpSpPr bwMode="auto">
                  <a:xfrm>
                    <a:off x="8286092" y="6894316"/>
                    <a:ext cx="1060915" cy="468277"/>
                    <a:chOff x="8371840" y="6655894"/>
                    <a:chExt cx="1060915" cy="468277"/>
                  </a:xfrm>
                </p:grpSpPr>
                <p:sp>
                  <p:nvSpPr>
                    <p:cNvPr id="230" name="Rectangle : coins arrondis 229"/>
                    <p:cNvSpPr/>
                    <p:nvPr/>
                  </p:nvSpPr>
                  <p:spPr bwMode="auto">
                    <a:xfrm>
                      <a:off x="8811876" y="6701796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31" name="ZoneTexte 230"/>
                    <p:cNvSpPr txBox="1"/>
                    <p:nvPr/>
                  </p:nvSpPr>
                  <p:spPr bwMode="auto">
                    <a:xfrm>
                      <a:off x="8371840" y="6655894"/>
                      <a:ext cx="49404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Fuite</a:t>
                      </a:r>
                      <a:endParaRPr lang="fr-FR" sz="140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94" name="Picture 46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0"/>
                  <a:stretch/>
                </p:blipFill>
                <p:spPr bwMode="auto">
                  <a:xfrm>
                    <a:off x="8473653" y="7130005"/>
                    <a:ext cx="180000" cy="180000"/>
                  </a:xfrm>
                  <a:prstGeom prst="rect">
                    <a:avLst/>
                  </a:prstGeom>
                  <a:noFill/>
                </p:spPr>
              </p:pic>
            </p:grpSp>
            <p:sp>
              <p:nvSpPr>
                <p:cNvPr id="398" name="Zone de texte 80"/>
                <p:cNvSpPr txBox="1"/>
                <p:nvPr/>
              </p:nvSpPr>
              <p:spPr bwMode="auto">
                <a:xfrm>
                  <a:off x="8230027" y="7849213"/>
                  <a:ext cx="118446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[Mod. Agi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  <p:sp>
            <p:nvSpPr>
              <p:cNvPr id="433" name="ZoneTexte 432"/>
              <p:cNvSpPr txBox="1"/>
              <p:nvPr/>
            </p:nvSpPr>
            <p:spPr bwMode="auto">
              <a:xfrm>
                <a:off x="9069254" y="8044973"/>
                <a:ext cx="3258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76B54B"/>
                    </a:solidFill>
                    <a:latin typeface="Segoe UI"/>
                    <a:cs typeface="Segoe UI"/>
                  </a:rPr>
                  <a:t>17</a:t>
                </a:r>
                <a:endParaRPr lang="fr-FR" sz="700">
                  <a:solidFill>
                    <a:srgbClr val="76B54B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89" name="ZoneTexte 488"/>
              <p:cNvSpPr txBox="1"/>
              <p:nvPr/>
            </p:nvSpPr>
            <p:spPr bwMode="auto">
              <a:xfrm>
                <a:off x="8673660" y="7764212"/>
                <a:ext cx="28459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76B54B"/>
                    </a:solidFill>
                    <a:latin typeface="Segoe UI"/>
                    <a:cs typeface="Segoe UI"/>
                  </a:rPr>
                  <a:t>-1</a:t>
                </a:r>
                <a:endParaRPr/>
              </a:p>
            </p:txBody>
          </p:sp>
          <p:cxnSp>
            <p:nvCxnSpPr>
              <p:cNvPr id="72" name="Connecteur : en angle 71"/>
              <p:cNvCxnSpPr/>
              <p:nvPr/>
            </p:nvCxnSpPr>
            <p:spPr bwMode="auto">
              <a:xfrm>
                <a:off x="9088834" y="7801105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76B54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ZoneTexte 72"/>
              <p:cNvSpPr txBox="1"/>
              <p:nvPr/>
            </p:nvSpPr>
            <p:spPr bwMode="auto">
              <a:xfrm>
                <a:off x="8982020" y="7904051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300" spc="-20">
                    <a:solidFill>
                      <a:srgbClr val="76B54B"/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grpSp>
          <p:nvGrpSpPr>
            <p:cNvPr id="356" name="Groupe 355"/>
            <p:cNvGrpSpPr/>
            <p:nvPr/>
          </p:nvGrpSpPr>
          <p:grpSpPr bwMode="auto">
            <a:xfrm>
              <a:off x="7254111" y="5314805"/>
              <a:ext cx="1249262" cy="667682"/>
              <a:chOff x="8222382" y="8428822"/>
              <a:chExt cx="1249262" cy="667682"/>
            </a:xfrm>
          </p:grpSpPr>
          <p:grpSp>
            <p:nvGrpSpPr>
              <p:cNvPr id="270" name="Groupe 269"/>
              <p:cNvGrpSpPr/>
              <p:nvPr/>
            </p:nvGrpSpPr>
            <p:grpSpPr bwMode="auto">
              <a:xfrm>
                <a:off x="8222382" y="8428822"/>
                <a:ext cx="1249262" cy="667682"/>
                <a:chOff x="8222382" y="8086910"/>
                <a:chExt cx="1249262" cy="667682"/>
              </a:xfrm>
            </p:grpSpPr>
            <p:grpSp>
              <p:nvGrpSpPr>
                <p:cNvPr id="269" name="Groupe 268"/>
                <p:cNvGrpSpPr/>
                <p:nvPr/>
              </p:nvGrpSpPr>
              <p:grpSpPr bwMode="auto">
                <a:xfrm>
                  <a:off x="8222382" y="8086910"/>
                  <a:ext cx="1124625" cy="465340"/>
                  <a:chOff x="8222382" y="7391966"/>
                  <a:chExt cx="1124625" cy="465340"/>
                </a:xfrm>
              </p:grpSpPr>
              <p:grpSp>
                <p:nvGrpSpPr>
                  <p:cNvPr id="232" name="Groupe 231"/>
                  <p:cNvGrpSpPr/>
                  <p:nvPr/>
                </p:nvGrpSpPr>
                <p:grpSpPr bwMode="auto">
                  <a:xfrm>
                    <a:off x="8222382" y="7391966"/>
                    <a:ext cx="1124625" cy="465340"/>
                    <a:chOff x="8308130" y="6652909"/>
                    <a:chExt cx="1124625" cy="465340"/>
                  </a:xfrm>
                </p:grpSpPr>
                <p:sp>
                  <p:nvSpPr>
                    <p:cNvPr id="233" name="Rectangle : coins arrondis 232"/>
                    <p:cNvSpPr/>
                    <p:nvPr/>
                  </p:nvSpPr>
                  <p:spPr bwMode="auto">
                    <a:xfrm>
                      <a:off x="8811876" y="6695874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34" name="ZoneTexte 233"/>
                    <p:cNvSpPr txBox="1"/>
                    <p:nvPr/>
                  </p:nvSpPr>
                  <p:spPr bwMode="auto">
                    <a:xfrm>
                      <a:off x="8308130" y="6652909"/>
                      <a:ext cx="563842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/>
                          <a:cs typeface="Segoe UI"/>
                        </a:rPr>
                        <a:t>Tacle</a:t>
                      </a:r>
                      <a:endParaRPr lang="fr-FR" sz="140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92" name="Picture 4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1"/>
                  <a:stretch/>
                </p:blipFill>
                <p:spPr bwMode="auto">
                  <a:xfrm>
                    <a:off x="8485926" y="7623027"/>
                    <a:ext cx="180000" cy="180000"/>
                  </a:xfrm>
                  <a:prstGeom prst="rect">
                    <a:avLst/>
                  </a:prstGeom>
                  <a:noFill/>
                </p:spPr>
              </p:pic>
            </p:grpSp>
            <p:sp>
              <p:nvSpPr>
                <p:cNvPr id="399" name="Zone de texte 80"/>
                <p:cNvSpPr txBox="1"/>
                <p:nvPr/>
              </p:nvSpPr>
              <p:spPr bwMode="auto">
                <a:xfrm>
                  <a:off x="8275261" y="8545042"/>
                  <a:ext cx="119638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[Mod. Chance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  <p:sp>
            <p:nvSpPr>
              <p:cNvPr id="434" name="ZoneTexte 433"/>
              <p:cNvSpPr txBox="1"/>
              <p:nvPr/>
            </p:nvSpPr>
            <p:spPr bwMode="auto">
              <a:xfrm>
                <a:off x="9089786" y="8730532"/>
                <a:ext cx="31359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8FAADC"/>
                    </a:solidFill>
                    <a:latin typeface="Segoe UI"/>
                    <a:cs typeface="Segoe UI"/>
                  </a:rPr>
                  <a:t>17</a:t>
                </a:r>
                <a:endParaRPr lang="fr-FR" sz="700">
                  <a:solidFill>
                    <a:srgbClr val="8FAADC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90" name="ZoneTexte 489"/>
              <p:cNvSpPr txBox="1"/>
              <p:nvPr/>
            </p:nvSpPr>
            <p:spPr bwMode="auto">
              <a:xfrm>
                <a:off x="8680694" y="8451942"/>
                <a:ext cx="26781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8FAADC"/>
                    </a:solidFill>
                    <a:latin typeface="Segoe UI"/>
                    <a:cs typeface="Segoe UI"/>
                  </a:rPr>
                  <a:t>-1</a:t>
                </a:r>
                <a:endParaRPr/>
              </a:p>
            </p:txBody>
          </p:sp>
          <p:cxnSp>
            <p:nvCxnSpPr>
              <p:cNvPr id="84" name="Connecteur : en angle 83"/>
              <p:cNvCxnSpPr/>
              <p:nvPr/>
            </p:nvCxnSpPr>
            <p:spPr bwMode="auto">
              <a:xfrm>
                <a:off x="9091066" y="8483507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8FAAD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ZoneTexte 99"/>
              <p:cNvSpPr txBox="1"/>
              <p:nvPr/>
            </p:nvSpPr>
            <p:spPr bwMode="auto">
              <a:xfrm>
                <a:off x="8984252" y="8586453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300" spc="-20">
                    <a:solidFill>
                      <a:srgbClr val="8FAADC"/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sp>
          <p:nvSpPr>
            <p:cNvPr id="359" name="ZoneTexte 358"/>
            <p:cNvSpPr txBox="1"/>
            <p:nvPr/>
          </p:nvSpPr>
          <p:spPr bwMode="auto">
            <a:xfrm>
              <a:off x="4024329" y="5044870"/>
              <a:ext cx="351091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fr-FR" sz="14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Protections</a:t>
              </a:r>
              <a:endParaRPr/>
            </a:p>
          </p:txBody>
        </p:sp>
      </p:grpSp>
      <p:grpSp>
        <p:nvGrpSpPr>
          <p:cNvPr id="718215083" name="Groupe 360"/>
          <p:cNvGrpSpPr/>
          <p:nvPr/>
        </p:nvGrpSpPr>
        <p:grpSpPr bwMode="auto">
          <a:xfrm>
            <a:off x="117521" y="10403050"/>
            <a:ext cx="9363114" cy="2277701"/>
            <a:chOff x="245778" y="4581047"/>
            <a:chExt cx="9093293" cy="2277701"/>
          </a:xfrm>
        </p:grpSpPr>
        <p:grpSp>
          <p:nvGrpSpPr>
            <p:cNvPr id="362" name="Groupe 361"/>
            <p:cNvGrpSpPr/>
            <p:nvPr/>
          </p:nvGrpSpPr>
          <p:grpSpPr bwMode="auto">
            <a:xfrm>
              <a:off x="245778" y="4581047"/>
              <a:ext cx="9093293" cy="2277701"/>
              <a:chOff x="245778" y="4581047"/>
              <a:chExt cx="9093293" cy="2277701"/>
            </a:xfrm>
          </p:grpSpPr>
          <p:sp>
            <p:nvSpPr>
              <p:cNvPr id="2240" name="Rectangle : coins arrondis 2239"/>
              <p:cNvSpPr/>
              <p:nvPr/>
            </p:nvSpPr>
            <p:spPr bwMode="auto">
              <a:xfrm>
                <a:off x="245778" y="4754683"/>
                <a:ext cx="9093293" cy="210406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2241" name="ZoneTexte 2240"/>
              <p:cNvSpPr txBox="1"/>
              <p:nvPr/>
            </p:nvSpPr>
            <p:spPr bwMode="auto">
              <a:xfrm>
                <a:off x="4127952" y="4581047"/>
                <a:ext cx="134529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Sorts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363" name="ZoneTexte 362"/>
            <p:cNvSpPr txBox="1"/>
            <p:nvPr/>
          </p:nvSpPr>
          <p:spPr bwMode="auto">
            <a:xfrm>
              <a:off x="370864" y="4750289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4" name="ZoneTexte 363"/>
            <p:cNvSpPr txBox="1"/>
            <p:nvPr/>
          </p:nvSpPr>
          <p:spPr bwMode="auto">
            <a:xfrm>
              <a:off x="3354067" y="4757702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5" name="ZoneTexte 364"/>
            <p:cNvSpPr txBox="1"/>
            <p:nvPr/>
          </p:nvSpPr>
          <p:spPr bwMode="auto">
            <a:xfrm>
              <a:off x="6321728" y="4766127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6" name="ZoneTexte 365"/>
            <p:cNvSpPr txBox="1"/>
            <p:nvPr/>
          </p:nvSpPr>
          <p:spPr bwMode="auto">
            <a:xfrm>
              <a:off x="335406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5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7" name="ZoneTexte 366"/>
            <p:cNvSpPr txBox="1"/>
            <p:nvPr/>
          </p:nvSpPr>
          <p:spPr bwMode="auto">
            <a:xfrm>
              <a:off x="3347196" y="5621791"/>
              <a:ext cx="54662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8" name="ZoneTexte 367"/>
            <p:cNvSpPr txBox="1"/>
            <p:nvPr/>
          </p:nvSpPr>
          <p:spPr bwMode="auto">
            <a:xfrm>
              <a:off x="334719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17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9" name="ZoneTexte 368"/>
            <p:cNvSpPr txBox="1"/>
            <p:nvPr/>
          </p:nvSpPr>
          <p:spPr bwMode="auto">
            <a:xfrm>
              <a:off x="6315906" y="601886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19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0" name="ZoneTexte 369"/>
            <p:cNvSpPr txBox="1"/>
            <p:nvPr/>
          </p:nvSpPr>
          <p:spPr bwMode="auto">
            <a:xfrm>
              <a:off x="6315905" y="5613968"/>
              <a:ext cx="59783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13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1" name="ZoneTexte 370"/>
            <p:cNvSpPr txBox="1"/>
            <p:nvPr/>
          </p:nvSpPr>
          <p:spPr bwMode="auto">
            <a:xfrm>
              <a:off x="6323525" y="521528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7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2" name="ZoneTexte 371"/>
            <p:cNvSpPr txBox="1"/>
            <p:nvPr/>
          </p:nvSpPr>
          <p:spPr bwMode="auto">
            <a:xfrm>
              <a:off x="37773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3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3" name="ZoneTexte 372"/>
            <p:cNvSpPr txBox="1"/>
            <p:nvPr/>
          </p:nvSpPr>
          <p:spPr bwMode="auto">
            <a:xfrm>
              <a:off x="370866" y="562179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9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6" name="ZoneTexte 2235"/>
            <p:cNvSpPr txBox="1"/>
            <p:nvPr/>
          </p:nvSpPr>
          <p:spPr bwMode="auto">
            <a:xfrm>
              <a:off x="37086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15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7" name="ZoneTexte 2236"/>
            <p:cNvSpPr txBox="1"/>
            <p:nvPr/>
          </p:nvSpPr>
          <p:spPr bwMode="auto">
            <a:xfrm>
              <a:off x="334719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Autre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8" name="ZoneTexte 2237"/>
            <p:cNvSpPr txBox="1"/>
            <p:nvPr/>
          </p:nvSpPr>
          <p:spPr bwMode="auto">
            <a:xfrm>
              <a:off x="6315906" y="640794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Autre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9" name="ZoneTexte 2238"/>
            <p:cNvSpPr txBox="1"/>
            <p:nvPr/>
          </p:nvSpPr>
          <p:spPr bwMode="auto">
            <a:xfrm>
              <a:off x="37086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Autre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pSp>
        <p:nvGrpSpPr>
          <p:cNvPr id="267356778" name="Groupe 2269"/>
          <p:cNvGrpSpPr/>
          <p:nvPr/>
        </p:nvGrpSpPr>
        <p:grpSpPr bwMode="auto">
          <a:xfrm>
            <a:off x="4102582" y="6720178"/>
            <a:ext cx="5364903" cy="3618252"/>
            <a:chOff x="245778" y="4552139"/>
            <a:chExt cx="9093293" cy="3189488"/>
          </a:xfrm>
        </p:grpSpPr>
        <p:grpSp>
          <p:nvGrpSpPr>
            <p:cNvPr id="2271" name="Groupe 2270"/>
            <p:cNvGrpSpPr/>
            <p:nvPr/>
          </p:nvGrpSpPr>
          <p:grpSpPr bwMode="auto">
            <a:xfrm>
              <a:off x="245778" y="4563265"/>
              <a:ext cx="9093293" cy="3178362"/>
              <a:chOff x="245778" y="4563265"/>
              <a:chExt cx="9093293" cy="3178362"/>
            </a:xfrm>
          </p:grpSpPr>
          <p:sp>
            <p:nvSpPr>
              <p:cNvPr id="2274" name="Rectangle : coins arrondis 2273"/>
              <p:cNvSpPr/>
              <p:nvPr/>
            </p:nvSpPr>
            <p:spPr bwMode="auto">
              <a:xfrm>
                <a:off x="245778" y="4754682"/>
                <a:ext cx="9093293" cy="298694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2275" name="ZoneTexte 2274"/>
              <p:cNvSpPr txBox="1"/>
              <p:nvPr/>
            </p:nvSpPr>
            <p:spPr bwMode="auto">
              <a:xfrm>
                <a:off x="3560647" y="4563265"/>
                <a:ext cx="2499372" cy="2713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Spécialisation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2273" name="ZoneTexte 2272"/>
            <p:cNvSpPr txBox="1"/>
            <p:nvPr/>
          </p:nvSpPr>
          <p:spPr bwMode="auto">
            <a:xfrm>
              <a:off x="315483" y="4552139"/>
              <a:ext cx="3529380" cy="189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Aptitudes et bonus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aphicFrame>
        <p:nvGraphicFramePr>
          <p:cNvPr id="1863959100" name="Tableau 173"/>
          <p:cNvGraphicFramePr>
            <a:graphicFrameLocks noGrp="1"/>
          </p:cNvGraphicFramePr>
          <p:nvPr/>
        </p:nvGraphicFramePr>
        <p:xfrm>
          <a:off x="4180851" y="6998140"/>
          <a:ext cx="521707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 b="0">
                        <a:solidFill>
                          <a:schemeClr val="tx1"/>
                        </a:solidFill>
                        <a:latin typeface="Segoe UI Semilight "/>
                      </a:endParaRPr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95133553" name="Tableau 173"/>
          <p:cNvGraphicFramePr>
            <a:graphicFrameLocks noGrp="1"/>
          </p:cNvGraphicFramePr>
          <p:nvPr/>
        </p:nvGraphicFramePr>
        <p:xfrm>
          <a:off x="214237" y="10615365"/>
          <a:ext cx="9183845" cy="198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1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15167306" name="Groupe 2443"/>
          <p:cNvGrpSpPr/>
          <p:nvPr/>
        </p:nvGrpSpPr>
        <p:grpSpPr bwMode="auto">
          <a:xfrm>
            <a:off x="4036749" y="3814790"/>
            <a:ext cx="3655061" cy="1109124"/>
            <a:chOff x="4134628" y="3778985"/>
            <a:chExt cx="3655061" cy="1109124"/>
          </a:xfrm>
        </p:grpSpPr>
        <p:grpSp>
          <p:nvGrpSpPr>
            <p:cNvPr id="2120" name="Groupe 2119"/>
            <p:cNvGrpSpPr/>
            <p:nvPr/>
          </p:nvGrpSpPr>
          <p:grpSpPr bwMode="auto">
            <a:xfrm>
              <a:off x="4134628" y="3778985"/>
              <a:ext cx="3655061" cy="1109124"/>
              <a:chOff x="3890426" y="3795629"/>
              <a:chExt cx="3655061" cy="1109124"/>
            </a:xfrm>
          </p:grpSpPr>
          <p:sp>
            <p:nvSpPr>
              <p:cNvPr id="52" name="ZoneTexte 51"/>
              <p:cNvSpPr txBox="1"/>
              <p:nvPr/>
            </p:nvSpPr>
            <p:spPr bwMode="auto">
              <a:xfrm>
                <a:off x="3899505" y="3795629"/>
                <a:ext cx="3396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fr-FR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Dommages Fixes</a:t>
                </a:r>
                <a:endParaRPr/>
              </a:p>
            </p:txBody>
          </p:sp>
          <p:grpSp>
            <p:nvGrpSpPr>
              <p:cNvPr id="319" name="Groupe 318"/>
              <p:cNvGrpSpPr/>
              <p:nvPr/>
            </p:nvGrpSpPr>
            <p:grpSpPr bwMode="auto">
              <a:xfrm>
                <a:off x="3895763" y="4111200"/>
                <a:ext cx="3444822" cy="372696"/>
                <a:chOff x="3895763" y="4111200"/>
                <a:chExt cx="3444822" cy="372696"/>
              </a:xfrm>
            </p:grpSpPr>
            <p:grpSp>
              <p:nvGrpSpPr>
                <p:cNvPr id="56" name="Groupe 55"/>
                <p:cNvGrpSpPr/>
                <p:nvPr/>
              </p:nvGrpSpPr>
              <p:grpSpPr bwMode="auto">
                <a:xfrm>
                  <a:off x="5161478" y="41112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59" name="ZoneTexte 58"/>
                  <p:cNvSpPr txBox="1"/>
                  <p:nvPr/>
                </p:nvSpPr>
                <p:spPr bwMode="auto"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554735"/>
                        </a:solidFill>
                        <a:latin typeface="Segoe UI"/>
                        <a:cs typeface="Segoe UI"/>
                      </a:rPr>
                      <a:t>Terre</a:t>
                    </a:r>
                    <a:endParaRPr lang="fr-FR" sz="1400">
                      <a:solidFill>
                        <a:srgbClr val="554735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461" name="Groupe 460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9" name="Rectangle : coins arrondis 478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FE1D5"/>
                    </a:solidFill>
                    <a:ln>
                      <a:solidFill>
                        <a:srgbClr val="5547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498" name="ZoneTexte 497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B49F86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B49F86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499" name="ZoneTexte 498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B49F86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464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2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502" name="Groupe 501"/>
                <p:cNvGrpSpPr/>
                <p:nvPr/>
              </p:nvGrpSpPr>
              <p:grpSpPr bwMode="auto">
                <a:xfrm>
                  <a:off x="6325915" y="4111817"/>
                  <a:ext cx="1014670" cy="372079"/>
                  <a:chOff x="4148780" y="4109476"/>
                  <a:chExt cx="1014670" cy="372079"/>
                </a:xfrm>
              </p:grpSpPr>
              <p:sp>
                <p:nvSpPr>
                  <p:cNvPr id="64" name="ZoneTexte 63"/>
                  <p:cNvSpPr txBox="1"/>
                  <p:nvPr/>
                </p:nvSpPr>
                <p:spPr bwMode="auto">
                  <a:xfrm>
                    <a:off x="4148780" y="4219945"/>
                    <a:ext cx="372316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385723"/>
                        </a:solidFill>
                        <a:latin typeface="Segoe UI"/>
                        <a:cs typeface="Segoe UI"/>
                      </a:rPr>
                      <a:t>Air</a:t>
                    </a:r>
                    <a:endParaRPr lang="fr-FR" sz="1400">
                      <a:solidFill>
                        <a:srgbClr val="385723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68" name="Groupe 67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87" name="Rectangle : coins arrondis 86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F0D9"/>
                    </a:solidFill>
                    <a:ln>
                      <a:solidFill>
                        <a:srgbClr val="38572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88" name="ZoneTexte 87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548235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548235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90" name="ZoneTexte 89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548235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86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3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228" name="Groupe 227"/>
                <p:cNvGrpSpPr/>
                <p:nvPr/>
              </p:nvGrpSpPr>
              <p:grpSpPr bwMode="auto">
                <a:xfrm>
                  <a:off x="3895763" y="4111200"/>
                  <a:ext cx="1258513" cy="372079"/>
                  <a:chOff x="3904937" y="4109476"/>
                  <a:chExt cx="1258513" cy="372079"/>
                </a:xfrm>
              </p:grpSpPr>
              <p:sp>
                <p:nvSpPr>
                  <p:cNvPr id="243" name="ZoneTexte 242"/>
                  <p:cNvSpPr txBox="1"/>
                  <p:nvPr/>
                </p:nvSpPr>
                <p:spPr bwMode="auto">
                  <a:xfrm>
                    <a:off x="3904937" y="4219945"/>
                    <a:ext cx="61616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chemeClr val="bg2">
                            <a:lumMod val="25000"/>
                          </a:schemeClr>
                        </a:solidFill>
                        <a:latin typeface="Segoe UI"/>
                        <a:cs typeface="Segoe UI"/>
                      </a:rPr>
                      <a:t>Neutre</a:t>
                    </a:r>
                    <a:endParaRPr lang="fr-FR" sz="1400">
                      <a:solidFill>
                        <a:schemeClr val="bg2">
                          <a:lumMod val="25000"/>
                        </a:schemeClr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2064" name="Groupe 2063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068" name="Rectangle : coins arrondis 2067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bg2"/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070" name="ZoneTexte 2069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chemeClr val="bg1">
                            <a:lumMod val="50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2072" name="ZoneTexte 2071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2066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4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</p:grpSp>
          <p:grpSp>
            <p:nvGrpSpPr>
              <p:cNvPr id="318" name="Groupe 317"/>
              <p:cNvGrpSpPr/>
              <p:nvPr/>
            </p:nvGrpSpPr>
            <p:grpSpPr bwMode="auto">
              <a:xfrm>
                <a:off x="3890426" y="4526124"/>
                <a:ext cx="3450159" cy="378629"/>
                <a:chOff x="3890426" y="4500000"/>
                <a:chExt cx="3450159" cy="378629"/>
              </a:xfrm>
            </p:grpSpPr>
            <p:grpSp>
              <p:nvGrpSpPr>
                <p:cNvPr id="55" name="Groupe 54"/>
                <p:cNvGrpSpPr/>
                <p:nvPr/>
              </p:nvGrpSpPr>
              <p:grpSpPr bwMode="auto">
                <a:xfrm>
                  <a:off x="6274324" y="4500000"/>
                  <a:ext cx="1066261" cy="372079"/>
                  <a:chOff x="4097189" y="4109476"/>
                  <a:chExt cx="1066261" cy="372079"/>
                </a:xfrm>
              </p:grpSpPr>
              <p:sp>
                <p:nvSpPr>
                  <p:cNvPr id="48" name="ZoneTexte 47"/>
                  <p:cNvSpPr txBox="1"/>
                  <p:nvPr/>
                </p:nvSpPr>
                <p:spPr bwMode="auto">
                  <a:xfrm>
                    <a:off x="4097189" y="4219945"/>
                    <a:ext cx="423907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C00000"/>
                        </a:solidFill>
                        <a:latin typeface="Segoe UI"/>
                        <a:cs typeface="Segoe UI"/>
                      </a:rPr>
                      <a:t>Feu</a:t>
                    </a:r>
                    <a:endParaRPr lang="fr-FR" sz="1400">
                      <a:solidFill>
                        <a:srgbClr val="C00000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53" name="Groupe 52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" name="Rectangle : coins arrondis 46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FFE1E1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FF8F8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FF8F8F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FFA0A0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54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5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2073" name="Groupe 2072"/>
                <p:cNvGrpSpPr/>
                <p:nvPr/>
              </p:nvGrpSpPr>
              <p:grpSpPr bwMode="auto">
                <a:xfrm>
                  <a:off x="5161621" y="45000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2107" name="ZoneTexte 2106"/>
                  <p:cNvSpPr txBox="1"/>
                  <p:nvPr/>
                </p:nvSpPr>
                <p:spPr bwMode="auto"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2F5597"/>
                        </a:solidFill>
                        <a:latin typeface="Segoe UI"/>
                        <a:cs typeface="Segoe UI"/>
                      </a:rPr>
                      <a:t>Eau</a:t>
                    </a:r>
                    <a:endParaRPr lang="fr-FR" sz="1400">
                      <a:solidFill>
                        <a:srgbClr val="2F5597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262" name="Groupe 261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64" name="Rectangle : coins arrondis 263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DAE3F3"/>
                    </a:solidFill>
                    <a:ln>
                      <a:solidFill>
                        <a:srgbClr val="2F5597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09" name="ZoneTexte 308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ABBFE5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ABBFE5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310" name="ZoneTexte 309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ABBFE5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263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6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311" name="Groupe 310"/>
                <p:cNvGrpSpPr/>
                <p:nvPr/>
              </p:nvGrpSpPr>
              <p:grpSpPr bwMode="auto">
                <a:xfrm>
                  <a:off x="3890426" y="4507200"/>
                  <a:ext cx="1263231" cy="371429"/>
                  <a:chOff x="3900219" y="4109476"/>
                  <a:chExt cx="1263231" cy="371429"/>
                </a:xfrm>
              </p:grpSpPr>
              <p:sp>
                <p:nvSpPr>
                  <p:cNvPr id="312" name="ZoneTexte 311"/>
                  <p:cNvSpPr txBox="1"/>
                  <p:nvPr/>
                </p:nvSpPr>
                <p:spPr bwMode="auto">
                  <a:xfrm>
                    <a:off x="3900219" y="4219945"/>
                    <a:ext cx="620878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900">
                        <a:gradFill>
                          <a:gsLst>
                            <a:gs pos="0">
                              <a:srgbClr val="3B3838"/>
                            </a:gs>
                            <a:gs pos="25000">
                              <a:srgbClr val="554735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</a:gradFill>
                        <a:latin typeface="Segoe UI"/>
                        <a:cs typeface="Segoe UI"/>
                      </a:rPr>
                      <a:t>Multiple</a:t>
                    </a:r>
                    <a:endParaRPr lang="fr-FR" sz="1050">
                      <a:gradFill>
                        <a:gsLst>
                          <a:gs pos="0">
                            <a:srgbClr val="3B3838"/>
                          </a:gs>
                          <a:gs pos="25000">
                            <a:srgbClr val="554735"/>
                          </a:gs>
                          <a:gs pos="50000">
                            <a:srgbClr val="385723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0" scaled="1"/>
                      </a:gra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313" name="Groupe 312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315" name="Rectangle : coins arrondis 314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gradFill>
                      <a:gsLst>
                        <a:gs pos="0">
                          <a:srgbClr val="E7E6E6"/>
                        </a:gs>
                        <a:gs pos="25000">
                          <a:srgbClr val="EFE1D5"/>
                        </a:gs>
                        <a:gs pos="50000">
                          <a:srgbClr val="E2F0D9"/>
                        </a:gs>
                        <a:gs pos="75000">
                          <a:srgbClr val="DAE3F3"/>
                        </a:gs>
                        <a:gs pos="100000">
                          <a:srgbClr val="FFE1E1"/>
                        </a:gs>
                      </a:gsLst>
                      <a:lin ang="2700000" scaled="0"/>
                    </a:gradFill>
                    <a:ln>
                      <a:gradFill>
                        <a:gsLst>
                          <a:gs pos="0">
                            <a:srgbClr val="3B3838"/>
                          </a:gs>
                          <a:gs pos="25000">
                            <a:srgbClr val="554735"/>
                          </a:gs>
                          <a:gs pos="50000">
                            <a:srgbClr val="385723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2700000" scaled="1"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gradFill>
                          <a:gsLst>
                            <a:gs pos="0">
                              <a:srgbClr val="3B3838"/>
                            </a:gs>
                            <a:gs pos="25000">
                              <a:srgbClr val="554735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</a:gra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16" name="ZoneTexte 315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gradFill>
                            <a:gsLst>
                              <a:gs pos="0">
                                <a:srgbClr val="E7E6E6"/>
                              </a:gs>
                              <a:gs pos="25000">
                                <a:srgbClr val="B49F86"/>
                              </a:gs>
                              <a:gs pos="50000">
                                <a:srgbClr val="5B873D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gradFill>
                          <a:gsLst>
                            <a:gs pos="0">
                              <a:srgbClr val="E7E6E6"/>
                            </a:gs>
                            <a:gs pos="25000">
                              <a:srgbClr val="B49F86"/>
                            </a:gs>
                            <a:gs pos="50000">
                              <a:srgbClr val="5B873D"/>
                            </a:gs>
                            <a:gs pos="75000">
                              <a:srgbClr val="ABBFE5"/>
                            </a:gs>
                            <a:gs pos="100000">
                              <a:srgbClr val="FF8F8F"/>
                            </a:gs>
                          </a:gsLst>
                          <a:lin ang="2700000" scaled="1"/>
                        </a:gra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317" name="ZoneTexte 316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gradFill>
                            <a:gsLst>
                              <a:gs pos="0">
                                <a:srgbClr val="E7E6E6"/>
                              </a:gs>
                              <a:gs pos="25000">
                                <a:srgbClr val="B49F86"/>
                              </a:gs>
                              <a:gs pos="50000">
                                <a:srgbClr val="548235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314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7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</p:grpSp>
          <p:sp>
            <p:nvSpPr>
              <p:cNvPr id="2119" name="ZoneTexte 2118"/>
              <p:cNvSpPr txBox="1"/>
              <p:nvPr/>
            </p:nvSpPr>
            <p:spPr bwMode="auto">
              <a:xfrm rot="16199999">
                <a:off x="7158658" y="4340602"/>
                <a:ext cx="559240" cy="214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4000">
                  <a:latin typeface="Segoe UI"/>
                  <a:ea typeface="Calibri"/>
                  <a:cs typeface="Segoe UI"/>
                </a:endParaRPr>
              </a:p>
            </p:txBody>
          </p:sp>
        </p:grpSp>
        <p:cxnSp>
          <p:nvCxnSpPr>
            <p:cNvPr id="51" name="Connecteur : en angle 50"/>
            <p:cNvCxnSpPr/>
            <p:nvPr/>
          </p:nvCxnSpPr>
          <p:spPr bwMode="auto">
            <a:xfrm>
              <a:off x="7324539" y="4120553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54823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 : en angle 100"/>
            <p:cNvCxnSpPr/>
            <p:nvPr/>
          </p:nvCxnSpPr>
          <p:spPr bwMode="auto">
            <a:xfrm>
              <a:off x="7332384" y="4535898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FFBAB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ZoneTexte 101"/>
            <p:cNvSpPr txBox="1"/>
            <p:nvPr/>
          </p:nvSpPr>
          <p:spPr bwMode="auto">
            <a:xfrm>
              <a:off x="7332384" y="4665387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FFA0A0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cxnSp>
          <p:nvCxnSpPr>
            <p:cNvPr id="2063" name="Connecteur : en angle 2062"/>
            <p:cNvCxnSpPr/>
            <p:nvPr/>
          </p:nvCxnSpPr>
          <p:spPr bwMode="auto">
            <a:xfrm>
              <a:off x="6290861" y="453672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ABBFE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3" name="ZoneTexte 2242"/>
            <p:cNvSpPr txBox="1"/>
            <p:nvPr/>
          </p:nvSpPr>
          <p:spPr bwMode="auto">
            <a:xfrm>
              <a:off x="6290861" y="4666212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ABBFE5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cxnSp>
          <p:nvCxnSpPr>
            <p:cNvPr id="2250" name="Connecteur : en angle 2249"/>
            <p:cNvCxnSpPr/>
            <p:nvPr/>
          </p:nvCxnSpPr>
          <p:spPr bwMode="auto">
            <a:xfrm>
              <a:off x="6285194" y="4125867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B49F8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2" name="ZoneTexte 2251"/>
            <p:cNvSpPr txBox="1"/>
            <p:nvPr/>
          </p:nvSpPr>
          <p:spPr bwMode="auto">
            <a:xfrm>
              <a:off x="6285194" y="4255356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B49F86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sp>
          <p:nvSpPr>
            <p:cNvPr id="2253" name="ZoneTexte 2252"/>
            <p:cNvSpPr txBox="1"/>
            <p:nvPr/>
          </p:nvSpPr>
          <p:spPr bwMode="auto">
            <a:xfrm>
              <a:off x="7316547" y="4249512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548235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cxnSp>
          <p:nvCxnSpPr>
            <p:cNvPr id="2434" name="Connecteur : en angle 2433"/>
            <p:cNvCxnSpPr/>
            <p:nvPr/>
          </p:nvCxnSpPr>
          <p:spPr bwMode="auto">
            <a:xfrm>
              <a:off x="5134073" y="4545156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gradFill>
                <a:gsLst>
                  <a:gs pos="0">
                    <a:srgbClr val="7F7F7F"/>
                  </a:gs>
                  <a:gs pos="25000">
                    <a:srgbClr val="548235"/>
                  </a:gs>
                  <a:gs pos="50000">
                    <a:srgbClr val="B49F86"/>
                  </a:gs>
                  <a:gs pos="75000">
                    <a:srgbClr val="ABBFE5"/>
                  </a:gs>
                  <a:gs pos="100000">
                    <a:srgbClr val="FFA0A0"/>
                  </a:gs>
                </a:gsLst>
                <a:lin ang="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6" name="ZoneTexte 2435"/>
            <p:cNvSpPr txBox="1"/>
            <p:nvPr/>
          </p:nvSpPr>
          <p:spPr bwMode="auto">
            <a:xfrm>
              <a:off x="5134073" y="4674644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>
                  <a:gradFill>
                    <a:gsLst>
                      <a:gs pos="0">
                        <a:srgbClr val="E7E6E6"/>
                      </a:gs>
                      <a:gs pos="25000">
                        <a:srgbClr val="B49F86"/>
                      </a:gs>
                      <a:gs pos="50000">
                        <a:srgbClr val="548235"/>
                      </a:gs>
                      <a:gs pos="75000">
                        <a:srgbClr val="ABBFE5"/>
                      </a:gs>
                      <a:gs pos="100000">
                        <a:srgbClr val="FF8F8F"/>
                      </a:gs>
                    </a:gsLst>
                    <a:lin ang="2700000" scaled="1"/>
                  </a:gradFill>
                  <a:latin typeface="Segoe UI"/>
                  <a:cs typeface="Segoe UI"/>
                </a:rPr>
                <a:t>MONTURE</a:t>
              </a:r>
              <a:endParaRPr lang="fr-FR" sz="100" spc="-20">
                <a:solidFill>
                  <a:srgbClr val="B49F86"/>
                </a:solidFill>
                <a:latin typeface="Segoe UI"/>
                <a:cs typeface="Segoe UI"/>
              </a:endParaRPr>
            </a:p>
          </p:txBody>
        </p:sp>
        <p:cxnSp>
          <p:nvCxnSpPr>
            <p:cNvPr id="2442" name="Connecteur : en angle 2441"/>
            <p:cNvCxnSpPr/>
            <p:nvPr/>
          </p:nvCxnSpPr>
          <p:spPr bwMode="auto">
            <a:xfrm>
              <a:off x="5135789" y="412648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7F7F7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3" name="ZoneTexte 2442"/>
            <p:cNvSpPr txBox="1"/>
            <p:nvPr/>
          </p:nvSpPr>
          <p:spPr bwMode="auto">
            <a:xfrm>
              <a:off x="5135789" y="4255973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7F7F7F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</p:grpSp>
      <p:grpSp>
        <p:nvGrpSpPr>
          <p:cNvPr id="627224874" name="Groupe 2448"/>
          <p:cNvGrpSpPr/>
          <p:nvPr/>
        </p:nvGrpSpPr>
        <p:grpSpPr bwMode="auto">
          <a:xfrm>
            <a:off x="1067717" y="2146629"/>
            <a:ext cx="1290115" cy="1066340"/>
            <a:chOff x="1067717" y="2146629"/>
            <a:chExt cx="1290115" cy="1066340"/>
          </a:xfrm>
        </p:grpSpPr>
        <p:grpSp>
          <p:nvGrpSpPr>
            <p:cNvPr id="410" name="Groupe 409"/>
            <p:cNvGrpSpPr/>
            <p:nvPr/>
          </p:nvGrpSpPr>
          <p:grpSpPr bwMode="auto">
            <a:xfrm>
              <a:off x="1067717" y="2146629"/>
              <a:ext cx="1290115" cy="1066340"/>
              <a:chOff x="28715" y="4126602"/>
              <a:chExt cx="1290115" cy="1066340"/>
            </a:xfrm>
          </p:grpSpPr>
          <p:grpSp>
            <p:nvGrpSpPr>
              <p:cNvPr id="403" name="Groupe 402"/>
              <p:cNvGrpSpPr/>
              <p:nvPr/>
            </p:nvGrpSpPr>
            <p:grpSpPr bwMode="auto">
              <a:xfrm>
                <a:off x="28715" y="4485926"/>
                <a:ext cx="1290115" cy="608353"/>
                <a:chOff x="28715" y="4485926"/>
                <a:chExt cx="1290115" cy="608353"/>
              </a:xfrm>
            </p:grpSpPr>
            <p:grpSp>
              <p:nvGrpSpPr>
                <p:cNvPr id="395" name="Groupe 394"/>
                <p:cNvGrpSpPr/>
                <p:nvPr/>
              </p:nvGrpSpPr>
              <p:grpSpPr bwMode="auto">
                <a:xfrm>
                  <a:off x="79422" y="4527230"/>
                  <a:ext cx="1188000" cy="544360"/>
                  <a:chOff x="79422" y="4527230"/>
                  <a:chExt cx="1188000" cy="544360"/>
                </a:xfrm>
              </p:grpSpPr>
              <p:sp>
                <p:nvSpPr>
                  <p:cNvPr id="278" name="Rectangle : coins arrondis 277"/>
                  <p:cNvSpPr/>
                  <p:nvPr/>
                </p:nvSpPr>
                <p:spPr bwMode="auto">
                  <a:xfrm>
                    <a:off x="79422" y="4530022"/>
                    <a:ext cx="1188000" cy="5400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DE5DF"/>
                  </a:solidFill>
                  <a:ln>
                    <a:solidFill>
                      <a:srgbClr val="6C4F3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b="1"/>
                  </a:p>
                </p:txBody>
              </p:sp>
              <p:cxnSp>
                <p:nvCxnSpPr>
                  <p:cNvPr id="281" name="Connecteur droit 280"/>
                  <p:cNvCxnSpPr/>
                  <p:nvPr/>
                </p:nvCxnSpPr>
                <p:spPr bwMode="auto">
                  <a:xfrm>
                    <a:off x="468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Connecteur droit 305"/>
                  <p:cNvCxnSpPr/>
                  <p:nvPr/>
                </p:nvCxnSpPr>
                <p:spPr bwMode="auto">
                  <a:xfrm>
                    <a:off x="900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Connecteur droit 306"/>
                  <p:cNvCxnSpPr>
                    <a:stCxn id="278" idx="3"/>
                    <a:endCxn id="278" idx="1"/>
                  </p:cNvCxnSpPr>
                  <p:nvPr/>
                </p:nvCxnSpPr>
                <p:spPr bwMode="auto">
                  <a:xfrm flipH="1">
                    <a:off x="79422" y="4800022"/>
                    <a:ext cx="1188000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3" name="Groupe 382"/>
                <p:cNvGrpSpPr/>
                <p:nvPr/>
              </p:nvGrpSpPr>
              <p:grpSpPr bwMode="auto">
                <a:xfrm>
                  <a:off x="28715" y="4485926"/>
                  <a:ext cx="1290115" cy="608353"/>
                  <a:chOff x="28715" y="4485926"/>
                  <a:chExt cx="1290115" cy="608353"/>
                </a:xfrm>
              </p:grpSpPr>
              <p:sp>
                <p:nvSpPr>
                  <p:cNvPr id="376" name="ZoneTexte 375"/>
                  <p:cNvSpPr txBox="1"/>
                  <p:nvPr/>
                </p:nvSpPr>
                <p:spPr bwMode="auto">
                  <a:xfrm>
                    <a:off x="75217" y="4485926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1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1 → 3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77" name="ZoneTexte 376"/>
                  <p:cNvSpPr txBox="1"/>
                  <p:nvPr/>
                </p:nvSpPr>
                <p:spPr bwMode="auto">
                  <a:xfrm>
                    <a:off x="474522" y="4486805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2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4</a:t>
                    </a: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 → 7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79" name="ZoneTexte 378"/>
                  <p:cNvSpPr txBox="1"/>
                  <p:nvPr/>
                </p:nvSpPr>
                <p:spPr bwMode="auto">
                  <a:xfrm>
                    <a:off x="868939" y="4486692"/>
                    <a:ext cx="44989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3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8</a:t>
                    </a: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 → 11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80" name="ZoneTexte 379"/>
                  <p:cNvSpPr txBox="1"/>
                  <p:nvPr/>
                </p:nvSpPr>
                <p:spPr bwMode="auto">
                  <a:xfrm>
                    <a:off x="873229" y="4752213"/>
                    <a:ext cx="41144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6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Niv. </a:t>
                    </a:r>
                    <a:r>
                      <a:rPr lang="fr-FR" sz="7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20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81" name="ZoneTexte 380"/>
                  <p:cNvSpPr txBox="1"/>
                  <p:nvPr/>
                </p:nvSpPr>
                <p:spPr bwMode="auto">
                  <a:xfrm>
                    <a:off x="431330" y="4755725"/>
                    <a:ext cx="499596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5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16 → 19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82" name="ZoneTexte 381"/>
                  <p:cNvSpPr txBox="1"/>
                  <p:nvPr/>
                </p:nvSpPr>
                <p:spPr bwMode="auto">
                  <a:xfrm>
                    <a:off x="28715" y="4752002"/>
                    <a:ext cx="497503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4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12 → 15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</p:grpSp>
          </p:grpSp>
          <p:grpSp>
            <p:nvGrpSpPr>
              <p:cNvPr id="453" name="Groupe 452"/>
              <p:cNvGrpSpPr/>
              <p:nvPr/>
            </p:nvGrpSpPr>
            <p:grpSpPr bwMode="auto">
              <a:xfrm>
                <a:off x="78316" y="4126602"/>
                <a:ext cx="1187253" cy="1066340"/>
                <a:chOff x="641751" y="3956707"/>
                <a:chExt cx="1187253" cy="1066340"/>
              </a:xfrm>
            </p:grpSpPr>
            <p:sp>
              <p:nvSpPr>
                <p:cNvPr id="460" name="ZoneTexte 459"/>
                <p:cNvSpPr txBox="1"/>
                <p:nvPr/>
              </p:nvSpPr>
              <p:spPr bwMode="auto">
                <a:xfrm>
                  <a:off x="932874" y="3956707"/>
                  <a:ext cx="896129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1100">
                      <a:solidFill>
                        <a:srgbClr val="6C4F3C"/>
                      </a:solidFill>
                      <a:latin typeface="Segoe UI"/>
                      <a:cs typeface="Segoe UI"/>
                    </a:rPr>
                    <a:t>Bonus de maitrise</a:t>
                  </a:r>
                  <a:endParaRPr/>
                </a:p>
              </p:txBody>
            </p:sp>
            <p:sp>
              <p:nvSpPr>
                <p:cNvPr id="462" name="Zone de texte 80"/>
                <p:cNvSpPr txBox="1"/>
                <p:nvPr/>
              </p:nvSpPr>
              <p:spPr bwMode="auto">
                <a:xfrm>
                  <a:off x="641751" y="4838322"/>
                  <a:ext cx="1187253" cy="1847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[1 + niveau /  4]</a:t>
                  </a:r>
                  <a:r>
                    <a:rPr lang="fr-FR" sz="1000" baseline="30000">
                      <a:solidFill>
                        <a:srgbClr val="7F7F7F"/>
                      </a:solidFill>
                      <a:latin typeface="Segoe UI"/>
                      <a:ea typeface="Calibri"/>
                      <a:cs typeface="Segoe UI"/>
                    </a:rPr>
                    <a:t>-</a:t>
                  </a:r>
                  <a:endParaRPr lang="fr-FR" sz="10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</p:grpSp>
        <p:pic>
          <p:nvPicPr>
            <p:cNvPr id="2448" name="Image 2447"/>
            <p:cNvPicPr>
              <a:picLocks noChangeAspect="1"/>
            </p:cNvPicPr>
            <p:nvPr/>
          </p:nvPicPr>
          <p:blipFill rotWithShape="1">
            <a:blip r:embed="rId28"/>
            <a:stretch/>
          </p:blipFill>
          <p:spPr bwMode="auto">
            <a:xfrm>
              <a:off x="1189561" y="2254023"/>
              <a:ext cx="208417" cy="208417"/>
            </a:xfrm>
            <a:prstGeom prst="rect">
              <a:avLst/>
            </a:prstGeom>
          </p:spPr>
        </p:pic>
      </p:grpSp>
      <p:grpSp>
        <p:nvGrpSpPr>
          <p:cNvPr id="1387793589" name="Groupe 80"/>
          <p:cNvGrpSpPr/>
          <p:nvPr/>
        </p:nvGrpSpPr>
        <p:grpSpPr bwMode="auto">
          <a:xfrm>
            <a:off x="3882939" y="2980027"/>
            <a:ext cx="1324160" cy="872763"/>
            <a:chOff x="3882939" y="2980027"/>
            <a:chExt cx="1324160" cy="872763"/>
          </a:xfrm>
        </p:grpSpPr>
        <p:grpSp>
          <p:nvGrpSpPr>
            <p:cNvPr id="2435" name="Groupe 2434"/>
            <p:cNvGrpSpPr/>
            <p:nvPr/>
          </p:nvGrpSpPr>
          <p:grpSpPr bwMode="auto">
            <a:xfrm>
              <a:off x="3882939" y="2980027"/>
              <a:ext cx="1324160" cy="872763"/>
              <a:chOff x="6558062" y="5188392"/>
              <a:chExt cx="1324160" cy="872763"/>
            </a:xfrm>
          </p:grpSpPr>
          <p:sp>
            <p:nvSpPr>
              <p:cNvPr id="2437" name="Zone de texte 80"/>
              <p:cNvSpPr txBox="1"/>
              <p:nvPr/>
            </p:nvSpPr>
            <p:spPr bwMode="auto">
              <a:xfrm>
                <a:off x="6650436" y="5851605"/>
                <a:ext cx="123178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[10 + Compétence (+ Bonus)]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2438" name="Groupe 2437"/>
              <p:cNvGrpSpPr/>
              <p:nvPr/>
            </p:nvGrpSpPr>
            <p:grpSpPr bwMode="auto">
              <a:xfrm>
                <a:off x="6558062" y="5188392"/>
                <a:ext cx="1259090" cy="717663"/>
                <a:chOff x="6558062" y="5328600"/>
                <a:chExt cx="1259090" cy="717663"/>
              </a:xfrm>
            </p:grpSpPr>
            <p:grpSp>
              <p:nvGrpSpPr>
                <p:cNvPr id="2439" name="Groupe 2438"/>
                <p:cNvGrpSpPr/>
                <p:nvPr/>
              </p:nvGrpSpPr>
              <p:grpSpPr bwMode="auto">
                <a:xfrm>
                  <a:off x="6558062" y="5328600"/>
                  <a:ext cx="1259090" cy="717663"/>
                  <a:chOff x="4707728" y="5247960"/>
                  <a:chExt cx="1412540" cy="717663"/>
                </a:xfrm>
              </p:grpSpPr>
              <p:sp>
                <p:nvSpPr>
                  <p:cNvPr id="2445" name="Hexagone 2444"/>
                  <p:cNvSpPr/>
                  <p:nvPr/>
                </p:nvSpPr>
                <p:spPr bwMode="auto">
                  <a:xfrm>
                    <a:off x="5041915" y="5618374"/>
                    <a:ext cx="401054" cy="329236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2446" name="ZoneTexte 2445"/>
                  <p:cNvSpPr txBox="1"/>
                  <p:nvPr/>
                </p:nvSpPr>
                <p:spPr bwMode="auto">
                  <a:xfrm>
                    <a:off x="4746084" y="5247960"/>
                    <a:ext cx="137418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800">
                        <a:solidFill>
                          <a:srgbClr val="4B0472"/>
                        </a:solidFill>
                        <a:latin typeface="Segoe UI"/>
                        <a:cs typeface="Segoe UI"/>
                      </a:rPr>
                      <a:t>Compétences passives</a:t>
                    </a:r>
                    <a:endParaRPr/>
                  </a:p>
                </p:txBody>
              </p:sp>
              <p:sp>
                <p:nvSpPr>
                  <p:cNvPr id="2" name="Hexagone 1"/>
                  <p:cNvSpPr/>
                  <p:nvPr/>
                </p:nvSpPr>
                <p:spPr bwMode="auto">
                  <a:xfrm>
                    <a:off x="5356656" y="5455761"/>
                    <a:ext cx="401054" cy="329236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38" name="ZoneTexte 37"/>
                  <p:cNvSpPr txBox="1"/>
                  <p:nvPr/>
                </p:nvSpPr>
                <p:spPr bwMode="auto">
                  <a:xfrm>
                    <a:off x="4707728" y="5416212"/>
                    <a:ext cx="685523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700" dirty="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Perception</a:t>
                    </a:r>
                    <a:endParaRPr dirty="0"/>
                  </a:p>
                </p:txBody>
              </p:sp>
              <p:sp>
                <p:nvSpPr>
                  <p:cNvPr id="46" name="ZoneTexte 45"/>
                  <p:cNvSpPr txBox="1"/>
                  <p:nvPr/>
                </p:nvSpPr>
                <p:spPr bwMode="auto">
                  <a:xfrm>
                    <a:off x="5394277" y="5765568"/>
                    <a:ext cx="625084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70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Intuition</a:t>
                    </a:r>
                    <a:endParaRPr/>
                  </a:p>
                </p:txBody>
              </p:sp>
            </p:grpSp>
            <p:sp>
              <p:nvSpPr>
                <p:cNvPr id="2440" name="ZoneTexte 2439"/>
                <p:cNvSpPr txBox="1"/>
                <p:nvPr/>
              </p:nvSpPr>
              <p:spPr bwMode="auto">
                <a:xfrm>
                  <a:off x="7398643" y="5704327"/>
                  <a:ext cx="291490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39</a:t>
                  </a:r>
                  <a:endParaRPr lang="fr-FR" sz="700">
                    <a:solidFill>
                      <a:srgbClr val="B381D9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2441" name="ZoneTexte 2440"/>
                <p:cNvSpPr txBox="1"/>
                <p:nvPr/>
              </p:nvSpPr>
              <p:spPr bwMode="auto">
                <a:xfrm>
                  <a:off x="6708651" y="5654286"/>
                  <a:ext cx="29464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-1</a:t>
                  </a:r>
                  <a:endParaRPr/>
                </a:p>
              </p:txBody>
            </p:sp>
          </p:grpSp>
        </p:grpSp>
        <p:cxnSp>
          <p:nvCxnSpPr>
            <p:cNvPr id="79" name="Connecteur droit avec flèche 78"/>
            <p:cNvCxnSpPr/>
            <p:nvPr/>
          </p:nvCxnSpPr>
          <p:spPr bwMode="auto">
            <a:xfrm rot="16199999" flipH="1" flipV="1">
              <a:off x="4577761" y="3552575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avec flèche 79"/>
            <p:cNvCxnSpPr/>
            <p:nvPr/>
          </p:nvCxnSpPr>
          <p:spPr bwMode="auto">
            <a:xfrm rot="5400000" flipH="1" flipV="1">
              <a:off x="4444772" y="3205108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871325" name="Groupe 2084"/>
          <p:cNvGrpSpPr/>
          <p:nvPr/>
        </p:nvGrpSpPr>
        <p:grpSpPr bwMode="auto">
          <a:xfrm>
            <a:off x="3902952" y="5867835"/>
            <a:ext cx="5648360" cy="775905"/>
            <a:chOff x="3902952" y="5851507"/>
            <a:chExt cx="5648360" cy="775905"/>
          </a:xfrm>
        </p:grpSpPr>
        <p:grpSp>
          <p:nvGrpSpPr>
            <p:cNvPr id="78" name="Groupe 77"/>
            <p:cNvGrpSpPr/>
            <p:nvPr/>
          </p:nvGrpSpPr>
          <p:grpSpPr bwMode="auto">
            <a:xfrm>
              <a:off x="3902952" y="5851507"/>
              <a:ext cx="5648360" cy="757829"/>
              <a:chOff x="3902952" y="5851507"/>
              <a:chExt cx="5648360" cy="757829"/>
            </a:xfrm>
          </p:grpSpPr>
          <p:grpSp>
            <p:nvGrpSpPr>
              <p:cNvPr id="357" name="Groupe 356"/>
              <p:cNvGrpSpPr/>
              <p:nvPr/>
            </p:nvGrpSpPr>
            <p:grpSpPr bwMode="auto">
              <a:xfrm>
                <a:off x="3902952" y="5851507"/>
                <a:ext cx="5648360" cy="757829"/>
                <a:chOff x="3824036" y="6488846"/>
                <a:chExt cx="5648360" cy="757829"/>
              </a:xfrm>
            </p:grpSpPr>
            <p:sp>
              <p:nvSpPr>
                <p:cNvPr id="441" name="Zone de texte 80"/>
                <p:cNvSpPr txBox="1"/>
                <p:nvPr/>
              </p:nvSpPr>
              <p:spPr bwMode="auto">
                <a:xfrm>
                  <a:off x="4794710" y="6558745"/>
                  <a:ext cx="63387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15" name="ZoneTexte 114"/>
                <p:cNvSpPr txBox="1"/>
                <p:nvPr/>
              </p:nvSpPr>
              <p:spPr bwMode="auto">
                <a:xfrm>
                  <a:off x="3942287" y="6488846"/>
                  <a:ext cx="11128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14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Résistances</a:t>
                  </a:r>
                  <a:endParaRPr/>
                </a:p>
              </p:txBody>
            </p:sp>
            <p:grpSp>
              <p:nvGrpSpPr>
                <p:cNvPr id="323" name="Groupe 322"/>
                <p:cNvGrpSpPr/>
                <p:nvPr/>
              </p:nvGrpSpPr>
              <p:grpSpPr bwMode="auto">
                <a:xfrm>
                  <a:off x="6813851" y="6782827"/>
                  <a:ext cx="1595761" cy="457910"/>
                  <a:chOff x="3873454" y="6671692"/>
                  <a:chExt cx="1595761" cy="457910"/>
                </a:xfrm>
              </p:grpSpPr>
              <p:grpSp>
                <p:nvGrpSpPr>
                  <p:cNvPr id="124" name="Groupe 123"/>
                  <p:cNvGrpSpPr/>
                  <p:nvPr/>
                </p:nvGrpSpPr>
                <p:grpSpPr bwMode="auto">
                  <a:xfrm>
                    <a:off x="3873454" y="6688984"/>
                    <a:ext cx="1492306" cy="422375"/>
                    <a:chOff x="7921693" y="5652658"/>
                    <a:chExt cx="1492306" cy="422375"/>
                  </a:xfrm>
                </p:grpSpPr>
                <p:sp>
                  <p:nvSpPr>
                    <p:cNvPr id="125" name="Rectangle : coins arrondis 124"/>
                    <p:cNvSpPr/>
                    <p:nvPr/>
                  </p:nvSpPr>
                  <p:spPr bwMode="auto">
                    <a:xfrm>
                      <a:off x="8793120" y="56526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6" name="ZoneTexte 125"/>
                    <p:cNvSpPr txBox="1"/>
                    <p:nvPr/>
                  </p:nvSpPr>
                  <p:spPr bwMode="auto">
                    <a:xfrm>
                      <a:off x="7921693" y="579456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Air</a:t>
                      </a:r>
                      <a:endParaRPr lang="fr-FR" sz="140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60" name="Picture 12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9"/>
                  <a:stretch/>
                </p:blipFill>
                <p:spPr bwMode="auto">
                  <a:xfrm>
                    <a:off x="4464618" y="6718120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6" name="ZoneTexte 435"/>
                  <p:cNvSpPr txBox="1"/>
                  <p:nvPr/>
                </p:nvSpPr>
                <p:spPr bwMode="auto">
                  <a:xfrm>
                    <a:off x="5137270" y="6944937"/>
                    <a:ext cx="27143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76B54B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4" name="ZoneTexte 493"/>
                  <p:cNvSpPr txBox="1"/>
                  <p:nvPr/>
                </p:nvSpPr>
                <p:spPr bwMode="auto">
                  <a:xfrm>
                    <a:off x="4699839" y="667169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76B54B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113" name="Groupe 112"/>
                  <p:cNvGrpSpPr/>
                  <p:nvPr/>
                </p:nvGrpSpPr>
                <p:grpSpPr bwMode="auto">
                  <a:xfrm>
                    <a:off x="4995892" y="6704306"/>
                    <a:ext cx="473324" cy="241445"/>
                    <a:chOff x="5241244" y="4701436"/>
                    <a:chExt cx="473324" cy="241445"/>
                  </a:xfrm>
                </p:grpSpPr>
                <p:cxnSp>
                  <p:nvCxnSpPr>
                    <p:cNvPr id="136" name="Connecteur : en angle 135"/>
                    <p:cNvCxnSpPr/>
                    <p:nvPr/>
                  </p:nvCxnSpPr>
                  <p:spPr bwMode="auto">
                    <a:xfrm>
                      <a:off x="5348058" y="47014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76B54B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7" name="ZoneTexte 136"/>
                    <p:cNvSpPr txBox="1"/>
                    <p:nvPr/>
                  </p:nvSpPr>
                  <p:spPr bwMode="auto">
                    <a:xfrm>
                      <a:off x="5241244" y="48043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76B54B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4" name="Groupe 323"/>
                <p:cNvGrpSpPr/>
                <p:nvPr/>
              </p:nvGrpSpPr>
              <p:grpSpPr bwMode="auto">
                <a:xfrm>
                  <a:off x="8290385" y="6781297"/>
                  <a:ext cx="1182012" cy="454596"/>
                  <a:chOff x="4289109" y="7157964"/>
                  <a:chExt cx="1182012" cy="454596"/>
                </a:xfrm>
              </p:grpSpPr>
              <p:grpSp>
                <p:nvGrpSpPr>
                  <p:cNvPr id="127" name="Groupe 126"/>
                  <p:cNvGrpSpPr/>
                  <p:nvPr/>
                </p:nvGrpSpPr>
                <p:grpSpPr bwMode="auto">
                  <a:xfrm>
                    <a:off x="4289109" y="7174521"/>
                    <a:ext cx="1076652" cy="422375"/>
                    <a:chOff x="8337347" y="5643133"/>
                    <a:chExt cx="1076652" cy="422375"/>
                  </a:xfrm>
                </p:grpSpPr>
                <p:sp>
                  <p:nvSpPr>
                    <p:cNvPr id="128" name="Rectangle : coins arrondis 127"/>
                    <p:cNvSpPr/>
                    <p:nvPr/>
                  </p:nvSpPr>
                  <p:spPr bwMode="auto">
                    <a:xfrm>
                      <a:off x="8793120" y="5643133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9" name="ZoneTexte 128"/>
                    <p:cNvSpPr txBox="1"/>
                    <p:nvPr/>
                  </p:nvSpPr>
                  <p:spPr bwMode="auto">
                    <a:xfrm>
                      <a:off x="8337347" y="5782495"/>
                      <a:ext cx="447695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/>
                          <a:cs typeface="Segoe UI"/>
                        </a:rPr>
                        <a:t>Eau</a:t>
                      </a:r>
                      <a:endParaRPr lang="fr-FR" sz="140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58" name="Picture 10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0"/>
                  <a:stretch/>
                </p:blipFill>
                <p:spPr bwMode="auto">
                  <a:xfrm>
                    <a:off x="4468486" y="7199077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5" name="ZoneTexte 434"/>
                  <p:cNvSpPr txBox="1"/>
                  <p:nvPr/>
                </p:nvSpPr>
                <p:spPr bwMode="auto">
                  <a:xfrm>
                    <a:off x="5133189" y="7427894"/>
                    <a:ext cx="27067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8FAADC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5" name="ZoneTexte 494"/>
                  <p:cNvSpPr txBox="1"/>
                  <p:nvPr/>
                </p:nvSpPr>
                <p:spPr bwMode="auto">
                  <a:xfrm>
                    <a:off x="4697886" y="7157964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8FAADC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223" name="Groupe 222"/>
                  <p:cNvGrpSpPr/>
                  <p:nvPr/>
                </p:nvGrpSpPr>
                <p:grpSpPr bwMode="auto">
                  <a:xfrm>
                    <a:off x="4997797" y="7187561"/>
                    <a:ext cx="473324" cy="241445"/>
                    <a:chOff x="5241244" y="4691911"/>
                    <a:chExt cx="473324" cy="241445"/>
                  </a:xfrm>
                </p:grpSpPr>
                <p:cxnSp>
                  <p:nvCxnSpPr>
                    <p:cNvPr id="224" name="Connecteur : en angle 223"/>
                    <p:cNvCxnSpPr/>
                    <p:nvPr/>
                  </p:nvCxnSpPr>
                  <p:spPr bwMode="auto">
                    <a:xfrm>
                      <a:off x="5348058" y="4691911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8FAADC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5" name="ZoneTexte 224"/>
                    <p:cNvSpPr txBox="1"/>
                    <p:nvPr/>
                  </p:nvSpPr>
                  <p:spPr bwMode="auto">
                    <a:xfrm>
                      <a:off x="5241244" y="4794857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8FAADC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0" name="Groupe 319"/>
                <p:cNvGrpSpPr/>
                <p:nvPr/>
              </p:nvGrpSpPr>
              <p:grpSpPr bwMode="auto">
                <a:xfrm>
                  <a:off x="3824036" y="6790224"/>
                  <a:ext cx="1386469" cy="456451"/>
                  <a:chOff x="4083078" y="5211802"/>
                  <a:chExt cx="1386469" cy="456451"/>
                </a:xfrm>
              </p:grpSpPr>
              <p:grpSp>
                <p:nvGrpSpPr>
                  <p:cNvPr id="117" name="Groupe 116"/>
                  <p:cNvGrpSpPr/>
                  <p:nvPr/>
                </p:nvGrpSpPr>
                <p:grpSpPr bwMode="auto">
                  <a:xfrm>
                    <a:off x="4083078" y="5229200"/>
                    <a:ext cx="1282683" cy="422375"/>
                    <a:chOff x="8131316" y="5678058"/>
                    <a:chExt cx="1282683" cy="422375"/>
                  </a:xfrm>
                </p:grpSpPr>
                <p:sp>
                  <p:nvSpPr>
                    <p:cNvPr id="114" name="Rectangle : coins arrondis 113"/>
                    <p:cNvSpPr/>
                    <p:nvPr/>
                  </p:nvSpPr>
                  <p:spPr bwMode="auto">
                    <a:xfrm>
                      <a:off x="8793120" y="56780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16" name="ZoneTexte 115"/>
                    <p:cNvSpPr txBox="1"/>
                    <p:nvPr/>
                  </p:nvSpPr>
                  <p:spPr bwMode="auto">
                    <a:xfrm>
                      <a:off x="8131316" y="5811705"/>
                      <a:ext cx="653726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latin typeface="Segoe UI"/>
                          <a:cs typeface="Segoe UI"/>
                        </a:rPr>
                        <a:t>Neutre</a:t>
                      </a:r>
                      <a:endParaRPr lang="fr-FR" sz="1400"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62" name="Picture 1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1"/>
                  <a:stretch/>
                </p:blipFill>
                <p:spPr bwMode="auto">
                  <a:xfrm>
                    <a:off x="4468486" y="5232144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7" name="ZoneTexte 436"/>
                  <p:cNvSpPr txBox="1"/>
                  <p:nvPr/>
                </p:nvSpPr>
                <p:spPr bwMode="auto">
                  <a:xfrm>
                    <a:off x="5133189" y="5483587"/>
                    <a:ext cx="26924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1" name="ZoneTexte 490"/>
                  <p:cNvSpPr txBox="1"/>
                  <p:nvPr/>
                </p:nvSpPr>
                <p:spPr bwMode="auto">
                  <a:xfrm>
                    <a:off x="4697147" y="521180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cxnSp>
                <p:nvCxnSpPr>
                  <p:cNvPr id="2049" name="Connecteur : en angle 2048"/>
                  <p:cNvCxnSpPr/>
                  <p:nvPr/>
                </p:nvCxnSpPr>
                <p:spPr bwMode="auto">
                  <a:xfrm>
                    <a:off x="5103037" y="5245671"/>
                    <a:ext cx="252000" cy="216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rgbClr val="B5B5B5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0" name="ZoneTexte 2049"/>
                  <p:cNvSpPr txBox="1"/>
                  <p:nvPr/>
                </p:nvSpPr>
                <p:spPr bwMode="auto">
                  <a:xfrm>
                    <a:off x="4996223" y="5348617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300" spc="-20">
                        <a:solidFill>
                          <a:srgbClr val="B5B5B5"/>
                        </a:solidFill>
                        <a:latin typeface="Segoe UI"/>
                        <a:cs typeface="Segoe UI"/>
                      </a:rPr>
                      <a:t>MONTURE</a:t>
                    </a:r>
                    <a:endParaRPr/>
                  </a:p>
                </p:txBody>
              </p:sp>
            </p:grpSp>
            <p:grpSp>
              <p:nvGrpSpPr>
                <p:cNvPr id="322" name="Groupe 321"/>
                <p:cNvGrpSpPr/>
                <p:nvPr/>
              </p:nvGrpSpPr>
              <p:grpSpPr bwMode="auto">
                <a:xfrm>
                  <a:off x="5789573" y="6785245"/>
                  <a:ext cx="1596617" cy="453542"/>
                  <a:chOff x="3873454" y="6187632"/>
                  <a:chExt cx="1596617" cy="453542"/>
                </a:xfrm>
              </p:grpSpPr>
              <p:grpSp>
                <p:nvGrpSpPr>
                  <p:cNvPr id="121" name="Groupe 120"/>
                  <p:cNvGrpSpPr/>
                  <p:nvPr/>
                </p:nvGrpSpPr>
                <p:grpSpPr bwMode="auto">
                  <a:xfrm>
                    <a:off x="3873454" y="6206624"/>
                    <a:ext cx="1492306" cy="422375"/>
                    <a:chOff x="7921693" y="5665358"/>
                    <a:chExt cx="1492306" cy="422375"/>
                  </a:xfrm>
                </p:grpSpPr>
                <p:sp>
                  <p:nvSpPr>
                    <p:cNvPr id="122" name="Rectangle : coins arrondis 121"/>
                    <p:cNvSpPr/>
                    <p:nvPr/>
                  </p:nvSpPr>
                  <p:spPr bwMode="auto">
                    <a:xfrm>
                      <a:off x="8793120" y="56653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3" name="ZoneTexte 122"/>
                    <p:cNvSpPr txBox="1"/>
                    <p:nvPr/>
                  </p:nvSpPr>
                  <p:spPr bwMode="auto">
                    <a:xfrm>
                      <a:off x="7921693" y="581107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Feu</a:t>
                      </a:r>
                      <a:endParaRPr lang="fr-FR" sz="14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54" name="Picture 6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2"/>
                  <a:stretch/>
                </p:blipFill>
                <p:spPr bwMode="auto">
                  <a:xfrm>
                    <a:off x="4464618" y="6217541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40" name="ZoneTexte 439"/>
                  <p:cNvSpPr txBox="1"/>
                  <p:nvPr/>
                </p:nvSpPr>
                <p:spPr bwMode="auto">
                  <a:xfrm>
                    <a:off x="5136726" y="6456508"/>
                    <a:ext cx="27333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ED7049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3" name="ZoneTexte 492"/>
                  <p:cNvSpPr txBox="1"/>
                  <p:nvPr/>
                </p:nvSpPr>
                <p:spPr bwMode="auto">
                  <a:xfrm>
                    <a:off x="4698265" y="618763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ED7049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2053" name="Groupe 2052"/>
                  <p:cNvGrpSpPr/>
                  <p:nvPr/>
                </p:nvGrpSpPr>
                <p:grpSpPr bwMode="auto">
                  <a:xfrm>
                    <a:off x="4996749" y="6223474"/>
                    <a:ext cx="473324" cy="241445"/>
                    <a:chOff x="5241244" y="4714136"/>
                    <a:chExt cx="473324" cy="241445"/>
                  </a:xfrm>
                </p:grpSpPr>
                <p:cxnSp>
                  <p:nvCxnSpPr>
                    <p:cNvPr id="2055" name="Connecteur : en angle 2054"/>
                    <p:cNvCxnSpPr/>
                    <p:nvPr/>
                  </p:nvCxnSpPr>
                  <p:spPr bwMode="auto">
                    <a:xfrm>
                      <a:off x="5348058" y="47141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ED7049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56" name="ZoneTexte 2055"/>
                    <p:cNvSpPr txBox="1"/>
                    <p:nvPr/>
                  </p:nvSpPr>
                  <p:spPr bwMode="auto">
                    <a:xfrm>
                      <a:off x="5241244" y="48170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ED7049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1" name="Groupe 320"/>
                <p:cNvGrpSpPr/>
                <p:nvPr/>
              </p:nvGrpSpPr>
              <p:grpSpPr bwMode="auto">
                <a:xfrm>
                  <a:off x="4738746" y="6793909"/>
                  <a:ext cx="1595761" cy="452042"/>
                  <a:chOff x="3865835" y="5707917"/>
                  <a:chExt cx="1595761" cy="452042"/>
                </a:xfrm>
              </p:grpSpPr>
              <p:grpSp>
                <p:nvGrpSpPr>
                  <p:cNvPr id="118" name="Groupe 117"/>
                  <p:cNvGrpSpPr/>
                  <p:nvPr/>
                </p:nvGrpSpPr>
                <p:grpSpPr bwMode="auto">
                  <a:xfrm>
                    <a:off x="3865835" y="5724262"/>
                    <a:ext cx="1492306" cy="422375"/>
                    <a:chOff x="7921693" y="5678058"/>
                    <a:chExt cx="1492306" cy="422375"/>
                  </a:xfrm>
                </p:grpSpPr>
                <p:sp>
                  <p:nvSpPr>
                    <p:cNvPr id="119" name="Rectangle : coins arrondis 118"/>
                    <p:cNvSpPr/>
                    <p:nvPr/>
                  </p:nvSpPr>
                  <p:spPr bwMode="auto">
                    <a:xfrm>
                      <a:off x="8793120" y="56780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rgbClr val="64533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0" name="ZoneTexte 119"/>
                    <p:cNvSpPr txBox="1"/>
                    <p:nvPr/>
                  </p:nvSpPr>
                  <p:spPr bwMode="auto">
                    <a:xfrm>
                      <a:off x="7921693" y="5811705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rgbClr val="64533E"/>
                          </a:solidFill>
                          <a:latin typeface="Segoe UI"/>
                          <a:cs typeface="Segoe UI"/>
                        </a:rPr>
                        <a:t>Terre</a:t>
                      </a:r>
                      <a:endParaRPr lang="fr-FR" sz="1400">
                        <a:solidFill>
                          <a:srgbClr val="64533E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52" name="Picture 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3"/>
                  <a:stretch/>
                </p:blipFill>
                <p:spPr bwMode="auto">
                  <a:xfrm>
                    <a:off x="4468804" y="5731523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9" name="ZoneTexte 438"/>
                  <p:cNvSpPr txBox="1"/>
                  <p:nvPr/>
                </p:nvSpPr>
                <p:spPr bwMode="auto">
                  <a:xfrm>
                    <a:off x="5136355" y="5975293"/>
                    <a:ext cx="266076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B49F86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2" name="ZoneTexte 491"/>
                  <p:cNvSpPr txBox="1"/>
                  <p:nvPr/>
                </p:nvSpPr>
                <p:spPr bwMode="auto">
                  <a:xfrm>
                    <a:off x="4688981" y="5707917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B49F86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2057" name="Groupe 2056"/>
                  <p:cNvGrpSpPr/>
                  <p:nvPr/>
                </p:nvGrpSpPr>
                <p:grpSpPr bwMode="auto">
                  <a:xfrm>
                    <a:off x="4988272" y="5739838"/>
                    <a:ext cx="473324" cy="241445"/>
                    <a:chOff x="5241244" y="4726836"/>
                    <a:chExt cx="473324" cy="241445"/>
                  </a:xfrm>
                </p:grpSpPr>
                <p:cxnSp>
                  <p:nvCxnSpPr>
                    <p:cNvPr id="2059" name="Connecteur : en angle 2058"/>
                    <p:cNvCxnSpPr/>
                    <p:nvPr/>
                  </p:nvCxnSpPr>
                  <p:spPr bwMode="auto">
                    <a:xfrm>
                      <a:off x="5348058" y="47268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B49F86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61" name="ZoneTexte 2060"/>
                    <p:cNvSpPr txBox="1"/>
                    <p:nvPr/>
                  </p:nvSpPr>
                  <p:spPr bwMode="auto">
                    <a:xfrm>
                      <a:off x="5241244" y="48297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B49F86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sp>
              <p:nvSpPr>
                <p:cNvPr id="76" name="Zone de texte 80"/>
                <p:cNvSpPr txBox="1"/>
                <p:nvPr/>
              </p:nvSpPr>
              <p:spPr bwMode="auto">
                <a:xfrm>
                  <a:off x="5438804" y="6563529"/>
                  <a:ext cx="695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Résistant : 50% 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77" name="Zone de texte 80"/>
                <p:cNvSpPr txBox="1"/>
                <p:nvPr/>
              </p:nvSpPr>
              <p:spPr bwMode="auto">
                <a:xfrm>
                  <a:off x="6293000" y="6566754"/>
                  <a:ext cx="87343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Invulnérable : 100% 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  <p:sp>
            <p:nvSpPr>
              <p:cNvPr id="65" name="Ellipse 64"/>
              <p:cNvSpPr/>
              <p:nvPr/>
            </p:nvSpPr>
            <p:spPr bwMode="auto">
              <a:xfrm>
                <a:off x="5461154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 spc="20">
                    <a:solidFill>
                      <a:srgbClr val="7F7F7F"/>
                    </a:solidFill>
                    <a:latin typeface="Segoe UI Semilight"/>
                    <a:cs typeface="Segoe UI Semilight"/>
                  </a:rPr>
                  <a:t>R</a:t>
                </a:r>
                <a:endParaRPr/>
              </a:p>
            </p:txBody>
          </p:sp>
          <p:sp>
            <p:nvSpPr>
              <p:cNvPr id="75" name="Ellipse 74"/>
              <p:cNvSpPr/>
              <p:nvPr/>
            </p:nvSpPr>
            <p:spPr bwMode="auto">
              <a:xfrm>
                <a:off x="6312053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 spc="20">
                    <a:solidFill>
                      <a:srgbClr val="7F7F7F"/>
                    </a:solidFill>
                    <a:latin typeface="Segoe UI Semilight"/>
                    <a:cs typeface="Segoe UI Semilight"/>
                  </a:rPr>
                  <a:t>I</a:t>
                </a:r>
                <a:endParaRPr/>
              </a:p>
            </p:txBody>
          </p:sp>
        </p:grpSp>
        <p:sp>
          <p:nvSpPr>
            <p:cNvPr id="57" name="Ellipse 56"/>
            <p:cNvSpPr/>
            <p:nvPr/>
          </p:nvSpPr>
          <p:spPr bwMode="auto">
            <a:xfrm>
              <a:off x="45673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F7F7F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58" name="Ellipse 57"/>
            <p:cNvSpPr/>
            <p:nvPr/>
          </p:nvSpPr>
          <p:spPr bwMode="auto">
            <a:xfrm>
              <a:off x="47058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F7F7F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82" name="Ellipse 81"/>
            <p:cNvSpPr/>
            <p:nvPr/>
          </p:nvSpPr>
          <p:spPr bwMode="auto">
            <a:xfrm>
              <a:off x="56849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B49F86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135" name="Ellipse 134"/>
            <p:cNvSpPr/>
            <p:nvPr/>
          </p:nvSpPr>
          <p:spPr bwMode="auto">
            <a:xfrm>
              <a:off x="58234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B49F86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2074" name="Ellipse 2073"/>
            <p:cNvSpPr/>
            <p:nvPr/>
          </p:nvSpPr>
          <p:spPr bwMode="auto">
            <a:xfrm>
              <a:off x="6732759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ED7049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2075" name="Ellipse 2074"/>
            <p:cNvSpPr/>
            <p:nvPr/>
          </p:nvSpPr>
          <p:spPr bwMode="auto">
            <a:xfrm>
              <a:off x="6871178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ED7049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2077" name="Ellipse 2076"/>
            <p:cNvSpPr/>
            <p:nvPr/>
          </p:nvSpPr>
          <p:spPr bwMode="auto">
            <a:xfrm>
              <a:off x="7766763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6B54B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2079" name="Ellipse 2078"/>
            <p:cNvSpPr/>
            <p:nvPr/>
          </p:nvSpPr>
          <p:spPr bwMode="auto">
            <a:xfrm>
              <a:off x="7905182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6B54B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2080" name="Ellipse 2079"/>
            <p:cNvSpPr/>
            <p:nvPr/>
          </p:nvSpPr>
          <p:spPr bwMode="auto">
            <a:xfrm>
              <a:off x="8827444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8FAADC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2083" name="Ellipse 2082"/>
            <p:cNvSpPr/>
            <p:nvPr/>
          </p:nvSpPr>
          <p:spPr bwMode="auto">
            <a:xfrm>
              <a:off x="8965863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8FAADC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</p:grpSp>
      <p:grpSp>
        <p:nvGrpSpPr>
          <p:cNvPr id="449965534" name="Groupe 62"/>
          <p:cNvGrpSpPr/>
          <p:nvPr/>
        </p:nvGrpSpPr>
        <p:grpSpPr bwMode="auto">
          <a:xfrm>
            <a:off x="14262" y="1948522"/>
            <a:ext cx="1091118" cy="1339981"/>
            <a:chOff x="14262" y="1948522"/>
            <a:chExt cx="1091118" cy="1339981"/>
          </a:xfrm>
        </p:grpSpPr>
        <p:grpSp>
          <p:nvGrpSpPr>
            <p:cNvPr id="465" name="Groupe 464"/>
            <p:cNvGrpSpPr/>
            <p:nvPr/>
          </p:nvGrpSpPr>
          <p:grpSpPr bwMode="auto">
            <a:xfrm>
              <a:off x="14262" y="1948522"/>
              <a:ext cx="1091118" cy="1339981"/>
              <a:chOff x="1043179" y="4124292"/>
              <a:chExt cx="1091118" cy="1339981"/>
            </a:xfrm>
          </p:grpSpPr>
          <p:grpSp>
            <p:nvGrpSpPr>
              <p:cNvPr id="30" name="Groupe 29"/>
              <p:cNvGrpSpPr/>
              <p:nvPr/>
            </p:nvGrpSpPr>
            <p:grpSpPr bwMode="auto">
              <a:xfrm>
                <a:off x="1058667" y="4279740"/>
                <a:ext cx="1069395" cy="1184533"/>
                <a:chOff x="724229" y="3994533"/>
                <a:chExt cx="1069395" cy="1184533"/>
              </a:xfrm>
            </p:grpSpPr>
            <p:sp>
              <p:nvSpPr>
                <p:cNvPr id="393" name="Rectangle : coins arrondis 392"/>
                <p:cNvSpPr/>
                <p:nvPr/>
              </p:nvSpPr>
              <p:spPr bwMode="auto">
                <a:xfrm>
                  <a:off x="1027498" y="4427805"/>
                  <a:ext cx="438210" cy="36005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2FCF8"/>
                </a:solidFill>
                <a:ln>
                  <a:solidFill>
                    <a:srgbClr val="138B6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endParaRPr lang="fr-FR" sz="1200" b="1">
                    <a:solidFill>
                      <a:schemeClr val="accent2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394" name="ZoneTexte 393"/>
                <p:cNvSpPr txBox="1"/>
                <p:nvPr/>
              </p:nvSpPr>
              <p:spPr bwMode="auto">
                <a:xfrm>
                  <a:off x="908716" y="3994533"/>
                  <a:ext cx="79297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100">
                      <a:solidFill>
                        <a:srgbClr val="138B6C"/>
                      </a:solidFill>
                      <a:latin typeface="Segoe UI"/>
                      <a:cs typeface="Segoe UI"/>
                    </a:rPr>
                    <a:t>Réserve de Wakfu</a:t>
                  </a:r>
                </a:p>
              </p:txBody>
            </p:sp>
            <p:sp>
              <p:nvSpPr>
                <p:cNvPr id="402" name="ZoneTexte 401"/>
                <p:cNvSpPr txBox="1"/>
                <p:nvPr/>
              </p:nvSpPr>
              <p:spPr bwMode="auto">
                <a:xfrm>
                  <a:off x="1277959" y="4609835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700">
                      <a:solidFill>
                        <a:srgbClr val="138B6C"/>
                      </a:solidFill>
                      <a:latin typeface="Segoe UI"/>
                      <a:cs typeface="Segoe UI"/>
                    </a:rPr>
                    <a:t>9</a:t>
                  </a:r>
                  <a:endParaRPr/>
                </a:p>
              </p:txBody>
            </p:sp>
            <p:sp>
              <p:nvSpPr>
                <p:cNvPr id="392" name="Zone de texte 80"/>
                <p:cNvSpPr txBox="1"/>
                <p:nvPr/>
              </p:nvSpPr>
              <p:spPr bwMode="auto">
                <a:xfrm>
                  <a:off x="724229" y="4770415"/>
                  <a:ext cx="1069395" cy="40865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[Bonus de maitrise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496" name="ZoneTexte 495"/>
                <p:cNvSpPr txBox="1"/>
                <p:nvPr/>
              </p:nvSpPr>
              <p:spPr bwMode="auto">
                <a:xfrm>
                  <a:off x="975584" y="4403270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700">
                      <a:solidFill>
                        <a:srgbClr val="138B6C"/>
                      </a:solidFill>
                      <a:latin typeface="Segoe UI"/>
                      <a:cs typeface="Segoe UI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408" name="Zone de texte 80"/>
              <p:cNvSpPr txBox="1"/>
              <p:nvPr/>
            </p:nvSpPr>
            <p:spPr bwMode="auto">
              <a:xfrm>
                <a:off x="1043179" y="4124292"/>
                <a:ext cx="1091118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Sorts hors combat</a:t>
                </a:r>
                <a:endParaRPr lang="fr-FR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 rotWithShape="1">
            <a:blip r:embed="rId34"/>
            <a:stretch/>
          </p:blipFill>
          <p:spPr bwMode="auto">
            <a:xfrm>
              <a:off x="164508" y="2163918"/>
              <a:ext cx="208417" cy="208417"/>
            </a:xfrm>
            <a:prstGeom prst="rect">
              <a:avLst/>
            </a:prstGeom>
          </p:spPr>
        </p:pic>
      </p:grpSp>
      <p:grpSp>
        <p:nvGrpSpPr>
          <p:cNvPr id="1552845338" name="Groupe 2094"/>
          <p:cNvGrpSpPr/>
          <p:nvPr/>
        </p:nvGrpSpPr>
        <p:grpSpPr bwMode="auto">
          <a:xfrm>
            <a:off x="2011700" y="2071793"/>
            <a:ext cx="1943492" cy="7621912"/>
            <a:chOff x="2011700" y="2071793"/>
            <a:chExt cx="1943492" cy="7621912"/>
          </a:xfrm>
        </p:grpSpPr>
        <p:grpSp>
          <p:nvGrpSpPr>
            <p:cNvPr id="2329" name="Groupe 2328"/>
            <p:cNvGrpSpPr/>
            <p:nvPr/>
          </p:nvGrpSpPr>
          <p:grpSpPr bwMode="auto">
            <a:xfrm>
              <a:off x="2011700" y="2071793"/>
              <a:ext cx="1943492" cy="7621912"/>
              <a:chOff x="2011700" y="2158153"/>
              <a:chExt cx="1943492" cy="7621912"/>
            </a:xfrm>
          </p:grpSpPr>
          <p:grpSp>
            <p:nvGrpSpPr>
              <p:cNvPr id="2324" name="Groupe 2323"/>
              <p:cNvGrpSpPr/>
              <p:nvPr/>
            </p:nvGrpSpPr>
            <p:grpSpPr bwMode="auto">
              <a:xfrm>
                <a:off x="2011700" y="2158153"/>
                <a:ext cx="1943492" cy="7621912"/>
                <a:chOff x="2011700" y="1947878"/>
                <a:chExt cx="1943492" cy="7621912"/>
              </a:xfrm>
            </p:grpSpPr>
            <p:grpSp>
              <p:nvGrpSpPr>
                <p:cNvPr id="2091" name="Groupe 2090"/>
                <p:cNvGrpSpPr/>
                <p:nvPr/>
              </p:nvGrpSpPr>
              <p:grpSpPr bwMode="auto">
                <a:xfrm>
                  <a:off x="2011700" y="1947878"/>
                  <a:ext cx="1943492" cy="7621912"/>
                  <a:chOff x="1882594" y="4198721"/>
                  <a:chExt cx="1943492" cy="7621912"/>
                </a:xfrm>
              </p:grpSpPr>
              <p:grpSp>
                <p:nvGrpSpPr>
                  <p:cNvPr id="2087" name="Groupe 2086"/>
                  <p:cNvGrpSpPr/>
                  <p:nvPr/>
                </p:nvGrpSpPr>
                <p:grpSpPr bwMode="auto">
                  <a:xfrm>
                    <a:off x="1882594" y="4198721"/>
                    <a:ext cx="1943492" cy="7621912"/>
                    <a:chOff x="1882594" y="4198721"/>
                    <a:chExt cx="1943492" cy="7621912"/>
                  </a:xfrm>
                </p:grpSpPr>
                <p:grpSp>
                  <p:nvGrpSpPr>
                    <p:cNvPr id="469" name="Groupe 468"/>
                    <p:cNvGrpSpPr/>
                    <p:nvPr/>
                  </p:nvGrpSpPr>
                  <p:grpSpPr bwMode="auto">
                    <a:xfrm>
                      <a:off x="1882594" y="4198721"/>
                      <a:ext cx="1882453" cy="7621912"/>
                      <a:chOff x="1882594" y="4198721"/>
                      <a:chExt cx="1882453" cy="7621912"/>
                    </a:xfrm>
                  </p:grpSpPr>
                  <p:grpSp>
                    <p:nvGrpSpPr>
                      <p:cNvPr id="85" name="Groupe 84"/>
                      <p:cNvGrpSpPr/>
                      <p:nvPr/>
                    </p:nvGrpSpPr>
                    <p:grpSpPr bwMode="auto">
                      <a:xfrm>
                        <a:off x="1882594" y="4198721"/>
                        <a:ext cx="1882453" cy="7606253"/>
                        <a:chOff x="1767842" y="4281054"/>
                        <a:chExt cx="1882453" cy="7606253"/>
                      </a:xfrm>
                    </p:grpSpPr>
                    <p:sp>
                      <p:nvSpPr>
                        <p:cNvPr id="133" name="ZoneTexte 132"/>
                        <p:cNvSpPr txBox="1"/>
                        <p:nvPr/>
                      </p:nvSpPr>
                      <p:spPr bwMode="auto">
                        <a:xfrm>
                          <a:off x="2055448" y="4281054"/>
                          <a:ext cx="159484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>
                            <a:defRPr/>
                          </a:pPr>
                          <a:r>
                            <a:rPr lang="fr-FR" sz="140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Segoe UI"/>
                              <a:cs typeface="Segoe UI"/>
                            </a:rPr>
                            <a:t>Compétences</a:t>
                          </a:r>
                          <a:endParaRPr/>
                        </a:p>
                      </p:txBody>
                    </p:sp>
                    <p:grpSp>
                      <p:nvGrpSpPr>
                        <p:cNvPr id="83" name="Groupe 82"/>
                        <p:cNvGrpSpPr/>
                        <p:nvPr/>
                      </p:nvGrpSpPr>
                      <p:grpSpPr bwMode="auto">
                        <a:xfrm>
                          <a:off x="2041140" y="4740219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0" name="Groupe 129"/>
                          <p:cNvGrpSpPr/>
                          <p:nvPr/>
                        </p:nvGrpSpPr>
                        <p:grpSpPr bwMode="auto"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31" name="Rectangle : coins arrondis 13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32" name="ZoneTexte 131"/>
                            <p:cNvSpPr txBox="1"/>
                            <p:nvPr/>
                          </p:nvSpPr>
                          <p:spPr bwMode="auto"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Acrobatie</a:t>
                              </a:r>
                              <a:endParaRPr lang="fr-FR" sz="14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" name="ZoneTexte 2"/>
                          <p:cNvSpPr txBox="1"/>
                          <p:nvPr/>
                        </p:nvSpPr>
                        <p:spPr bwMode="auto">
                          <a:xfrm>
                            <a:off x="2876647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8" name="Groupe 137"/>
                        <p:cNvGrpSpPr/>
                        <p:nvPr/>
                      </p:nvGrpSpPr>
                      <p:grpSpPr bwMode="auto">
                        <a:xfrm>
                          <a:off x="2046342" y="5135783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9" name="Groupe 138"/>
                          <p:cNvGrpSpPr/>
                          <p:nvPr/>
                        </p:nvGrpSpPr>
                        <p:grpSpPr bwMode="auto"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41" name="Rectangle : coins arrondis 14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42" name="ZoneTexte 141"/>
                            <p:cNvSpPr txBox="1"/>
                            <p:nvPr/>
                          </p:nvSpPr>
                          <p:spPr bwMode="auto"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Discrétion</a:t>
                              </a:r>
                              <a:endParaRPr lang="fr-FR" sz="14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0" name="ZoneTexte 13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3" name="Groupe 142"/>
                        <p:cNvGrpSpPr/>
                        <p:nvPr/>
                      </p:nvGrpSpPr>
                      <p:grpSpPr bwMode="auto">
                        <a:xfrm>
                          <a:off x="1935352" y="55389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4" name="Groupe 14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46" name="Rectangle : coins arrondis 14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47" name="ZoneTexte 14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Escamotage</a:t>
                              </a:r>
                              <a:endParaRPr lang="fr-FR" sz="14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5" name="ZoneTexte 14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8" name="Groupe 147"/>
                        <p:cNvGrpSpPr/>
                        <p:nvPr/>
                      </p:nvGrpSpPr>
                      <p:grpSpPr bwMode="auto">
                        <a:xfrm>
                          <a:off x="1935352" y="5941029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9" name="Groupe 14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51" name="Rectangle : coins arrondis 15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rgbClr val="554735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52" name="ZoneTexte 15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554735"/>
                                  </a:solidFill>
                                  <a:latin typeface="Segoe UI"/>
                                  <a:cs typeface="Segoe UI"/>
                                </a:rPr>
                                <a:t>Athlétisme</a:t>
                              </a:r>
                              <a:endParaRPr lang="fr-FR" sz="1400">
                                <a:solidFill>
                                  <a:srgbClr val="554735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0" name="ZoneTexte 14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49F86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49F86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3" name="Groupe 152"/>
                        <p:cNvGrpSpPr/>
                        <p:nvPr/>
                      </p:nvGrpSpPr>
                      <p:grpSpPr bwMode="auto">
                        <a:xfrm>
                          <a:off x="1920633" y="6340687"/>
                          <a:ext cx="1616145" cy="356695"/>
                          <a:chOff x="1918508" y="4740219"/>
                          <a:chExt cx="1616145" cy="356695"/>
                        </a:xfrm>
                      </p:grpSpPr>
                      <p:grpSp>
                        <p:nvGrpSpPr>
                          <p:cNvPr id="154" name="Groupe 153"/>
                          <p:cNvGrpSpPr/>
                          <p:nvPr/>
                        </p:nvGrpSpPr>
                        <p:grpSpPr bwMode="auto">
                          <a:xfrm>
                            <a:off x="1918508" y="4758359"/>
                            <a:ext cx="1616145" cy="338555"/>
                            <a:chOff x="7797854" y="5678058"/>
                            <a:chExt cx="1616145" cy="338555"/>
                          </a:xfrm>
                        </p:grpSpPr>
                        <p:sp>
                          <p:nvSpPr>
                            <p:cNvPr id="156" name="Rectangle : coins arrondis 15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57" name="ZoneTexte 156"/>
                            <p:cNvSpPr txBox="1"/>
                            <p:nvPr/>
                          </p:nvSpPr>
                          <p:spPr bwMode="auto">
                            <a:xfrm>
                              <a:off x="7797854" y="5686843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554735"/>
                                  </a:solidFill>
                                  <a:latin typeface="Segoe UI"/>
                                  <a:cs typeface="Segoe UI"/>
                                </a:rPr>
                                <a:t>Intimidation</a:t>
                              </a:r>
                              <a:endParaRPr lang="fr-FR" sz="1400">
                                <a:solidFill>
                                  <a:srgbClr val="554735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5" name="ZoneTexte 15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49F86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49F86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8" name="Groupe 157"/>
                        <p:cNvGrpSpPr/>
                        <p:nvPr/>
                      </p:nvGrpSpPr>
                      <p:grpSpPr bwMode="auto">
                        <a:xfrm>
                          <a:off x="1943430" y="6737273"/>
                          <a:ext cx="1595477" cy="362605"/>
                          <a:chOff x="1935352" y="4740219"/>
                          <a:chExt cx="1595477" cy="362605"/>
                        </a:xfrm>
                      </p:grpSpPr>
                      <p:grpSp>
                        <p:nvGrpSpPr>
                          <p:cNvPr id="159" name="Groupe 15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5477" cy="348486"/>
                            <a:chOff x="7814698" y="5674037"/>
                            <a:chExt cx="1595477" cy="348486"/>
                          </a:xfrm>
                        </p:grpSpPr>
                        <p:sp>
                          <p:nvSpPr>
                            <p:cNvPr id="161" name="Rectangle : coins arrondis 160"/>
                            <p:cNvSpPr/>
                            <p:nvPr/>
                          </p:nvSpPr>
                          <p:spPr bwMode="auto">
                            <a:xfrm>
                              <a:off x="8789296" y="568396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62" name="ZoneTexte 16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Arcanes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0" name="ZoneTexte 15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3" name="Groupe 162"/>
                        <p:cNvGrpSpPr/>
                        <p:nvPr/>
                      </p:nvGrpSpPr>
                      <p:grpSpPr bwMode="auto">
                        <a:xfrm>
                          <a:off x="1935352" y="714510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4" name="Groupe 16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66" name="Rectangle : coins arrondis 16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67" name="ZoneTexte 16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Histoire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5" name="ZoneTexte 16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8" name="Groupe 167"/>
                        <p:cNvGrpSpPr/>
                        <p:nvPr/>
                      </p:nvGrpSpPr>
                      <p:grpSpPr bwMode="auto">
                        <a:xfrm>
                          <a:off x="1935352" y="754179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9" name="Groupe 16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71" name="Rectangle : coins arrondis 17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72" name="ZoneTexte 17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Religion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0" name="ZoneTexte 16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3" name="Groupe 172"/>
                        <p:cNvGrpSpPr/>
                        <p:nvPr/>
                      </p:nvGrpSpPr>
                      <p:grpSpPr bwMode="auto">
                        <a:xfrm>
                          <a:off x="1924028" y="7943892"/>
                          <a:ext cx="1610625" cy="356695"/>
                          <a:chOff x="1924028" y="4740219"/>
                          <a:chExt cx="1610625" cy="356695"/>
                        </a:xfrm>
                      </p:grpSpPr>
                      <p:grpSp>
                        <p:nvGrpSpPr>
                          <p:cNvPr id="174" name="Groupe 173"/>
                          <p:cNvGrpSpPr/>
                          <p:nvPr/>
                        </p:nvGrpSpPr>
                        <p:grpSpPr bwMode="auto">
                          <a:xfrm>
                            <a:off x="1924028" y="4754338"/>
                            <a:ext cx="1610625" cy="342576"/>
                            <a:chOff x="7803374" y="5674037"/>
                            <a:chExt cx="1610625" cy="342576"/>
                          </a:xfrm>
                        </p:grpSpPr>
                        <p:sp>
                          <p:nvSpPr>
                            <p:cNvPr id="176" name="Rectangle : coins arrondis 17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77" name="ZoneTexte 176"/>
                            <p:cNvSpPr txBox="1"/>
                            <p:nvPr/>
                          </p:nvSpPr>
                          <p:spPr bwMode="auto">
                            <a:xfrm>
                              <a:off x="7803374" y="5674037"/>
                              <a:ext cx="980461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Investigation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5" name="ZoneTexte 17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8" name="Groupe 177"/>
                        <p:cNvGrpSpPr/>
                        <p:nvPr/>
                      </p:nvGrpSpPr>
                      <p:grpSpPr bwMode="auto">
                        <a:xfrm>
                          <a:off x="1943430" y="8345988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79" name="Groupe 17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1" name="Rectangle : coins arrondis 18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82" name="ZoneTexte 18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Nature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0" name="ZoneTexte 17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3" name="Groupe 182"/>
                        <p:cNvGrpSpPr/>
                        <p:nvPr/>
                      </p:nvGrpSpPr>
                      <p:grpSpPr bwMode="auto">
                        <a:xfrm>
                          <a:off x="1931746" y="87424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4" name="Groupe 18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6" name="Rectangle : coins arrondis 18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87" name="ZoneTexte 18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Dressage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5" name="ZoneTexte 18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8" name="Groupe 187"/>
                        <p:cNvGrpSpPr/>
                        <p:nvPr/>
                      </p:nvGrpSpPr>
                      <p:grpSpPr bwMode="auto">
                        <a:xfrm>
                          <a:off x="1940554" y="913886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9" name="Groupe 18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1" name="Rectangle : coins arrondis 19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92" name="ZoneTexte 19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Médecine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0" name="ZoneTexte 18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3" name="Groupe 192"/>
                        <p:cNvGrpSpPr/>
                        <p:nvPr/>
                      </p:nvGrpSpPr>
                      <p:grpSpPr bwMode="auto">
                        <a:xfrm>
                          <a:off x="1937901" y="9535305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4" name="Groupe 19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6" name="Rectangle : coins arrondis 19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97" name="ZoneTexte 19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Perception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5" name="ZoneTexte 19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8" name="Groupe 197"/>
                        <p:cNvGrpSpPr/>
                        <p:nvPr/>
                      </p:nvGrpSpPr>
                      <p:grpSpPr bwMode="auto">
                        <a:xfrm>
                          <a:off x="1931746" y="9931744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9" name="Groupe 19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1" name="Rectangle : coins arrondis 20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rgbClr val="EBE2FE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02" name="ZoneTexte 20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Intuition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0" name="ZoneTexte 19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3" name="Groupe 202"/>
                        <p:cNvGrpSpPr/>
                        <p:nvPr/>
                      </p:nvGrpSpPr>
                      <p:grpSpPr bwMode="auto">
                        <a:xfrm>
                          <a:off x="1940554" y="1032949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4" name="Groupe 20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6" name="Rectangle : coins arrondis 20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07" name="ZoneTexte 20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Survie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5" name="ZoneTexte 20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8" name="Groupe 207"/>
                        <p:cNvGrpSpPr/>
                        <p:nvPr/>
                      </p:nvGrpSpPr>
                      <p:grpSpPr bwMode="auto">
                        <a:xfrm>
                          <a:off x="1948251" y="1073105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9" name="Groupe 20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11" name="Rectangle : coins arrondis 21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12" name="ZoneTexte 21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Persuasion</a:t>
                              </a:r>
                              <a:endParaRPr lang="fr-FR" sz="14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0" name="ZoneTexte 20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3" name="Groupe 212"/>
                        <p:cNvGrpSpPr/>
                        <p:nvPr/>
                      </p:nvGrpSpPr>
                      <p:grpSpPr bwMode="auto">
                        <a:xfrm>
                          <a:off x="1767842" y="11128801"/>
                          <a:ext cx="1772013" cy="356695"/>
                          <a:chOff x="1762640" y="4740219"/>
                          <a:chExt cx="1772013" cy="356695"/>
                        </a:xfrm>
                      </p:grpSpPr>
                      <p:grpSp>
                        <p:nvGrpSpPr>
                          <p:cNvPr id="214" name="Groupe 213"/>
                          <p:cNvGrpSpPr/>
                          <p:nvPr/>
                        </p:nvGrpSpPr>
                        <p:grpSpPr bwMode="auto">
                          <a:xfrm>
                            <a:off x="1762640" y="4754338"/>
                            <a:ext cx="1772013" cy="342576"/>
                            <a:chOff x="7641986" y="5674037"/>
                            <a:chExt cx="1772013" cy="342576"/>
                          </a:xfrm>
                        </p:grpSpPr>
                        <p:sp>
                          <p:nvSpPr>
                            <p:cNvPr id="216" name="Rectangle : coins arrondis 21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17" name="ZoneTexte 216"/>
                            <p:cNvSpPr txBox="1"/>
                            <p:nvPr/>
                          </p:nvSpPr>
                          <p:spPr bwMode="auto">
                            <a:xfrm>
                              <a:off x="7641986" y="5674037"/>
                              <a:ext cx="1141850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Représentation</a:t>
                              </a:r>
                              <a:endParaRPr lang="fr-FR" sz="14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5" name="ZoneTexte 21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8" name="Groupe 217"/>
                        <p:cNvGrpSpPr/>
                        <p:nvPr/>
                      </p:nvGrpSpPr>
                      <p:grpSpPr bwMode="auto">
                        <a:xfrm>
                          <a:off x="1948251" y="11530612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19" name="Groupe 21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21" name="Rectangle : coins arrondis 22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22" name="ZoneTexte 22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Supercherie</a:t>
                              </a:r>
                              <a:endParaRPr lang="fr-FR" sz="14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20" name="ZoneTexte 21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284" name="ZoneTexte 283"/>
                      <p:cNvSpPr txBox="1"/>
                      <p:nvPr/>
                    </p:nvSpPr>
                    <p:spPr bwMode="auto">
                      <a:xfrm>
                        <a:off x="3445611" y="4842539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5" name="ZoneTexte 284"/>
                      <p:cNvSpPr txBox="1"/>
                      <p:nvPr/>
                    </p:nvSpPr>
                    <p:spPr bwMode="auto">
                      <a:xfrm>
                        <a:off x="3452056" y="52381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6" name="ZoneTexte 285"/>
                      <p:cNvSpPr txBox="1"/>
                      <p:nvPr/>
                    </p:nvSpPr>
                    <p:spPr bwMode="auto">
                      <a:xfrm>
                        <a:off x="3457096" y="5643913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7" name="ZoneTexte 286"/>
                      <p:cNvSpPr txBox="1"/>
                      <p:nvPr/>
                    </p:nvSpPr>
                    <p:spPr bwMode="auto">
                      <a:xfrm>
                        <a:off x="3451439" y="60532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49F86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8" name="ZoneTexte 287"/>
                      <p:cNvSpPr txBox="1"/>
                      <p:nvPr/>
                    </p:nvSpPr>
                    <p:spPr bwMode="auto">
                      <a:xfrm>
                        <a:off x="3448332" y="64489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49F86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0" name="ZoneTexte 289"/>
                      <p:cNvSpPr txBox="1"/>
                      <p:nvPr/>
                    </p:nvSpPr>
                    <p:spPr bwMode="auto">
                      <a:xfrm>
                        <a:off x="3449733" y="6852428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1" name="ZoneTexte 290"/>
                      <p:cNvSpPr txBox="1"/>
                      <p:nvPr/>
                    </p:nvSpPr>
                    <p:spPr bwMode="auto">
                      <a:xfrm>
                        <a:off x="3441561" y="725897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2" name="ZoneTexte 291"/>
                      <p:cNvSpPr txBox="1"/>
                      <p:nvPr/>
                    </p:nvSpPr>
                    <p:spPr bwMode="auto">
                      <a:xfrm>
                        <a:off x="3436317" y="76606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4" name="ZoneTexte 293"/>
                      <p:cNvSpPr txBox="1"/>
                      <p:nvPr/>
                    </p:nvSpPr>
                    <p:spPr bwMode="auto">
                      <a:xfrm>
                        <a:off x="3444239" y="80602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5" name="ZoneTexte 294"/>
                      <p:cNvSpPr txBox="1"/>
                      <p:nvPr/>
                    </p:nvSpPr>
                    <p:spPr bwMode="auto">
                      <a:xfrm>
                        <a:off x="3455509" y="846194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6" name="ZoneTexte 295"/>
                      <p:cNvSpPr txBox="1"/>
                      <p:nvPr/>
                    </p:nvSpPr>
                    <p:spPr bwMode="auto">
                      <a:xfrm>
                        <a:off x="3435407" y="8853939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7" name="ZoneTexte 296"/>
                      <p:cNvSpPr txBox="1"/>
                      <p:nvPr/>
                    </p:nvSpPr>
                    <p:spPr bwMode="auto">
                      <a:xfrm>
                        <a:off x="3444298" y="9255105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8" name="ZoneTexte 297"/>
                      <p:cNvSpPr txBox="1"/>
                      <p:nvPr/>
                    </p:nvSpPr>
                    <p:spPr bwMode="auto">
                      <a:xfrm>
                        <a:off x="3447760" y="9649090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9" name="ZoneTexte 298"/>
                      <p:cNvSpPr txBox="1"/>
                      <p:nvPr/>
                    </p:nvSpPr>
                    <p:spPr bwMode="auto">
                      <a:xfrm>
                        <a:off x="3442097" y="1004653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0" name="ZoneTexte 299"/>
                      <p:cNvSpPr txBox="1"/>
                      <p:nvPr/>
                    </p:nvSpPr>
                    <p:spPr bwMode="auto">
                      <a:xfrm>
                        <a:off x="3453256" y="10439704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1" name="ZoneTexte 300"/>
                      <p:cNvSpPr txBox="1"/>
                      <p:nvPr/>
                    </p:nvSpPr>
                    <p:spPr bwMode="auto">
                      <a:xfrm>
                        <a:off x="3457288" y="1085199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2" name="ZoneTexte 301"/>
                      <p:cNvSpPr txBox="1"/>
                      <p:nvPr/>
                    </p:nvSpPr>
                    <p:spPr bwMode="auto">
                      <a:xfrm>
                        <a:off x="3438616" y="112404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3" name="ZoneTexte 302"/>
                      <p:cNvSpPr txBox="1"/>
                      <p:nvPr/>
                    </p:nvSpPr>
                    <p:spPr bwMode="auto">
                      <a:xfrm>
                        <a:off x="3449733" y="1163596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</p:grpSp>
                <p:sp>
                  <p:nvSpPr>
                    <p:cNvPr id="378" name="Zone de texte 80"/>
                    <p:cNvSpPr txBox="1"/>
                    <p:nvPr/>
                  </p:nvSpPr>
                  <p:spPr bwMode="auto">
                    <a:xfrm rot="16199999">
                      <a:off x="3190163" y="5164857"/>
                      <a:ext cx="1076260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Agi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5" name="Zone de texte 80"/>
                    <p:cNvSpPr txBox="1"/>
                    <p:nvPr/>
                  </p:nvSpPr>
                  <p:spPr bwMode="auto">
                    <a:xfrm rot="16199999">
                      <a:off x="3324513" y="6157648"/>
                      <a:ext cx="817065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Force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6" name="Zone de texte 80"/>
                    <p:cNvSpPr txBox="1"/>
                    <p:nvPr/>
                  </p:nvSpPr>
                  <p:spPr bwMode="auto">
                    <a:xfrm rot="16199999">
                      <a:off x="2755658" y="7554351"/>
                      <a:ext cx="1947271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Intel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7" name="Zone de texte 80"/>
                    <p:cNvSpPr txBox="1"/>
                    <p:nvPr/>
                  </p:nvSpPr>
                  <p:spPr bwMode="auto">
                    <a:xfrm rot="16199999">
                      <a:off x="2772001" y="9554419"/>
                      <a:ext cx="19141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Sagesse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8" name="Zone de texte 80"/>
                    <p:cNvSpPr txBox="1"/>
                    <p:nvPr/>
                  </p:nvSpPr>
                  <p:spPr bwMode="auto">
                    <a:xfrm rot="16199999">
                      <a:off x="3159602" y="11148617"/>
                      <a:ext cx="11482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Chance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</p:grpSp>
              <p:cxnSp>
                <p:nvCxnSpPr>
                  <p:cNvPr id="35" name="Connecteur droit 34"/>
                  <p:cNvCxnSpPr/>
                  <p:nvPr/>
                </p:nvCxnSpPr>
                <p:spPr bwMode="auto">
                  <a:xfrm>
                    <a:off x="2162234" y="5853287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Connecteur droit 36"/>
                  <p:cNvCxnSpPr/>
                  <p:nvPr/>
                </p:nvCxnSpPr>
                <p:spPr bwMode="auto">
                  <a:xfrm>
                    <a:off x="2171997" y="665437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Connecteur droit 38"/>
                  <p:cNvCxnSpPr/>
                  <p:nvPr/>
                </p:nvCxnSpPr>
                <p:spPr bwMode="auto">
                  <a:xfrm>
                    <a:off x="2167050" y="866325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Connecteur droit 39"/>
                  <p:cNvCxnSpPr/>
                  <p:nvPr/>
                </p:nvCxnSpPr>
                <p:spPr bwMode="auto">
                  <a:xfrm>
                    <a:off x="2171997" y="10644505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3" name="Groupe 2322"/>
                <p:cNvGrpSpPr/>
                <p:nvPr/>
              </p:nvGrpSpPr>
              <p:grpSpPr bwMode="auto">
                <a:xfrm>
                  <a:off x="2562904" y="2216085"/>
                  <a:ext cx="664282" cy="7321372"/>
                  <a:chOff x="2562904" y="2216085"/>
                  <a:chExt cx="664282" cy="7321372"/>
                </a:xfrm>
              </p:grpSpPr>
              <p:sp>
                <p:nvSpPr>
                  <p:cNvPr id="41" name="Ellipse 40"/>
                  <p:cNvSpPr/>
                  <p:nvPr/>
                </p:nvSpPr>
                <p:spPr bwMode="auto">
                  <a:xfrm>
                    <a:off x="3101186" y="3821091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solidFill>
                        <a:srgbClr val="B49F86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59" name="Ellipse 2258"/>
                  <p:cNvSpPr/>
                  <p:nvPr/>
                </p:nvSpPr>
                <p:spPr bwMode="auto">
                  <a:xfrm>
                    <a:off x="3101186" y="422162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 sz="50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62" name="Ellipse 2261"/>
                  <p:cNvSpPr/>
                  <p:nvPr/>
                </p:nvSpPr>
                <p:spPr bwMode="auto">
                  <a:xfrm>
                    <a:off x="3101186" y="34176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548235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65" name="Ellipse 2264"/>
                  <p:cNvSpPr/>
                  <p:nvPr/>
                </p:nvSpPr>
                <p:spPr bwMode="auto">
                  <a:xfrm>
                    <a:off x="3101186" y="301340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548235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68" name="Ellipse 2267"/>
                  <p:cNvSpPr/>
                  <p:nvPr/>
                </p:nvSpPr>
                <p:spPr bwMode="auto">
                  <a:xfrm>
                    <a:off x="3101186" y="261860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548235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solidFill>
                        <a:srgbClr val="548235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77" name="Ellipse 2276"/>
                  <p:cNvSpPr/>
                  <p:nvPr/>
                </p:nvSpPr>
                <p:spPr bwMode="auto">
                  <a:xfrm>
                    <a:off x="3101186" y="461404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81" name="Ellipse 2280"/>
                  <p:cNvSpPr/>
                  <p:nvPr/>
                </p:nvSpPr>
                <p:spPr bwMode="auto">
                  <a:xfrm>
                    <a:off x="3101186" y="502570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84" name="Ellipse 2283"/>
                  <p:cNvSpPr/>
                  <p:nvPr/>
                </p:nvSpPr>
                <p:spPr bwMode="auto">
                  <a:xfrm>
                    <a:off x="3101186" y="542404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87" name="Ellipse 2286"/>
                  <p:cNvSpPr/>
                  <p:nvPr/>
                </p:nvSpPr>
                <p:spPr bwMode="auto">
                  <a:xfrm>
                    <a:off x="3101186" y="582021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0" name="Ellipse 2289"/>
                  <p:cNvSpPr/>
                  <p:nvPr/>
                </p:nvSpPr>
                <p:spPr bwMode="auto">
                  <a:xfrm>
                    <a:off x="3101186" y="622569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3" name="Ellipse 2292"/>
                  <p:cNvSpPr/>
                  <p:nvPr/>
                </p:nvSpPr>
                <p:spPr bwMode="auto">
                  <a:xfrm>
                    <a:off x="3101186" y="66223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6" name="Ellipse 2295"/>
                  <p:cNvSpPr/>
                  <p:nvPr/>
                </p:nvSpPr>
                <p:spPr bwMode="auto">
                  <a:xfrm>
                    <a:off x="3101186" y="701684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9" name="Ellipse 2298"/>
                  <p:cNvSpPr/>
                  <p:nvPr/>
                </p:nvSpPr>
                <p:spPr bwMode="auto">
                  <a:xfrm>
                    <a:off x="3101186" y="741478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302" name="Ellipse 2301"/>
                  <p:cNvSpPr/>
                  <p:nvPr/>
                </p:nvSpPr>
                <p:spPr bwMode="auto">
                  <a:xfrm>
                    <a:off x="3101186" y="7807482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510" name="Ellipse 509"/>
                  <p:cNvSpPr/>
                  <p:nvPr/>
                </p:nvSpPr>
                <p:spPr bwMode="auto">
                  <a:xfrm>
                    <a:off x="3101186" y="820873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74" name="Ellipse 73"/>
                  <p:cNvSpPr/>
                  <p:nvPr/>
                </p:nvSpPr>
                <p:spPr bwMode="auto">
                  <a:xfrm>
                    <a:off x="3101186" y="861300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134" name="Ellipse 133"/>
                  <p:cNvSpPr/>
                  <p:nvPr/>
                </p:nvSpPr>
                <p:spPr bwMode="auto">
                  <a:xfrm>
                    <a:off x="3101186" y="9007260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065" name="Ellipse 2064"/>
                  <p:cNvSpPr/>
                  <p:nvPr/>
                </p:nvSpPr>
                <p:spPr bwMode="auto">
                  <a:xfrm>
                    <a:off x="3101186" y="941145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326" name="Ellipse 2325"/>
                  <p:cNvSpPr/>
                  <p:nvPr/>
                </p:nvSpPr>
                <p:spPr bwMode="auto">
                  <a:xfrm>
                    <a:off x="2562904" y="221608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7F7F7F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solidFill>
                        <a:srgbClr val="7F7F7F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</p:grpSp>
            <p:grpSp>
              <p:nvGrpSpPr>
                <p:cNvPr id="2322" name="Groupe 2321"/>
                <p:cNvGrpSpPr/>
                <p:nvPr/>
              </p:nvGrpSpPr>
              <p:grpSpPr bwMode="auto">
                <a:xfrm>
                  <a:off x="3108874" y="2229409"/>
                  <a:ext cx="699312" cy="7072362"/>
                  <a:chOff x="3108874" y="2229409"/>
                  <a:chExt cx="699312" cy="7072362"/>
                </a:xfrm>
              </p:grpSpPr>
              <p:sp>
                <p:nvSpPr>
                  <p:cNvPr id="16" name="Ellipse 15"/>
                  <p:cNvSpPr/>
                  <p:nvPr/>
                </p:nvSpPr>
                <p:spPr bwMode="auto">
                  <a:xfrm>
                    <a:off x="3690367" y="3601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400" spc="20">
                      <a:solidFill>
                        <a:srgbClr val="B49F86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081" name="Ellipse 2080"/>
                  <p:cNvSpPr/>
                  <p:nvPr/>
                </p:nvSpPr>
                <p:spPr bwMode="auto">
                  <a:xfrm>
                    <a:off x="3690367" y="400189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109" name="Ellipse 2108"/>
                  <p:cNvSpPr/>
                  <p:nvPr/>
                </p:nvSpPr>
                <p:spPr bwMode="auto">
                  <a:xfrm>
                    <a:off x="3690367" y="31978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385723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400" spc="2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75" name="Ellipse 274"/>
                  <p:cNvSpPr/>
                  <p:nvPr/>
                </p:nvSpPr>
                <p:spPr bwMode="auto">
                  <a:xfrm>
                    <a:off x="3690367" y="279367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385723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327" name="Ellipse 326"/>
                  <p:cNvSpPr/>
                  <p:nvPr/>
                </p:nvSpPr>
                <p:spPr bwMode="auto">
                  <a:xfrm>
                    <a:off x="3678836" y="2384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385723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solidFill>
                        <a:srgbClr val="385723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330" name="Ellipse 329"/>
                  <p:cNvSpPr/>
                  <p:nvPr/>
                </p:nvSpPr>
                <p:spPr bwMode="auto">
                  <a:xfrm>
                    <a:off x="3690367" y="439431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33" name="Ellipse 332"/>
                  <p:cNvSpPr/>
                  <p:nvPr/>
                </p:nvSpPr>
                <p:spPr bwMode="auto">
                  <a:xfrm>
                    <a:off x="3690367" y="480597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36" name="Ellipse 335"/>
                  <p:cNvSpPr/>
                  <p:nvPr/>
                </p:nvSpPr>
                <p:spPr bwMode="auto">
                  <a:xfrm>
                    <a:off x="3690367" y="520431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44" name="Ellipse 343"/>
                  <p:cNvSpPr/>
                  <p:nvPr/>
                </p:nvSpPr>
                <p:spPr bwMode="auto">
                  <a:xfrm>
                    <a:off x="3690367" y="560048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58" name="Ellipse 357"/>
                  <p:cNvSpPr/>
                  <p:nvPr/>
                </p:nvSpPr>
                <p:spPr bwMode="auto">
                  <a:xfrm>
                    <a:off x="3690367" y="600596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406" name="Ellipse 405"/>
                  <p:cNvSpPr/>
                  <p:nvPr/>
                </p:nvSpPr>
                <p:spPr bwMode="auto">
                  <a:xfrm>
                    <a:off x="3690367" y="64025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414" name="Ellipse 413"/>
                  <p:cNvSpPr/>
                  <p:nvPr/>
                </p:nvSpPr>
                <p:spPr bwMode="auto">
                  <a:xfrm>
                    <a:off x="3690367" y="679711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418" name="Ellipse 417"/>
                  <p:cNvSpPr/>
                  <p:nvPr/>
                </p:nvSpPr>
                <p:spPr bwMode="auto">
                  <a:xfrm>
                    <a:off x="3690367" y="7195056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06" name="Ellipse 2305"/>
                  <p:cNvSpPr/>
                  <p:nvPr/>
                </p:nvSpPr>
                <p:spPr bwMode="auto">
                  <a:xfrm>
                    <a:off x="3690367" y="758775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09" name="Ellipse 2308"/>
                  <p:cNvSpPr/>
                  <p:nvPr/>
                </p:nvSpPr>
                <p:spPr bwMode="auto">
                  <a:xfrm>
                    <a:off x="3690367" y="798900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12" name="Ellipse 2311"/>
                  <p:cNvSpPr/>
                  <p:nvPr/>
                </p:nvSpPr>
                <p:spPr bwMode="auto">
                  <a:xfrm>
                    <a:off x="3690367" y="839327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15" name="Ellipse 2314"/>
                  <p:cNvSpPr/>
                  <p:nvPr/>
                </p:nvSpPr>
                <p:spPr bwMode="auto">
                  <a:xfrm>
                    <a:off x="3690367" y="878766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19" name="Ellipse 2318"/>
                  <p:cNvSpPr/>
                  <p:nvPr/>
                </p:nvSpPr>
                <p:spPr bwMode="auto">
                  <a:xfrm>
                    <a:off x="3694348" y="919156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25" name="Ellipse 2324"/>
                  <p:cNvSpPr/>
                  <p:nvPr/>
                </p:nvSpPr>
                <p:spPr bwMode="auto">
                  <a:xfrm>
                    <a:off x="3108874" y="2229409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7F7F7F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solidFill>
                        <a:srgbClr val="7F7F7F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</p:grpSp>
          </p:grpSp>
          <p:sp>
            <p:nvSpPr>
              <p:cNvPr id="2327" name="ZoneTexte 2326"/>
              <p:cNvSpPr txBox="1"/>
              <p:nvPr/>
            </p:nvSpPr>
            <p:spPr bwMode="auto">
              <a:xfrm>
                <a:off x="2624373" y="2392809"/>
                <a:ext cx="50242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rgbClr val="AFAFAF"/>
                    </a:solidFill>
                    <a:latin typeface="Segoe UI"/>
                    <a:cs typeface="Segoe UI"/>
                  </a:rPr>
                  <a:t>Maitrise</a:t>
                </a:r>
                <a:endParaRPr/>
              </a:p>
            </p:txBody>
          </p:sp>
          <p:sp>
            <p:nvSpPr>
              <p:cNvPr id="2328" name="ZoneTexte 2327"/>
              <p:cNvSpPr txBox="1"/>
              <p:nvPr/>
            </p:nvSpPr>
            <p:spPr bwMode="auto">
              <a:xfrm>
                <a:off x="3160213" y="2397124"/>
                <a:ext cx="53561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rgbClr val="AFAFAF"/>
                    </a:solidFill>
                    <a:latin typeface="Segoe UI"/>
                    <a:cs typeface="Segoe UI"/>
                  </a:rPr>
                  <a:t>Expertise</a:t>
                </a:r>
                <a:endParaRPr/>
              </a:p>
            </p:txBody>
          </p:sp>
        </p:grpSp>
        <p:pic>
          <p:nvPicPr>
            <p:cNvPr id="2093" name="Image 2092"/>
            <p:cNvPicPr>
              <a:picLocks noChangeAspect="1"/>
            </p:cNvPicPr>
            <p:nvPr/>
          </p:nvPicPr>
          <p:blipFill rotWithShape="1">
            <a:blip r:embed="rId35"/>
            <a:stretch/>
          </p:blipFill>
          <p:spPr bwMode="auto">
            <a:xfrm>
              <a:off x="2288993" y="2224296"/>
              <a:ext cx="208417" cy="208417"/>
            </a:xfrm>
            <a:prstGeom prst="rect">
              <a:avLst/>
            </a:prstGeom>
          </p:spPr>
        </p:pic>
      </p:grpSp>
      <p:grpSp>
        <p:nvGrpSpPr>
          <p:cNvPr id="562482210" name="Groupe 2095"/>
          <p:cNvGrpSpPr/>
          <p:nvPr/>
        </p:nvGrpSpPr>
        <p:grpSpPr bwMode="auto">
          <a:xfrm>
            <a:off x="5105986" y="3513260"/>
            <a:ext cx="1740610" cy="445714"/>
            <a:chOff x="4065888" y="5380695"/>
            <a:chExt cx="1740610" cy="445714"/>
          </a:xfrm>
        </p:grpSpPr>
        <p:grpSp>
          <p:nvGrpSpPr>
            <p:cNvPr id="2097" name="Groupe 2096"/>
            <p:cNvGrpSpPr/>
            <p:nvPr/>
          </p:nvGrpSpPr>
          <p:grpSpPr bwMode="auto">
            <a:xfrm>
              <a:off x="4065888" y="5380695"/>
              <a:ext cx="1740610" cy="445714"/>
              <a:chOff x="4065888" y="5380695"/>
              <a:chExt cx="1740610" cy="445714"/>
            </a:xfrm>
          </p:grpSpPr>
          <p:sp>
            <p:nvSpPr>
              <p:cNvPr id="2102" name="Zone de texte 80"/>
              <p:cNvSpPr txBox="1"/>
              <p:nvPr/>
            </p:nvSpPr>
            <p:spPr bwMode="auto">
              <a:xfrm>
                <a:off x="4487629" y="5574543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2103" name="Groupe 2102"/>
              <p:cNvGrpSpPr/>
              <p:nvPr/>
            </p:nvGrpSpPr>
            <p:grpSpPr bwMode="auto">
              <a:xfrm>
                <a:off x="4065888" y="5380695"/>
                <a:ext cx="1740610" cy="445714"/>
                <a:chOff x="4065888" y="5520903"/>
                <a:chExt cx="1740610" cy="445714"/>
              </a:xfrm>
            </p:grpSpPr>
            <p:grpSp>
              <p:nvGrpSpPr>
                <p:cNvPr id="265" name="Groupe 264"/>
                <p:cNvGrpSpPr/>
                <p:nvPr/>
              </p:nvGrpSpPr>
              <p:grpSpPr bwMode="auto">
                <a:xfrm>
                  <a:off x="4065888" y="5520903"/>
                  <a:ext cx="1689256" cy="405208"/>
                  <a:chOff x="4151433" y="5374235"/>
                  <a:chExt cx="1689256" cy="405208"/>
                </a:xfrm>
              </p:grpSpPr>
              <p:sp>
                <p:nvSpPr>
                  <p:cNvPr id="283" name="Rectangle : coins arrondis 282"/>
                  <p:cNvSpPr/>
                  <p:nvPr/>
                </p:nvSpPr>
                <p:spPr bwMode="auto">
                  <a:xfrm>
                    <a:off x="5114845" y="5397405"/>
                    <a:ext cx="725844" cy="382038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308" name="ZoneTexte 307"/>
                  <p:cNvSpPr txBox="1"/>
                  <p:nvPr/>
                </p:nvSpPr>
                <p:spPr bwMode="auto">
                  <a:xfrm>
                    <a:off x="4151433" y="5374235"/>
                    <a:ext cx="102026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Critiques</a:t>
                    </a:r>
                    <a:endParaRPr/>
                  </a:p>
                </p:txBody>
              </p:sp>
            </p:grpSp>
            <p:sp>
              <p:nvSpPr>
                <p:cNvPr id="227" name="ZoneTexte 226"/>
                <p:cNvSpPr txBox="1"/>
                <p:nvPr/>
              </p:nvSpPr>
              <p:spPr bwMode="auto"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3</a:t>
                  </a:r>
                  <a:endParaRPr/>
                </a:p>
              </p:txBody>
            </p:sp>
            <p:sp>
              <p:nvSpPr>
                <p:cNvPr id="241" name="ZoneTexte 240"/>
                <p:cNvSpPr txBox="1"/>
                <p:nvPr/>
              </p:nvSpPr>
              <p:spPr bwMode="auto"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0</a:t>
                  </a:r>
                  <a:endPara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</p:grpSp>
        </p:grpSp>
        <p:pic>
          <p:nvPicPr>
            <p:cNvPr id="2099" name="Picture 38"/>
            <p:cNvPicPr>
              <a:picLocks noChangeAspect="1" noChangeArrowheads="1"/>
            </p:cNvPicPr>
            <p:nvPr/>
          </p:nvPicPr>
          <p:blipFill rotWithShape="1">
            <a:blip r:embed="rId36"/>
            <a:stretch/>
          </p:blipFill>
          <p:spPr bwMode="auto">
            <a:xfrm>
              <a:off x="4257161" y="5421192"/>
              <a:ext cx="184382" cy="184382"/>
            </a:xfrm>
            <a:prstGeom prst="rect">
              <a:avLst/>
            </a:prstGeom>
            <a:noFill/>
          </p:spPr>
        </p:pic>
      </p:grpSp>
      <p:grpSp>
        <p:nvGrpSpPr>
          <p:cNvPr id="634227916" name="Groupe 2129"/>
          <p:cNvGrpSpPr/>
          <p:nvPr/>
        </p:nvGrpSpPr>
        <p:grpSpPr bwMode="auto">
          <a:xfrm>
            <a:off x="17515" y="3251817"/>
            <a:ext cx="2091894" cy="7247233"/>
            <a:chOff x="17515" y="3028710"/>
            <a:chExt cx="2091894" cy="7247233"/>
          </a:xfrm>
        </p:grpSpPr>
        <p:grpSp>
          <p:nvGrpSpPr>
            <p:cNvPr id="14" name="Groupe 13"/>
            <p:cNvGrpSpPr/>
            <p:nvPr/>
          </p:nvGrpSpPr>
          <p:grpSpPr bwMode="auto">
            <a:xfrm>
              <a:off x="17515" y="3028710"/>
              <a:ext cx="2091894" cy="7236635"/>
              <a:chOff x="17515" y="2841298"/>
              <a:chExt cx="2091894" cy="7236635"/>
            </a:xfrm>
          </p:grpSpPr>
          <p:grpSp>
            <p:nvGrpSpPr>
              <p:cNvPr id="15" name="Groupe 14"/>
              <p:cNvGrpSpPr/>
              <p:nvPr/>
            </p:nvGrpSpPr>
            <p:grpSpPr bwMode="auto">
              <a:xfrm>
                <a:off x="17515" y="2841298"/>
                <a:ext cx="2091894" cy="7236635"/>
                <a:chOff x="17543" y="2841297"/>
                <a:chExt cx="2091894" cy="7236635"/>
              </a:xfrm>
            </p:grpSpPr>
            <p:grpSp>
              <p:nvGrpSpPr>
                <p:cNvPr id="2069" name="Groupe 2068"/>
                <p:cNvGrpSpPr/>
                <p:nvPr/>
              </p:nvGrpSpPr>
              <p:grpSpPr bwMode="auto">
                <a:xfrm>
                  <a:off x="17543" y="2841297"/>
                  <a:ext cx="2070727" cy="7236635"/>
                  <a:chOff x="17224" y="2837546"/>
                  <a:chExt cx="2070727" cy="7236635"/>
                </a:xfrm>
              </p:grpSpPr>
              <p:grpSp>
                <p:nvGrpSpPr>
                  <p:cNvPr id="266" name="Groupe 265"/>
                  <p:cNvGrpSpPr/>
                  <p:nvPr/>
                </p:nvGrpSpPr>
                <p:grpSpPr bwMode="auto">
                  <a:xfrm>
                    <a:off x="17224" y="3104561"/>
                    <a:ext cx="2070727" cy="6969620"/>
                    <a:chOff x="17224" y="1702479"/>
                    <a:chExt cx="2070727" cy="6969620"/>
                  </a:xfrm>
                </p:grpSpPr>
                <p:grpSp>
                  <p:nvGrpSpPr>
                    <p:cNvPr id="2118" name="Groupe 2117"/>
                    <p:cNvGrpSpPr/>
                    <p:nvPr/>
                  </p:nvGrpSpPr>
                  <p:grpSpPr bwMode="auto">
                    <a:xfrm>
                      <a:off x="47825" y="1702479"/>
                      <a:ext cx="2040126" cy="6965339"/>
                      <a:chOff x="47825" y="1637165"/>
                      <a:chExt cx="2040126" cy="6965339"/>
                    </a:xfrm>
                  </p:grpSpPr>
                  <p:grpSp>
                    <p:nvGrpSpPr>
                      <p:cNvPr id="2406" name="Groupe 2405"/>
                      <p:cNvGrpSpPr/>
                      <p:nvPr/>
                    </p:nvGrpSpPr>
                    <p:grpSpPr bwMode="auto">
                      <a:xfrm>
                        <a:off x="47825" y="2092457"/>
                        <a:ext cx="2040126" cy="6510047"/>
                        <a:chOff x="47825" y="5118670"/>
                        <a:chExt cx="2040126" cy="6510047"/>
                      </a:xfrm>
                    </p:grpSpPr>
                    <p:grpSp>
                      <p:nvGrpSpPr>
                        <p:cNvPr id="2408" name="Groupe 2407"/>
                        <p:cNvGrpSpPr/>
                        <p:nvPr/>
                      </p:nvGrpSpPr>
                      <p:grpSpPr bwMode="auto">
                        <a:xfrm>
                          <a:off x="47825" y="5118670"/>
                          <a:ext cx="2040126" cy="6510047"/>
                          <a:chOff x="47825" y="5118670"/>
                          <a:chExt cx="2040126" cy="6510047"/>
                        </a:xfrm>
                      </p:grpSpPr>
                      <p:sp>
                        <p:nvSpPr>
                          <p:cNvPr id="2411" name="Zone de texte 79"/>
                          <p:cNvSpPr txBox="1"/>
                          <p:nvPr/>
                        </p:nvSpPr>
                        <p:spPr bwMode="auto">
                          <a:xfrm>
                            <a:off x="225173" y="5118670"/>
                            <a:ext cx="699296" cy="279309"/>
                          </a:xfrm>
                          <a:prstGeom prst="rect">
                            <a:avLst/>
                          </a:prstGeom>
                          <a:noFill/>
                          <a:ln w="6350">
                            <a:noFill/>
                          </a:ln>
                        </p:spPr>
                        <p:txBody>
                          <a:bodyPr rot="0" spcFirstLastPara="0" vert="horz" wrap="none" lIns="91440" tIns="45720" rIns="91440" bIns="45720" numCol="1" spcCol="0" rtlCol="0" fromWordArt="0" anchor="t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>
                              <a:lnSpc>
                                <a:spcPct val="107000"/>
                              </a:lnSpc>
                              <a:spcAft>
                                <a:spcPts val="800"/>
                              </a:spcAft>
                              <a:defRPr/>
                            </a:pPr>
                            <a:r>
                              <a:rPr lang="fr-FR" sz="1200">
                                <a:solidFill>
                                  <a:srgbClr val="7F6000"/>
                                </a:solidFill>
                                <a:latin typeface="Segoe UI"/>
                                <a:ea typeface="Calibri"/>
                                <a:cs typeface="Segoe UI"/>
                              </a:rPr>
                              <a:t>Vitalité</a:t>
                            </a:r>
                            <a:endParaRPr lang="fr-FR" sz="1200">
                              <a:latin typeface="Segoe UI"/>
                              <a:ea typeface="Calibri"/>
                              <a:cs typeface="Segoe UI"/>
                            </a:endParaRPr>
                          </a:p>
                        </p:txBody>
                      </p:sp>
                      <p:grpSp>
                        <p:nvGrpSpPr>
                          <p:cNvPr id="2412" name="Groupe 2411"/>
                          <p:cNvGrpSpPr/>
                          <p:nvPr/>
                        </p:nvGrpSpPr>
                        <p:grpSpPr bwMode="auto">
                          <a:xfrm>
                            <a:off x="47825" y="5119881"/>
                            <a:ext cx="2040126" cy="6508836"/>
                            <a:chOff x="47825" y="5262121"/>
                            <a:chExt cx="2040126" cy="6508836"/>
                          </a:xfrm>
                        </p:grpSpPr>
                        <p:pic>
                          <p:nvPicPr>
                            <p:cNvPr id="2413" name="Picture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 rotWithShape="1">
                            <a:blip r:embed="rId37"/>
                            <a:stretch/>
                          </p:blipFill>
                          <p:spPr bwMode="auto">
                            <a:xfrm>
                              <a:off x="74217" y="5307213"/>
                              <a:ext cx="180000" cy="18000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  <p:grpSp>
                          <p:nvGrpSpPr>
                            <p:cNvPr id="2414" name="Groupe 2413"/>
                            <p:cNvGrpSpPr/>
                            <p:nvPr/>
                          </p:nvGrpSpPr>
                          <p:grpSpPr bwMode="auto">
                            <a:xfrm>
                              <a:off x="47825" y="5262121"/>
                              <a:ext cx="2040126" cy="6508836"/>
                              <a:chOff x="47825" y="5274313"/>
                              <a:chExt cx="2040126" cy="6508836"/>
                            </a:xfrm>
                          </p:grpSpPr>
                          <p:grpSp>
                            <p:nvGrpSpPr>
                              <p:cNvPr id="2415" name="Groupe 2414"/>
                              <p:cNvGrpSpPr/>
                              <p:nvPr/>
                            </p:nvGrpSpPr>
                            <p:grpSpPr bwMode="auto">
                              <a:xfrm>
                                <a:off x="91811" y="5529389"/>
                                <a:ext cx="1174930" cy="570174"/>
                                <a:chOff x="-451653" y="12794"/>
                                <a:chExt cx="3573719" cy="431254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30" name="Rectangle : coins arrondis 2429"/>
                                <p:cNvSpPr/>
                                <p:nvPr/>
                              </p:nvSpPr>
                              <p:spPr bwMode="auto">
                                <a:xfrm>
                                  <a:off x="-451653" y="35617"/>
                                  <a:ext cx="3573719" cy="408431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 </a:t>
                                  </a:r>
                                  <a:endParaRPr lang="fr-FR" sz="105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31" name="Zone de texte 75"/>
                                <p:cNvSpPr txBox="1"/>
                                <p:nvPr/>
                              </p:nvSpPr>
                              <p:spPr bwMode="auto">
                                <a:xfrm>
                                  <a:off x="310270" y="12794"/>
                                  <a:ext cx="1204491" cy="16337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700">
                                      <a:solidFill>
                                        <a:srgbClr val="7F6000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Base</a:t>
                                  </a:r>
                                  <a:endParaRPr lang="fr-FR" sz="110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2416" name="Groupe 2415"/>
                              <p:cNvGrpSpPr/>
                              <p:nvPr/>
                            </p:nvGrpSpPr>
                            <p:grpSpPr bwMode="auto">
                              <a:xfrm>
                                <a:off x="1206761" y="5274313"/>
                                <a:ext cx="866492" cy="1032245"/>
                                <a:chOff x="606389" y="-183015"/>
                                <a:chExt cx="2510418" cy="780741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28" name="Rectangle : coins arrondis 2427"/>
                                <p:cNvSpPr/>
                                <p:nvPr/>
                              </p:nvSpPr>
                              <p:spPr bwMode="auto">
                                <a:xfrm>
                                  <a:off x="959483" y="-173566"/>
                                  <a:ext cx="2015283" cy="771292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 </a:t>
                                  </a:r>
                                  <a:endParaRPr lang="fr-FR" sz="105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29" name="Zone de texte 78"/>
                                <p:cNvSpPr txBox="1"/>
                                <p:nvPr/>
                              </p:nvSpPr>
                              <p:spPr bwMode="auto">
                                <a:xfrm>
                                  <a:off x="606389" y="-183015"/>
                                  <a:ext cx="2510418" cy="18448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700">
                                      <a:solidFill>
                                        <a:srgbClr val="7F6000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Modificateur</a:t>
                                  </a:r>
                                  <a:endParaRPr lang="fr-FR" sz="110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2418" name="ZoneTexte 2417"/>
                              <p:cNvSpPr txBox="1"/>
                              <p:nvPr/>
                            </p:nvSpPr>
                            <p:spPr bwMode="auto">
                              <a:xfrm>
                                <a:off x="1070153" y="5928116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 algn="ctr"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8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19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864000" y="5531027"/>
                                <a:ext cx="468000" cy="216000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7F6000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Equip.</a:t>
                                </a:r>
                                <a:endParaRPr lang="fr-FR" sz="110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20" name="ZoneTexte 2419"/>
                              <p:cNvSpPr txBox="1"/>
                              <p:nvPr/>
                            </p:nvSpPr>
                            <p:spPr bwMode="auto">
                              <a:xfrm>
                                <a:off x="193972" y="5932744"/>
                                <a:ext cx="549412" cy="16927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>
                                  <a:defRPr/>
                                </a:pPr>
                                <a:r>
                                  <a:rPr lang="fr-FR" sz="5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20</a:t>
                                </a:r>
                                <a:endParaRPr dirty="0"/>
                              </a:p>
                            </p:txBody>
                          </p:sp>
                          <p:sp>
                            <p:nvSpPr>
                              <p:cNvPr id="2421" name="ZoneTexte 2420"/>
                              <p:cNvSpPr txBox="1"/>
                              <p:nvPr/>
                            </p:nvSpPr>
                            <p:spPr bwMode="auto">
                              <a:xfrm>
                                <a:off x="1189270" y="5518612"/>
                                <a:ext cx="898681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>
                                  <a:defRPr/>
                                </a:pPr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[</a:t>
                                </a:r>
                                <a:r>
                                  <a:rPr lang="fr-FR" sz="600" dirty="0" err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Niv</a:t>
                                </a:r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./2+1]</a:t>
                                </a:r>
                                <a:r>
                                  <a:rPr lang="fr-FR" sz="800" baseline="30000" dirty="0">
                                    <a:solidFill>
                                      <a:srgbClr val="7F7F7F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+</a:t>
                                </a:r>
                                <a:r>
                                  <a:rPr lang="fr-FR" sz="700" baseline="300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 </a:t>
                                </a:r>
                                <a:r>
                                  <a:rPr lang="fr-FR" sz="7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ou 7</a:t>
                                </a:r>
                                <a:r>
                                  <a:rPr lang="fr-FR" sz="800" baseline="30000" dirty="0">
                                    <a:solidFill>
                                      <a:srgbClr val="7F7F7F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 </a:t>
                                </a:r>
                                <a:endParaRPr lang="fr-FR" sz="600" dirty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endParaRPr>
                              </a:p>
                            </p:txBody>
                          </p:sp>
                          <p:cxnSp>
                            <p:nvCxnSpPr>
                              <p:cNvPr id="2422" name="Connecteur droit 2421"/>
                              <p:cNvCxnSpPr>
                                <a:stCxn id="2430" idx="0"/>
                                <a:endCxn id="2430" idx="2"/>
                              </p:cNvCxnSpPr>
                              <p:nvPr/>
                            </p:nvCxnSpPr>
                            <p:spPr bwMode="auto">
                              <a:xfrm>
                                <a:off x="679275" y="5559564"/>
                                <a:ext cx="0" cy="539999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423" name="ZoneTexte 2422"/>
                              <p:cNvSpPr txBox="1"/>
                              <p:nvPr/>
                            </p:nvSpPr>
                            <p:spPr bwMode="auto">
                              <a:xfrm>
                                <a:off x="47825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8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4" name="ZoneTexte 2423"/>
                              <p:cNvSpPr txBox="1"/>
                              <p:nvPr/>
                            </p:nvSpPr>
                            <p:spPr bwMode="auto">
                              <a:xfrm>
                                <a:off x="631664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0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5" name="ZoneTexte 2424"/>
                              <p:cNvSpPr txBox="1"/>
                              <p:nvPr/>
                            </p:nvSpPr>
                            <p:spPr bwMode="auto">
                              <a:xfrm>
                                <a:off x="1267947" y="5674968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-1</a:t>
                                </a:r>
                                <a:endParaRPr dirty="0"/>
                              </a:p>
                            </p:txBody>
                          </p:sp>
                          <p:sp>
                            <p:nvSpPr>
                              <p:cNvPr id="2426" name="ZoneTexte 2425"/>
                              <p:cNvSpPr txBox="1"/>
                              <p:nvPr/>
                            </p:nvSpPr>
                            <p:spPr bwMode="auto">
                              <a:xfrm>
                                <a:off x="1287929" y="5276515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-1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7" name="ZoneTexte 2426"/>
                              <p:cNvSpPr txBox="1"/>
                              <p:nvPr/>
                            </p:nvSpPr>
                            <p:spPr bwMode="auto">
                              <a:xfrm>
                                <a:off x="1779980" y="5827771"/>
                                <a:ext cx="28020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>
                                  <a:defRPr/>
                                </a:pPr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16</a:t>
                                </a:r>
                                <a:endParaRPr dirty="0"/>
                              </a:p>
                            </p:txBody>
                          </p:sp>
                          <p:sp>
                            <p:nvSpPr>
                              <p:cNvPr id="2124" name="ZoneTexte 2123"/>
                              <p:cNvSpPr txBox="1"/>
                              <p:nvPr/>
                            </p:nvSpPr>
                            <p:spPr bwMode="auto">
                              <a:xfrm>
                                <a:off x="102655" y="6104926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5" name="ZoneTexte 2124"/>
                              <p:cNvSpPr txBox="1"/>
                              <p:nvPr/>
                            </p:nvSpPr>
                            <p:spPr bwMode="auto">
                              <a:xfrm>
                                <a:off x="114904" y="7206475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6" name="ZoneTexte 2125"/>
                              <p:cNvSpPr txBox="1"/>
                              <p:nvPr/>
                            </p:nvSpPr>
                            <p:spPr bwMode="auto">
                              <a:xfrm>
                                <a:off x="114904" y="8292387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7" name="ZoneTexte 2126"/>
                              <p:cNvSpPr txBox="1"/>
                              <p:nvPr/>
                            </p:nvSpPr>
                            <p:spPr bwMode="auto">
                              <a:xfrm>
                                <a:off x="108849" y="940662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8" name="ZoneTexte 2127"/>
                              <p:cNvSpPr txBox="1"/>
                              <p:nvPr/>
                            </p:nvSpPr>
                            <p:spPr bwMode="auto">
                              <a:xfrm>
                                <a:off x="93710" y="10490660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9" name="ZoneTexte 2128"/>
                              <p:cNvSpPr txBox="1"/>
                              <p:nvPr/>
                            </p:nvSpPr>
                            <p:spPr bwMode="auto">
                              <a:xfrm>
                                <a:off x="111877" y="1159848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2409" name="Zone de texte 78"/>
                        <p:cNvSpPr txBox="1"/>
                        <p:nvPr/>
                      </p:nvSpPr>
                      <p:spPr bwMode="auto">
                        <a:xfrm>
                          <a:off x="1386779" y="5514059"/>
                          <a:ext cx="643915" cy="188413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700" dirty="0">
                              <a:solidFill>
                                <a:srgbClr val="7F6000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Sauvegarde</a:t>
                          </a:r>
                          <a:endParaRPr lang="fr-FR" sz="1100" dirty="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cxnSp>
                      <p:nvCxnSpPr>
                        <p:cNvPr id="2410" name="Connecteur droit 2409"/>
                        <p:cNvCxnSpPr/>
                        <p:nvPr/>
                      </p:nvCxnSpPr>
                      <p:spPr bwMode="auto">
                        <a:xfrm>
                          <a:off x="1328634" y="5548939"/>
                          <a:ext cx="695592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rgbClr val="7F60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2407" name="ZoneTexte 2406"/>
                      <p:cNvSpPr txBox="1"/>
                      <p:nvPr/>
                    </p:nvSpPr>
                    <p:spPr bwMode="auto">
                      <a:xfrm>
                        <a:off x="62870" y="1637165"/>
                        <a:ext cx="1975189" cy="415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>
                          <a:defRPr/>
                        </a:pP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[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Modif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. = (Base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Equip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. – 10) / 2 ]</a:t>
                        </a:r>
                        <a:r>
                          <a:rPr lang="fr-FR" sz="700" baseline="30000" dirty="0">
                            <a:solidFill>
                              <a:srgbClr val="7F7F7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-</a:t>
                        </a:r>
                        <a:endParaRPr sz="700" dirty="0">
                          <a:latin typeface="Segoe UI" panose="020B0502040204020203" pitchFamily="34" charset="0"/>
                          <a:cs typeface="Segoe UI" panose="020B0502040204020203" pitchFamily="34" charset="0"/>
                        </a:endParaRPr>
                      </a:p>
                      <a:p>
                        <a:pPr algn="ctr">
                          <a:defRPr/>
                        </a:pP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[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Sauv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. = Mod. (+ Bonus de maîtrise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equip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)]</a:t>
                        </a:r>
                      </a:p>
                      <a:p>
                        <a:pPr algn="ctr">
                          <a:defRPr/>
                        </a:pP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[DD. = 10 + Mod.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equip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/>
                            <a:cs typeface="Segoe UI" panose="020B0502040204020203" pitchFamily="34" charset="0"/>
                          </a:rPr>
                          <a:t>]</a:t>
                        </a:r>
                        <a:endParaRPr lang="fr-FR" sz="700" dirty="0"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endParaRPr>
                      </a:p>
                    </p:txBody>
                  </p:sp>
                </p:grpSp>
                <p:grpSp>
                  <p:nvGrpSpPr>
                    <p:cNvPr id="2380" name="Groupe 2379"/>
                    <p:cNvGrpSpPr/>
                    <p:nvPr/>
                  </p:nvGrpSpPr>
                  <p:grpSpPr bwMode="auto">
                    <a:xfrm>
                      <a:off x="47825" y="3253039"/>
                      <a:ext cx="2040126" cy="1033456"/>
                      <a:chOff x="47825" y="5118670"/>
                      <a:chExt cx="2040126" cy="1033456"/>
                    </a:xfrm>
                  </p:grpSpPr>
                  <p:grpSp>
                    <p:nvGrpSpPr>
                      <p:cNvPr id="2382" name="Groupe 2381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3456"/>
                        <a:chOff x="47825" y="5118670"/>
                        <a:chExt cx="2040126" cy="1033456"/>
                      </a:xfrm>
                    </p:grpSpPr>
                    <p:sp>
                      <p:nvSpPr>
                        <p:cNvPr id="2385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 dirty="0">
                              <a:solidFill>
                                <a:srgbClr val="4B0472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Sagesse</a:t>
                          </a:r>
                          <a:endParaRPr lang="fr-FR" sz="1200" dirty="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86" name="Groupe 2385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2245"/>
                          <a:chOff x="47825" y="5262121"/>
                          <a:chExt cx="2040126" cy="1032245"/>
                        </a:xfrm>
                      </p:grpSpPr>
                      <p:pic>
                        <p:nvPicPr>
                          <p:cNvPr id="2387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38"/>
                          <a:stretch/>
                        </p:blipFill>
                        <p:spPr bwMode="auto">
                          <a:xfrm>
                            <a:off x="74217" y="5311274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88" name="Groupe 2387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2245"/>
                            <a:chOff x="47825" y="5274313"/>
                            <a:chExt cx="2040126" cy="1032245"/>
                          </a:xfrm>
                        </p:grpSpPr>
                        <p:grpSp>
                          <p:nvGrpSpPr>
                            <p:cNvPr id="2389" name="Groupe 2388"/>
                            <p:cNvGrpSpPr/>
                            <p:nvPr/>
                          </p:nvGrpSpPr>
                          <p:grpSpPr bwMode="auto">
                            <a:xfrm>
                              <a:off x="91811" y="5531616"/>
                              <a:ext cx="1174930" cy="570173"/>
                              <a:chOff x="-451653" y="14486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4" name="Rectangle : coins arrondis 2403"/>
                              <p:cNvSpPr/>
                              <p:nvPr/>
                            </p:nvSpPr>
                            <p:spPr bwMode="auto">
                              <a:xfrm>
                                <a:off x="-451653" y="37308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5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14486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7030A0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90" name="Groupe 2389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2" name="Rectangle : coins arrondis 2401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3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7030A0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92" name="ZoneTexte 2391"/>
                            <p:cNvSpPr txBox="1"/>
                            <p:nvPr/>
                          </p:nvSpPr>
                          <p:spPr bwMode="auto">
                            <a:xfrm>
                              <a:off x="1056457" y="5930341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93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33252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7030A0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7030A0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394" name="ZoneTexte 2393"/>
                            <p:cNvSpPr txBox="1"/>
                            <p:nvPr/>
                          </p:nvSpPr>
                          <p:spPr bwMode="auto">
                            <a:xfrm>
                              <a:off x="157845" y="5934969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95" name="ZoneTexte 2394"/>
                            <p:cNvSpPr txBox="1"/>
                            <p:nvPr/>
                          </p:nvSpPr>
                          <p:spPr bwMode="auto">
                            <a:xfrm>
                              <a:off x="1278440" y="5524737"/>
                              <a:ext cx="8095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/2+1]</a:t>
                              </a:r>
                              <a:r>
                                <a:rPr lang="fr-FR" sz="800" baseline="30000" dirty="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 dirty="0"/>
                            </a:p>
                          </p:txBody>
                        </p:sp>
                        <p:cxnSp>
                          <p:nvCxnSpPr>
                            <p:cNvPr id="2396" name="Connecteur droit 2395"/>
                            <p:cNvCxnSpPr>
                              <a:stCxn id="2404" idx="0"/>
                              <a:endCxn id="2404" idx="2"/>
                            </p:cNvCxnSpPr>
                            <p:nvPr/>
                          </p:nvCxnSpPr>
                          <p:spPr bwMode="auto">
                            <a:xfrm>
                              <a:off x="679275" y="5561790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97" name="ZoneTexte 2396"/>
                            <p:cNvSpPr txBox="1"/>
                            <p:nvPr/>
                          </p:nvSpPr>
                          <p:spPr bwMode="auto">
                            <a:xfrm>
                              <a:off x="47825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98" name="ZoneTexte 2397"/>
                            <p:cNvSpPr txBox="1"/>
                            <p:nvPr/>
                          </p:nvSpPr>
                          <p:spPr bwMode="auto">
                            <a:xfrm>
                              <a:off x="631664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99" name="ZoneTexte 2398"/>
                            <p:cNvSpPr txBox="1"/>
                            <p:nvPr/>
                          </p:nvSpPr>
                          <p:spPr bwMode="auto">
                            <a:xfrm>
                              <a:off x="1267947" y="5681093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400" name="ZoneTexte 2399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401" name="ZoneTexte 2400"/>
                            <p:cNvSpPr txBox="1"/>
                            <p:nvPr/>
                          </p:nvSpPr>
                          <p:spPr bwMode="auto">
                            <a:xfrm>
                              <a:off x="1776867" y="5837903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83" name="Zone de texte 78"/>
                      <p:cNvSpPr txBox="1"/>
                      <p:nvPr/>
                    </p:nvSpPr>
                    <p:spPr bwMode="auto">
                      <a:xfrm>
                        <a:off x="1393333" y="5520184"/>
                        <a:ext cx="64391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 dirty="0">
                            <a:solidFill>
                              <a:srgbClr val="7030A0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 dirty="0">
                          <a:solidFill>
                            <a:srgbClr val="7030A0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384" name="Connecteur droit 2383"/>
                      <p:cNvCxnSpPr/>
                      <p:nvPr/>
                    </p:nvCxnSpPr>
                    <p:spPr bwMode="auto">
                      <a:xfrm>
                        <a:off x="1328634" y="5551787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54" name="Groupe 2353"/>
                    <p:cNvGrpSpPr/>
                    <p:nvPr/>
                  </p:nvGrpSpPr>
                  <p:grpSpPr bwMode="auto">
                    <a:xfrm>
                      <a:off x="46800" y="4349845"/>
                      <a:ext cx="2040126" cy="1033456"/>
                      <a:chOff x="47825" y="5118670"/>
                      <a:chExt cx="2040126" cy="1033456"/>
                    </a:xfrm>
                  </p:grpSpPr>
                  <p:grpSp>
                    <p:nvGrpSpPr>
                      <p:cNvPr id="2356" name="Groupe 2355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3456"/>
                        <a:chOff x="47825" y="5118670"/>
                        <a:chExt cx="2040126" cy="1033456"/>
                      </a:xfrm>
                    </p:grpSpPr>
                    <p:sp>
                      <p:nvSpPr>
                        <p:cNvPr id="2359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5D4037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Force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60" name="Groupe 2359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2245"/>
                          <a:chOff x="47825" y="5262121"/>
                          <a:chExt cx="2040126" cy="1032245"/>
                        </a:xfrm>
                      </p:grpSpPr>
                      <p:pic>
                        <p:nvPicPr>
                          <p:cNvPr id="2361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39"/>
                          <a:stretch/>
                        </p:blipFill>
                        <p:spPr bwMode="auto">
                          <a:xfrm>
                            <a:off x="75242" y="5309538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62" name="Groupe 2361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2245"/>
                            <a:chOff x="47825" y="5274313"/>
                            <a:chExt cx="2040126" cy="1032245"/>
                          </a:xfrm>
                        </p:grpSpPr>
                        <p:grpSp>
                          <p:nvGrpSpPr>
                            <p:cNvPr id="2363" name="Groupe 2362"/>
                            <p:cNvGrpSpPr/>
                            <p:nvPr/>
                          </p:nvGrpSpPr>
                          <p:grpSpPr bwMode="auto">
                            <a:xfrm>
                              <a:off x="91811" y="5531620"/>
                              <a:ext cx="1174930" cy="570174"/>
                              <a:chOff x="-451653" y="14484"/>
                              <a:chExt cx="3573719" cy="431254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8" name="Rectangle : coins arrondis 2377"/>
                              <p:cNvSpPr/>
                              <p:nvPr/>
                            </p:nvSpPr>
                            <p:spPr bwMode="auto">
                              <a:xfrm>
                                <a:off x="-451653" y="37307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9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1448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5D403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5D403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64" name="Groupe 2363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6" name="Rectangle : coins arrondis 2375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7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5D403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5D403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66" name="ZoneTexte 2365"/>
                            <p:cNvSpPr txBox="1"/>
                            <p:nvPr/>
                          </p:nvSpPr>
                          <p:spPr bwMode="auto">
                            <a:xfrm>
                              <a:off x="1046930" y="592796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67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3325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5D4037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5D4037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368" name="ZoneTexte 2367"/>
                            <p:cNvSpPr txBox="1"/>
                            <p:nvPr/>
                          </p:nvSpPr>
                          <p:spPr bwMode="auto">
                            <a:xfrm>
                              <a:off x="157845" y="593497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69" name="ZoneTexte 2368"/>
                            <p:cNvSpPr txBox="1"/>
                            <p:nvPr/>
                          </p:nvSpPr>
                          <p:spPr bwMode="auto">
                            <a:xfrm>
                              <a:off x="1253928" y="5525633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/2+1]</a:t>
                              </a:r>
                              <a:r>
                                <a:rPr lang="fr-FR" sz="800" baseline="30000" dirty="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 dirty="0"/>
                            </a:p>
                          </p:txBody>
                        </p:sp>
                        <p:cxnSp>
                          <p:nvCxnSpPr>
                            <p:cNvPr id="2370" name="Connecteur droit 2369"/>
                            <p:cNvCxnSpPr>
                              <a:stCxn id="2378" idx="0"/>
                              <a:endCxn id="2378" idx="2"/>
                            </p:cNvCxnSpPr>
                            <p:nvPr/>
                          </p:nvCxnSpPr>
                          <p:spPr bwMode="auto">
                            <a:xfrm>
                              <a:off x="679275" y="5561794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5D403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71" name="ZoneTexte 2370"/>
                            <p:cNvSpPr txBox="1"/>
                            <p:nvPr/>
                          </p:nvSpPr>
                          <p:spPr bwMode="auto">
                            <a:xfrm>
                              <a:off x="47825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2" name="ZoneTexte 2371"/>
                            <p:cNvSpPr txBox="1"/>
                            <p:nvPr/>
                          </p:nvSpPr>
                          <p:spPr bwMode="auto">
                            <a:xfrm>
                              <a:off x="631664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3" name="ZoneTexte 2372"/>
                            <p:cNvSpPr txBox="1"/>
                            <p:nvPr/>
                          </p:nvSpPr>
                          <p:spPr bwMode="auto">
                            <a:xfrm>
                              <a:off x="1267947" y="5681093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74" name="ZoneTexte 2373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5" name="ZoneTexte 2374"/>
                            <p:cNvSpPr txBox="1"/>
                            <p:nvPr/>
                          </p:nvSpPr>
                          <p:spPr bwMode="auto">
                            <a:xfrm>
                              <a:off x="1767036" y="5851014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57" name="Zone de texte 78"/>
                      <p:cNvSpPr txBox="1"/>
                      <p:nvPr/>
                    </p:nvSpPr>
                    <p:spPr bwMode="auto">
                      <a:xfrm>
                        <a:off x="1360412" y="5523461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 dirty="0">
                            <a:solidFill>
                              <a:srgbClr val="5D4037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 dirty="0">
                          <a:solidFill>
                            <a:srgbClr val="5D4037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358" name="Connecteur droit 2357"/>
                      <p:cNvCxnSpPr/>
                      <p:nvPr/>
                    </p:nvCxnSpPr>
                    <p:spPr bwMode="auto">
                      <a:xfrm>
                        <a:off x="1328634" y="5555064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5D403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20" name="Groupe 2319"/>
                    <p:cNvGrpSpPr/>
                    <p:nvPr/>
                  </p:nvGrpSpPr>
                  <p:grpSpPr bwMode="auto">
                    <a:xfrm>
                      <a:off x="17224" y="5449680"/>
                      <a:ext cx="2069702" cy="1033456"/>
                      <a:chOff x="18249" y="5118670"/>
                      <a:chExt cx="2069702" cy="1033456"/>
                    </a:xfrm>
                  </p:grpSpPr>
                  <p:grpSp>
                    <p:nvGrpSpPr>
                      <p:cNvPr id="2330" name="Groupe 2329"/>
                      <p:cNvGrpSpPr/>
                      <p:nvPr/>
                    </p:nvGrpSpPr>
                    <p:grpSpPr bwMode="auto">
                      <a:xfrm>
                        <a:off x="18249" y="5118670"/>
                        <a:ext cx="2069702" cy="1033456"/>
                        <a:chOff x="18249" y="5118670"/>
                        <a:chExt cx="2069702" cy="1033456"/>
                      </a:xfrm>
                    </p:grpSpPr>
                    <p:sp>
                      <p:nvSpPr>
                        <p:cNvPr id="2333" name="Zone de texte 79"/>
                        <p:cNvSpPr txBox="1"/>
                        <p:nvPr/>
                      </p:nvSpPr>
                      <p:spPr bwMode="auto">
                        <a:xfrm>
                          <a:off x="107241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C62828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Intelligence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34" name="Groupe 2333"/>
                        <p:cNvGrpSpPr/>
                        <p:nvPr/>
                      </p:nvGrpSpPr>
                      <p:grpSpPr bwMode="auto">
                        <a:xfrm>
                          <a:off x="18249" y="5119881"/>
                          <a:ext cx="2069702" cy="1032245"/>
                          <a:chOff x="18249" y="5262121"/>
                          <a:chExt cx="2069702" cy="1032245"/>
                        </a:xfrm>
                      </p:grpSpPr>
                      <p:pic>
                        <p:nvPicPr>
                          <p:cNvPr id="2335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40"/>
                          <a:stretch/>
                        </p:blipFill>
                        <p:spPr bwMode="auto">
                          <a:xfrm>
                            <a:off x="18249" y="5309321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36" name="Groupe 2335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2245"/>
                            <a:chOff x="47825" y="5274313"/>
                            <a:chExt cx="2040126" cy="1032245"/>
                          </a:xfrm>
                        </p:grpSpPr>
                        <p:grpSp>
                          <p:nvGrpSpPr>
                            <p:cNvPr id="2337" name="Groupe 2336"/>
                            <p:cNvGrpSpPr/>
                            <p:nvPr/>
                          </p:nvGrpSpPr>
                          <p:grpSpPr bwMode="auto">
                            <a:xfrm>
                              <a:off x="91811" y="5540538"/>
                              <a:ext cx="1174930" cy="570173"/>
                              <a:chOff x="-451653" y="21231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2" name="Rectangle : coins arrondis 2351"/>
                              <p:cNvSpPr/>
                              <p:nvPr/>
                            </p:nvSpPr>
                            <p:spPr bwMode="auto">
                              <a:xfrm>
                                <a:off x="-451653" y="44053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3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21231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C62828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C62828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38" name="Groupe 2337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0" name="Rectangle : coins arrondis 2349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1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C62828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C62828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40" name="ZoneTexte 2339"/>
                            <p:cNvSpPr txBox="1"/>
                            <p:nvPr/>
                          </p:nvSpPr>
                          <p:spPr bwMode="auto">
                            <a:xfrm>
                              <a:off x="1039786" y="593450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1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C62828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C62828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342" name="ZoneTexte 2341"/>
                            <p:cNvSpPr txBox="1"/>
                            <p:nvPr/>
                          </p:nvSpPr>
                          <p:spPr bwMode="auto"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43" name="ZoneTexte 2342"/>
                            <p:cNvSpPr txBox="1"/>
                            <p:nvPr/>
                          </p:nvSpPr>
                          <p:spPr bwMode="auto">
                            <a:xfrm>
                              <a:off x="1253928" y="5532187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/2+1]</a:t>
                              </a:r>
                              <a:r>
                                <a:rPr lang="fr-FR" sz="800" baseline="30000" dirty="0">
                                  <a:solidFill>
                                    <a:srgbClr val="ED7049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 dirty="0"/>
                            </a:p>
                          </p:txBody>
                        </p:sp>
                        <p:cxnSp>
                          <p:nvCxnSpPr>
                            <p:cNvPr id="2344" name="Connecteur droit 2343"/>
                            <p:cNvCxnSpPr>
                              <a:stCxn id="2352" idx="0"/>
                              <a:endCxn id="2352" idx="2"/>
                            </p:cNvCxnSpPr>
                            <p:nvPr/>
                          </p:nvCxnSpPr>
                          <p:spPr bwMode="auto">
                            <a:xfrm>
                              <a:off x="679275" y="557071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45" name="ZoneTexte 2344"/>
                            <p:cNvSpPr txBox="1"/>
                            <p:nvPr/>
                          </p:nvSpPr>
                          <p:spPr bwMode="auto"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6" name="ZoneTexte 2345"/>
                            <p:cNvSpPr txBox="1"/>
                            <p:nvPr/>
                          </p:nvSpPr>
                          <p:spPr bwMode="auto"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7" name="ZoneTexte 2346"/>
                            <p:cNvSpPr txBox="1"/>
                            <p:nvPr/>
                          </p:nvSpPr>
                          <p:spPr bwMode="auto">
                            <a:xfrm>
                              <a:off x="1267947" y="5697478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8" name="ZoneTexte 2347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9" name="ZoneTexte 2348"/>
                            <p:cNvSpPr txBox="1"/>
                            <p:nvPr/>
                          </p:nvSpPr>
                          <p:spPr bwMode="auto">
                            <a:xfrm>
                              <a:off x="1780144" y="5857565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31" name="Zone de texte 78"/>
                      <p:cNvSpPr txBox="1"/>
                      <p:nvPr/>
                    </p:nvSpPr>
                    <p:spPr bwMode="auto">
                      <a:xfrm>
                        <a:off x="1360412" y="5530015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 dirty="0">
                            <a:solidFill>
                              <a:srgbClr val="C62828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 dirty="0">
                          <a:solidFill>
                            <a:srgbClr val="C62828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332" name="Connecteur droit 2331"/>
                      <p:cNvCxnSpPr/>
                      <p:nvPr/>
                    </p:nvCxnSpPr>
                    <p:spPr bwMode="auto">
                      <a:xfrm>
                        <a:off x="1328634" y="5571449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C0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291" name="Groupe 2290"/>
                    <p:cNvGrpSpPr/>
                    <p:nvPr/>
                  </p:nvGrpSpPr>
                  <p:grpSpPr bwMode="auto">
                    <a:xfrm>
                      <a:off x="46800" y="6530294"/>
                      <a:ext cx="2040126" cy="1033456"/>
                      <a:chOff x="47825" y="5118670"/>
                      <a:chExt cx="2040126" cy="1033456"/>
                    </a:xfrm>
                  </p:grpSpPr>
                  <p:grpSp>
                    <p:nvGrpSpPr>
                      <p:cNvPr id="2294" name="Groupe 2293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3456"/>
                        <a:chOff x="47825" y="5118670"/>
                        <a:chExt cx="2040126" cy="1033456"/>
                      </a:xfrm>
                    </p:grpSpPr>
                    <p:sp>
                      <p:nvSpPr>
                        <p:cNvPr id="2298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385723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Agilité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00" name="Groupe 2299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2245"/>
                          <a:chOff x="47825" y="5262121"/>
                          <a:chExt cx="2040126" cy="1032245"/>
                        </a:xfrm>
                      </p:grpSpPr>
                      <p:pic>
                        <p:nvPicPr>
                          <p:cNvPr id="2301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41"/>
                          <a:stretch/>
                        </p:blipFill>
                        <p:spPr bwMode="auto">
                          <a:xfrm>
                            <a:off x="75242" y="5303663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03" name="Groupe 2302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2245"/>
                            <a:chOff x="47825" y="5274313"/>
                            <a:chExt cx="2040126" cy="1032245"/>
                          </a:xfrm>
                        </p:grpSpPr>
                        <p:grpSp>
                          <p:nvGrpSpPr>
                            <p:cNvPr id="384" name="Groupe 383"/>
                            <p:cNvGrpSpPr/>
                            <p:nvPr/>
                          </p:nvGrpSpPr>
                          <p:grpSpPr bwMode="auto">
                            <a:xfrm>
                              <a:off x="91811" y="5542768"/>
                              <a:ext cx="1174930" cy="570173"/>
                              <a:chOff x="-451653" y="22919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7" name="Rectangle : coins arrondis 2316"/>
                              <p:cNvSpPr/>
                              <p:nvPr/>
                            </p:nvSpPr>
                            <p:spPr bwMode="auto">
                              <a:xfrm>
                                <a:off x="-451653" y="45741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8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22919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385723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385723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07" name="Groupe 406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4" name="Rectangle : coins arrondis 2313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6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385723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385723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15" name="ZoneTexte 414"/>
                            <p:cNvSpPr txBox="1"/>
                            <p:nvPr/>
                          </p:nvSpPr>
                          <p:spPr bwMode="auto">
                            <a:xfrm>
                              <a:off x="1046931" y="5934352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416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44405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385723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385723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452" name="ZoneTexte 451"/>
                            <p:cNvSpPr txBox="1"/>
                            <p:nvPr/>
                          </p:nvSpPr>
                          <p:spPr bwMode="auto">
                            <a:xfrm>
                              <a:off x="157845" y="5946123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04" name="ZoneTexte 2303"/>
                            <p:cNvSpPr txBox="1"/>
                            <p:nvPr/>
                          </p:nvSpPr>
                          <p:spPr bwMode="auto">
                            <a:xfrm>
                              <a:off x="1308040" y="5525633"/>
                              <a:ext cx="7799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/2+1]</a:t>
                              </a:r>
                              <a:r>
                                <a:rPr lang="fr-FR" sz="800" baseline="30000" dirty="0">
                                  <a:solidFill>
                                    <a:srgbClr val="B0D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 dirty="0"/>
                            </a:p>
                          </p:txBody>
                        </p:sp>
                        <p:cxnSp>
                          <p:nvCxnSpPr>
                            <p:cNvPr id="2305" name="Connecteur droit 2304"/>
                            <p:cNvCxnSpPr>
                              <a:stCxn id="2317" idx="0"/>
                              <a:endCxn id="2317" idx="2"/>
                            </p:cNvCxnSpPr>
                            <p:nvPr/>
                          </p:nvCxnSpPr>
                          <p:spPr bwMode="auto">
                            <a:xfrm>
                              <a:off x="679275" y="557294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385723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07" name="ZoneTexte 2306"/>
                            <p:cNvSpPr txBox="1"/>
                            <p:nvPr/>
                          </p:nvSpPr>
                          <p:spPr bwMode="auto">
                            <a:xfrm>
                              <a:off x="47825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08" name="ZoneTexte 2307"/>
                            <p:cNvSpPr txBox="1"/>
                            <p:nvPr/>
                          </p:nvSpPr>
                          <p:spPr bwMode="auto">
                            <a:xfrm>
                              <a:off x="631664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10" name="ZoneTexte 2309"/>
                            <p:cNvSpPr txBox="1"/>
                            <p:nvPr/>
                          </p:nvSpPr>
                          <p:spPr bwMode="auto">
                            <a:xfrm>
                              <a:off x="1267947" y="5684366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11" name="ZoneTexte 2310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13" name="ZoneTexte 2312"/>
                            <p:cNvSpPr txBox="1"/>
                            <p:nvPr/>
                          </p:nvSpPr>
                          <p:spPr bwMode="auto">
                            <a:xfrm>
                              <a:off x="1776867" y="5860838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295" name="Zone de texte 78"/>
                      <p:cNvSpPr txBox="1"/>
                      <p:nvPr/>
                    </p:nvSpPr>
                    <p:spPr bwMode="auto">
                      <a:xfrm>
                        <a:off x="1360412" y="5523461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 dirty="0">
                            <a:solidFill>
                              <a:srgbClr val="385723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 dirty="0">
                          <a:solidFill>
                            <a:srgbClr val="385723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297" name="Connecteur droit 2296"/>
                      <p:cNvCxnSpPr/>
                      <p:nvPr/>
                    </p:nvCxnSpPr>
                    <p:spPr bwMode="auto">
                      <a:xfrm>
                        <a:off x="1328634" y="5555064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385723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32" name="Groupe 331"/>
                    <p:cNvGrpSpPr/>
                    <p:nvPr/>
                  </p:nvGrpSpPr>
                  <p:grpSpPr bwMode="auto">
                    <a:xfrm>
                      <a:off x="47006" y="7638643"/>
                      <a:ext cx="2040126" cy="1033456"/>
                      <a:chOff x="47825" y="5118670"/>
                      <a:chExt cx="2040126" cy="1033456"/>
                    </a:xfrm>
                  </p:grpSpPr>
                  <p:grpSp>
                    <p:nvGrpSpPr>
                      <p:cNvPr id="335" name="Groupe 334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3456"/>
                        <a:chOff x="47825" y="5118670"/>
                        <a:chExt cx="2040126" cy="1033456"/>
                      </a:xfrm>
                    </p:grpSpPr>
                    <p:sp>
                      <p:nvSpPr>
                        <p:cNvPr id="347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2F5597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Chance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351" name="Groupe 350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2245"/>
                          <a:chOff x="47825" y="5262121"/>
                          <a:chExt cx="2040126" cy="1032245"/>
                        </a:xfrm>
                      </p:grpSpPr>
                      <p:pic>
                        <p:nvPicPr>
                          <p:cNvPr id="2256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42"/>
                          <a:stretch/>
                        </p:blipFill>
                        <p:spPr bwMode="auto">
                          <a:xfrm>
                            <a:off x="75036" y="5295306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257" name="Groupe 2256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2245"/>
                            <a:chOff x="47825" y="5274313"/>
                            <a:chExt cx="2040126" cy="1032245"/>
                          </a:xfrm>
                        </p:grpSpPr>
                        <p:grpSp>
                          <p:nvGrpSpPr>
                            <p:cNvPr id="2258" name="Groupe 2257"/>
                            <p:cNvGrpSpPr/>
                            <p:nvPr/>
                          </p:nvGrpSpPr>
                          <p:grpSpPr bwMode="auto">
                            <a:xfrm>
                              <a:off x="91811" y="5540538"/>
                              <a:ext cx="1174930" cy="570173"/>
                              <a:chOff x="-451653" y="21234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8" name="Rectangle : coins arrondis 2287"/>
                              <p:cNvSpPr/>
                              <p:nvPr/>
                            </p:nvSpPr>
                            <p:spPr bwMode="auto">
                              <a:xfrm>
                                <a:off x="-451653" y="44056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9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2123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2F559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2F5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260" name="Groupe 2259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5" name="Rectangle : coins arrondis 2284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6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2F559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2F5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263" name="ZoneTexte 2262"/>
                            <p:cNvSpPr txBox="1"/>
                            <p:nvPr/>
                          </p:nvSpPr>
                          <p:spPr bwMode="auto">
                            <a:xfrm>
                              <a:off x="1037405" y="5932123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64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2F5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2F5597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266" name="ZoneTexte 2265"/>
                            <p:cNvSpPr txBox="1"/>
                            <p:nvPr/>
                          </p:nvSpPr>
                          <p:spPr bwMode="auto"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267" name="ZoneTexte 2266"/>
                            <p:cNvSpPr txBox="1"/>
                            <p:nvPr/>
                          </p:nvSpPr>
                          <p:spPr bwMode="auto">
                            <a:xfrm>
                              <a:off x="1284022" y="5535464"/>
                              <a:ext cx="80392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/2+1]</a:t>
                              </a:r>
                              <a:r>
                                <a:rPr lang="fr-FR" sz="800" baseline="30000" dirty="0">
                                  <a:solidFill>
                                    <a:srgbClr val="8FAADC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 dirty="0"/>
                            </a:p>
                          </p:txBody>
                        </p:sp>
                        <p:cxnSp>
                          <p:nvCxnSpPr>
                            <p:cNvPr id="2269" name="Connecteur droit 2268"/>
                            <p:cNvCxnSpPr>
                              <a:stCxn id="2288" idx="0"/>
                              <a:endCxn id="2288" idx="2"/>
                            </p:cNvCxnSpPr>
                            <p:nvPr/>
                          </p:nvCxnSpPr>
                          <p:spPr bwMode="auto">
                            <a:xfrm>
                              <a:off x="679275" y="557071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2F559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272" name="ZoneTexte 2271"/>
                            <p:cNvSpPr txBox="1"/>
                            <p:nvPr/>
                          </p:nvSpPr>
                          <p:spPr bwMode="auto"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78" name="ZoneTexte 2277"/>
                            <p:cNvSpPr txBox="1"/>
                            <p:nvPr/>
                          </p:nvSpPr>
                          <p:spPr bwMode="auto"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79" name="ZoneTexte 2278"/>
                            <p:cNvSpPr txBox="1"/>
                            <p:nvPr/>
                          </p:nvSpPr>
                          <p:spPr bwMode="auto">
                            <a:xfrm>
                              <a:off x="1267947" y="5690924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282" name="ZoneTexte 2281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83" name="ZoneTexte 2282"/>
                            <p:cNvSpPr txBox="1"/>
                            <p:nvPr/>
                          </p:nvSpPr>
                          <p:spPr bwMode="auto">
                            <a:xfrm>
                              <a:off x="1776865" y="5866378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37" name="Zone de texte 78"/>
                      <p:cNvSpPr txBox="1"/>
                      <p:nvPr/>
                    </p:nvSpPr>
                    <p:spPr bwMode="auto">
                      <a:xfrm>
                        <a:off x="1360412" y="5533292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 dirty="0">
                            <a:solidFill>
                              <a:srgbClr val="2F5597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 dirty="0">
                          <a:solidFill>
                            <a:srgbClr val="2F5597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338" name="Connecteur droit 337"/>
                      <p:cNvCxnSpPr/>
                      <p:nvPr/>
                    </p:nvCxnSpPr>
                    <p:spPr bwMode="auto">
                      <a:xfrm>
                        <a:off x="1328634" y="5564895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2F559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73" name="ZoneTexte 272"/>
                  <p:cNvSpPr txBox="1"/>
                  <p:nvPr/>
                </p:nvSpPr>
                <p:spPr bwMode="auto">
                  <a:xfrm>
                    <a:off x="90785" y="2837546"/>
                    <a:ext cx="195512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/>
                        <a:cs typeface="Segoe UI"/>
                      </a:rPr>
                      <a:t>Caractéristiques</a:t>
                    </a:r>
                    <a:endParaRPr lang="fr-FR" sz="1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/>
                      <a:cs typeface="Segoe UI"/>
                    </a:endParaRPr>
                  </a:p>
                </p:txBody>
              </p:sp>
            </p:grpSp>
            <p:sp>
              <p:nvSpPr>
                <p:cNvPr id="2089" name="Ellipse 2088"/>
                <p:cNvSpPr/>
                <p:nvPr/>
              </p:nvSpPr>
              <p:spPr bwMode="auto">
                <a:xfrm>
                  <a:off x="1946835" y="4039298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F6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fr-FR" sz="500">
                      <a:solidFill>
                        <a:srgbClr val="BF9000"/>
                      </a:solidFill>
                      <a:latin typeface="Segoe UI Semilight"/>
                      <a:cs typeface="Segoe UI Semilight"/>
                    </a:rPr>
                    <a:t>M</a:t>
                  </a:r>
                  <a:endParaRPr/>
                </a:p>
              </p:txBody>
            </p:sp>
            <p:sp>
              <p:nvSpPr>
                <p:cNvPr id="2101" name="Ellipse 2100"/>
                <p:cNvSpPr/>
                <p:nvPr/>
              </p:nvSpPr>
              <p:spPr bwMode="auto">
                <a:xfrm>
                  <a:off x="1945489" y="5144778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fr-FR" sz="500">
                      <a:solidFill>
                        <a:srgbClr val="B381D9"/>
                      </a:solidFill>
                      <a:latin typeface="Segoe UI Semilight"/>
                      <a:cs typeface="Segoe UI Semilight"/>
                    </a:rPr>
                    <a:t>M</a:t>
                  </a:r>
                  <a:endParaRPr lang="fr-FR" sz="1200">
                    <a:solidFill>
                      <a:srgbClr val="B381D9"/>
                    </a:solidFill>
                  </a:endParaRPr>
                </a:p>
              </p:txBody>
            </p:sp>
          </p:grpSp>
          <p:sp>
            <p:nvSpPr>
              <p:cNvPr id="36" name="Ellipse 35"/>
              <p:cNvSpPr/>
              <p:nvPr/>
            </p:nvSpPr>
            <p:spPr bwMode="auto">
              <a:xfrm>
                <a:off x="1941850" y="6253622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5D40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B49F86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>
                  <a:solidFill>
                    <a:srgbClr val="B49F86"/>
                  </a:solidFill>
                </a:endParaRPr>
              </a:p>
            </p:txBody>
          </p:sp>
          <p:sp>
            <p:nvSpPr>
              <p:cNvPr id="66" name="Ellipse 65"/>
              <p:cNvSpPr/>
              <p:nvPr/>
            </p:nvSpPr>
            <p:spPr bwMode="auto">
              <a:xfrm>
                <a:off x="1944765" y="7356230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FFA0A0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 sz="1200">
                  <a:solidFill>
                    <a:srgbClr val="FFA0A0"/>
                  </a:solidFill>
                </a:endParaRPr>
              </a:p>
            </p:txBody>
          </p:sp>
          <p:sp>
            <p:nvSpPr>
              <p:cNvPr id="2067" name="Ellipse 2066"/>
              <p:cNvSpPr/>
              <p:nvPr/>
            </p:nvSpPr>
            <p:spPr bwMode="auto">
              <a:xfrm>
                <a:off x="1938935" y="8439696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857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9BC97B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>
                  <a:solidFill>
                    <a:srgbClr val="9BC97B"/>
                  </a:solidFill>
                </a:endParaRPr>
              </a:p>
            </p:txBody>
          </p:sp>
          <p:sp>
            <p:nvSpPr>
              <p:cNvPr id="2048" name="Ellipse 2047"/>
              <p:cNvSpPr/>
              <p:nvPr/>
            </p:nvSpPr>
            <p:spPr bwMode="auto">
              <a:xfrm>
                <a:off x="1944568" y="9553311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8FAADC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 sz="500">
                  <a:solidFill>
                    <a:srgbClr val="8FAADC"/>
                  </a:solidFill>
                </a:endParaRPr>
              </a:p>
            </p:txBody>
          </p:sp>
        </p:grpSp>
        <p:pic>
          <p:nvPicPr>
            <p:cNvPr id="279" name="Picture 26"/>
            <p:cNvPicPr>
              <a:picLocks noChangeAspect="1" noChangeArrowheads="1"/>
            </p:cNvPicPr>
            <p:nvPr/>
          </p:nvPicPr>
          <p:blipFill rotWithShape="1">
            <a:blip r:embed="rId43"/>
            <a:stretch/>
          </p:blipFill>
          <p:spPr bwMode="auto">
            <a:xfrm>
              <a:off x="1082954" y="3823116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80" name="Picture 26"/>
            <p:cNvPicPr>
              <a:picLocks noChangeAspect="1" noChangeArrowheads="1"/>
            </p:cNvPicPr>
            <p:nvPr/>
          </p:nvPicPr>
          <p:blipFill rotWithShape="1">
            <a:blip r:embed="rId44"/>
            <a:stretch/>
          </p:blipFill>
          <p:spPr bwMode="auto">
            <a:xfrm>
              <a:off x="1082954" y="4588074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82" name="Picture 26"/>
            <p:cNvPicPr>
              <a:picLocks noChangeAspect="1" noChangeArrowheads="1"/>
            </p:cNvPicPr>
            <p:nvPr/>
          </p:nvPicPr>
          <p:blipFill rotWithShape="1">
            <a:blip r:embed="rId45"/>
            <a:stretch/>
          </p:blipFill>
          <p:spPr bwMode="auto">
            <a:xfrm>
              <a:off x="1088163" y="4932278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2" name="Picture 26"/>
            <p:cNvPicPr>
              <a:picLocks noChangeAspect="1" noChangeArrowheads="1"/>
            </p:cNvPicPr>
            <p:nvPr/>
          </p:nvPicPr>
          <p:blipFill rotWithShape="1">
            <a:blip r:embed="rId46"/>
            <a:stretch/>
          </p:blipFill>
          <p:spPr bwMode="auto">
            <a:xfrm>
              <a:off x="1088163" y="5697236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3" name="Picture 26"/>
            <p:cNvPicPr>
              <a:picLocks noChangeAspect="1" noChangeArrowheads="1"/>
            </p:cNvPicPr>
            <p:nvPr/>
          </p:nvPicPr>
          <p:blipFill rotWithShape="1">
            <a:blip r:embed="rId47"/>
            <a:stretch/>
          </p:blipFill>
          <p:spPr bwMode="auto">
            <a:xfrm>
              <a:off x="1091139" y="6025820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4" name="Picture 26"/>
            <p:cNvPicPr>
              <a:picLocks noChangeAspect="1" noChangeArrowheads="1"/>
            </p:cNvPicPr>
            <p:nvPr/>
          </p:nvPicPr>
          <p:blipFill rotWithShape="1">
            <a:blip r:embed="rId48"/>
            <a:stretch/>
          </p:blipFill>
          <p:spPr bwMode="auto">
            <a:xfrm>
              <a:off x="1091139" y="6790778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5" name="Picture 26"/>
            <p:cNvPicPr>
              <a:picLocks noChangeAspect="1" noChangeArrowheads="1"/>
            </p:cNvPicPr>
            <p:nvPr/>
          </p:nvPicPr>
          <p:blipFill rotWithShape="1">
            <a:blip r:embed="rId49"/>
            <a:stretch/>
          </p:blipFill>
          <p:spPr bwMode="auto">
            <a:xfrm>
              <a:off x="1094122" y="7137203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6" name="Picture 26"/>
            <p:cNvPicPr>
              <a:picLocks noChangeAspect="1" noChangeArrowheads="1"/>
            </p:cNvPicPr>
            <p:nvPr/>
          </p:nvPicPr>
          <p:blipFill rotWithShape="1">
            <a:blip r:embed="rId50"/>
            <a:stretch/>
          </p:blipFill>
          <p:spPr bwMode="auto">
            <a:xfrm>
              <a:off x="1094122" y="7902161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7" name="Picture 26"/>
            <p:cNvPicPr>
              <a:picLocks noChangeAspect="1" noChangeArrowheads="1"/>
            </p:cNvPicPr>
            <p:nvPr/>
          </p:nvPicPr>
          <p:blipFill rotWithShape="1">
            <a:blip r:embed="rId51"/>
            <a:stretch/>
          </p:blipFill>
          <p:spPr bwMode="auto">
            <a:xfrm>
              <a:off x="1097102" y="8217367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21" name="Picture 26"/>
            <p:cNvPicPr>
              <a:picLocks noChangeAspect="1" noChangeArrowheads="1"/>
            </p:cNvPicPr>
            <p:nvPr/>
          </p:nvPicPr>
          <p:blipFill rotWithShape="1">
            <a:blip r:embed="rId52"/>
            <a:stretch/>
          </p:blipFill>
          <p:spPr bwMode="auto">
            <a:xfrm>
              <a:off x="1097102" y="8982325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22" name="Picture 26"/>
            <p:cNvPicPr>
              <a:picLocks noChangeAspect="1" noChangeArrowheads="1"/>
            </p:cNvPicPr>
            <p:nvPr/>
          </p:nvPicPr>
          <p:blipFill rotWithShape="1">
            <a:blip r:embed="rId53"/>
            <a:stretch/>
          </p:blipFill>
          <p:spPr bwMode="auto">
            <a:xfrm>
              <a:off x="1100078" y="9330985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23" name="Picture 26"/>
            <p:cNvPicPr>
              <a:picLocks noChangeAspect="1" noChangeArrowheads="1"/>
            </p:cNvPicPr>
            <p:nvPr/>
          </p:nvPicPr>
          <p:blipFill rotWithShape="1">
            <a:blip r:embed="rId54"/>
            <a:stretch/>
          </p:blipFill>
          <p:spPr bwMode="auto">
            <a:xfrm>
              <a:off x="1100078" y="10095943"/>
              <a:ext cx="180000" cy="180000"/>
            </a:xfrm>
            <a:prstGeom prst="rect">
              <a:avLst/>
            </a:prstGeom>
            <a:noFill/>
          </p:spPr>
        </p:pic>
      </p:grpSp>
      <p:grpSp>
        <p:nvGrpSpPr>
          <p:cNvPr id="1907360999" name="Groupe 2137"/>
          <p:cNvGrpSpPr/>
          <p:nvPr/>
        </p:nvGrpSpPr>
        <p:grpSpPr bwMode="auto">
          <a:xfrm>
            <a:off x="7718459" y="4407040"/>
            <a:ext cx="1398216" cy="582433"/>
            <a:chOff x="7755648" y="4330242"/>
            <a:chExt cx="1398216" cy="582433"/>
          </a:xfrm>
        </p:grpSpPr>
        <p:grpSp>
          <p:nvGrpSpPr>
            <p:cNvPr id="2136" name="Groupe 2135"/>
            <p:cNvGrpSpPr/>
            <p:nvPr/>
          </p:nvGrpSpPr>
          <p:grpSpPr bwMode="auto">
            <a:xfrm>
              <a:off x="7755648" y="4330242"/>
              <a:ext cx="1398216" cy="430887"/>
              <a:chOff x="7624283" y="4413279"/>
              <a:chExt cx="1398216" cy="430887"/>
            </a:xfrm>
          </p:grpSpPr>
          <p:sp>
            <p:nvSpPr>
              <p:cNvPr id="2131" name="ZoneTexte 2130"/>
              <p:cNvSpPr txBox="1"/>
              <p:nvPr/>
            </p:nvSpPr>
            <p:spPr bwMode="auto">
              <a:xfrm>
                <a:off x="7624283" y="4413279"/>
                <a:ext cx="737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1100">
                    <a:solidFill>
                      <a:srgbClr val="595959"/>
                    </a:solidFill>
                    <a:latin typeface="Segoe UI"/>
                    <a:cs typeface="Segoe UI"/>
                  </a:rPr>
                  <a:t>Bonus de Soin</a:t>
                </a:r>
                <a:endParaRPr lang="fr-FR" sz="1400">
                  <a:solidFill>
                    <a:srgbClr val="595959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2132" name="Rectangle : coins arrondis 2131"/>
              <p:cNvSpPr/>
              <p:nvPr/>
            </p:nvSpPr>
            <p:spPr bwMode="auto">
              <a:xfrm>
                <a:off x="8352128" y="4460748"/>
                <a:ext cx="620879" cy="338555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endParaRPr lang="fr-FR" sz="1200" b="1">
                  <a:solidFill>
                    <a:schemeClr val="accent2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133" name="ZoneTexte 2132"/>
              <p:cNvSpPr txBox="1"/>
              <p:nvPr/>
            </p:nvSpPr>
            <p:spPr bwMode="auto">
              <a:xfrm>
                <a:off x="8313499" y="4442683"/>
                <a:ext cx="1659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A6A6A6"/>
                    </a:solidFill>
                    <a:latin typeface="Segoe UI"/>
                    <a:cs typeface="Segoe UI"/>
                  </a:rPr>
                  <a:t>0</a:t>
                </a:r>
                <a:endParaRPr lang="fr-FR" sz="1100">
                  <a:solidFill>
                    <a:srgbClr val="A6A6A6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2134" name="ZoneTexte 2133"/>
              <p:cNvSpPr txBox="1"/>
              <p:nvPr/>
            </p:nvSpPr>
            <p:spPr bwMode="auto">
              <a:xfrm>
                <a:off x="8753865" y="4629446"/>
                <a:ext cx="26863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A6A6A6"/>
                    </a:solidFill>
                    <a:latin typeface="Segoe UI"/>
                    <a:cs typeface="Segoe UI"/>
                  </a:rPr>
                  <a:t>7</a:t>
                </a:r>
                <a:endParaRPr/>
              </a:p>
            </p:txBody>
          </p:sp>
          <p:pic>
            <p:nvPicPr>
              <p:cNvPr id="2135" name="Picture 38"/>
              <p:cNvPicPr>
                <a:picLocks noChangeAspect="1" noChangeArrowheads="1"/>
              </p:cNvPicPr>
              <p:nvPr/>
            </p:nvPicPr>
            <p:blipFill rotWithShape="1">
              <a:blip r:embed="rId55"/>
              <a:stretch/>
            </p:blipFill>
            <p:spPr bwMode="auto">
              <a:xfrm>
                <a:off x="7693494" y="4462803"/>
                <a:ext cx="165920" cy="165920"/>
              </a:xfrm>
              <a:prstGeom prst="rect">
                <a:avLst/>
              </a:prstGeom>
              <a:noFill/>
            </p:spPr>
          </p:pic>
        </p:grpSp>
        <p:sp>
          <p:nvSpPr>
            <p:cNvPr id="2137" name="ZoneTexte 2136"/>
            <p:cNvSpPr txBox="1"/>
            <p:nvPr/>
          </p:nvSpPr>
          <p:spPr bwMode="auto">
            <a:xfrm>
              <a:off x="8544358" y="4698256"/>
              <a:ext cx="559240" cy="2144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800">
                  <a:solidFill>
                    <a:srgbClr val="BFBFBF"/>
                  </a:solidFill>
                  <a:latin typeface="Segoe UI"/>
                  <a:ea typeface="Calibri"/>
                  <a:cs typeface="Segoe UI"/>
                </a:rPr>
                <a:t>[equip.]</a:t>
              </a:r>
              <a:endParaRPr lang="fr-FR" sz="4000">
                <a:latin typeface="Segoe UI"/>
                <a:ea typeface="Calibri"/>
                <a:cs typeface="Segoe UI"/>
              </a:endParaRPr>
            </a:p>
          </p:txBody>
        </p:sp>
      </p:grp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98455AD-081D-ABE7-6810-74AE8722D9D2}"/>
              </a:ext>
            </a:extLst>
          </p:cNvPr>
          <p:cNvCxnSpPr/>
          <p:nvPr/>
        </p:nvCxnSpPr>
        <p:spPr bwMode="auto">
          <a:xfrm>
            <a:off x="1332601" y="4687279"/>
            <a:ext cx="695592" cy="0"/>
          </a:xfrm>
          <a:prstGeom prst="line">
            <a:avLst/>
          </a:prstGeom>
          <a:ln w="12700">
            <a:solidFill>
              <a:srgbClr val="7F6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B6566E3-CAF4-4F9C-AFF4-06F2027BA212}"/>
              </a:ext>
            </a:extLst>
          </p:cNvPr>
          <p:cNvCxnSpPr/>
          <p:nvPr/>
        </p:nvCxnSpPr>
        <p:spPr bwMode="auto">
          <a:xfrm>
            <a:off x="1332601" y="5792563"/>
            <a:ext cx="695592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38030A9-47D3-7998-4FED-99060F4C603D}"/>
              </a:ext>
            </a:extLst>
          </p:cNvPr>
          <p:cNvCxnSpPr/>
          <p:nvPr/>
        </p:nvCxnSpPr>
        <p:spPr bwMode="auto">
          <a:xfrm>
            <a:off x="1332601" y="6895924"/>
            <a:ext cx="695592" cy="0"/>
          </a:xfrm>
          <a:prstGeom prst="line">
            <a:avLst/>
          </a:prstGeom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65444E1-70B0-7613-23D5-73E4DA3E9A3F}"/>
              </a:ext>
            </a:extLst>
          </p:cNvPr>
          <p:cNvCxnSpPr/>
          <p:nvPr/>
        </p:nvCxnSpPr>
        <p:spPr bwMode="auto">
          <a:xfrm>
            <a:off x="1332601" y="8008864"/>
            <a:ext cx="69559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4876E363-5FA4-427C-AD9E-A6AA6BD15803}"/>
              </a:ext>
            </a:extLst>
          </p:cNvPr>
          <p:cNvCxnSpPr/>
          <p:nvPr/>
        </p:nvCxnSpPr>
        <p:spPr bwMode="auto">
          <a:xfrm>
            <a:off x="1328489" y="9082925"/>
            <a:ext cx="695592" cy="0"/>
          </a:xfrm>
          <a:prstGeom prst="line">
            <a:avLst/>
          </a:prstGeom>
          <a:ln w="12700"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525D8668-513A-35C2-8A9E-C62E30C88AB2}"/>
              </a:ext>
            </a:extLst>
          </p:cNvPr>
          <p:cNvCxnSpPr/>
          <p:nvPr/>
        </p:nvCxnSpPr>
        <p:spPr bwMode="auto">
          <a:xfrm>
            <a:off x="1328489" y="10201103"/>
            <a:ext cx="695592" cy="0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7224832" name="ZoneTexte 627224831">
            <a:extLst>
              <a:ext uri="{FF2B5EF4-FFF2-40B4-BE49-F238E27FC236}">
                <a16:creationId xmlns:a16="http://schemas.microsoft.com/office/drawing/2014/main" id="{674CCD99-F919-8FB5-BB17-CC9D2EA08717}"/>
              </a:ext>
            </a:extLst>
          </p:cNvPr>
          <p:cNvSpPr txBox="1"/>
          <p:nvPr/>
        </p:nvSpPr>
        <p:spPr bwMode="auto">
          <a:xfrm>
            <a:off x="1262107" y="4656191"/>
            <a:ext cx="2680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600" dirty="0">
                <a:solidFill>
                  <a:schemeClr val="accent4">
                    <a:lumMod val="75000"/>
                  </a:schemeClr>
                </a:solidFill>
                <a:latin typeface="Segoe UI"/>
                <a:cs typeface="Segoe UI"/>
              </a:rPr>
              <a:t>10</a:t>
            </a:r>
            <a:endParaRPr dirty="0"/>
          </a:p>
        </p:txBody>
      </p:sp>
      <p:sp>
        <p:nvSpPr>
          <p:cNvPr id="627224833" name="ZoneTexte 627224832">
            <a:extLst>
              <a:ext uri="{FF2B5EF4-FFF2-40B4-BE49-F238E27FC236}">
                <a16:creationId xmlns:a16="http://schemas.microsoft.com/office/drawing/2014/main" id="{515EC4F1-C727-E7A8-5608-F977D6DF9042}"/>
              </a:ext>
            </a:extLst>
          </p:cNvPr>
          <p:cNvSpPr txBox="1"/>
          <p:nvPr/>
        </p:nvSpPr>
        <p:spPr bwMode="auto">
          <a:xfrm>
            <a:off x="1773139" y="4848654"/>
            <a:ext cx="280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600" dirty="0">
                <a:solidFill>
                  <a:schemeClr val="accent4">
                    <a:lumMod val="75000"/>
                  </a:schemeClr>
                </a:solidFill>
                <a:latin typeface="Segoe UI"/>
                <a:cs typeface="Segoe UI"/>
              </a:rPr>
              <a:t>22</a:t>
            </a:r>
            <a:endParaRPr dirty="0"/>
          </a:p>
        </p:txBody>
      </p:sp>
      <p:sp>
        <p:nvSpPr>
          <p:cNvPr id="627224834" name="Zone de texte 78">
            <a:extLst>
              <a:ext uri="{FF2B5EF4-FFF2-40B4-BE49-F238E27FC236}">
                <a16:creationId xmlns:a16="http://schemas.microsoft.com/office/drawing/2014/main" id="{2167F57F-188C-3C39-2014-3F188180F07D}"/>
              </a:ext>
            </a:extLst>
          </p:cNvPr>
          <p:cNvSpPr txBox="1"/>
          <p:nvPr/>
        </p:nvSpPr>
        <p:spPr bwMode="auto">
          <a:xfrm>
            <a:off x="1370787" y="4643660"/>
            <a:ext cx="643915" cy="18841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defRPr/>
            </a:pPr>
            <a:r>
              <a:rPr lang="fr-FR" sz="700" dirty="0">
                <a:solidFill>
                  <a:srgbClr val="7F6000"/>
                </a:solidFill>
                <a:latin typeface="Segoe UI"/>
                <a:ea typeface="Calibri"/>
                <a:cs typeface="Segoe UI"/>
              </a:rPr>
              <a:t>DD de </a:t>
            </a:r>
            <a:r>
              <a:rPr lang="fr-FR" sz="700" dirty="0" err="1">
                <a:solidFill>
                  <a:srgbClr val="7F6000"/>
                </a:solidFill>
                <a:latin typeface="Segoe UI"/>
                <a:ea typeface="Calibri"/>
                <a:cs typeface="Segoe UI"/>
              </a:rPr>
              <a:t>save</a:t>
            </a:r>
            <a:endParaRPr lang="fr-FR" sz="1100" dirty="0">
              <a:latin typeface="Segoe UI"/>
              <a:ea typeface="Calibri"/>
              <a:cs typeface="Segoe UI"/>
            </a:endParaRPr>
          </a:p>
        </p:txBody>
      </p:sp>
      <p:sp>
        <p:nvSpPr>
          <p:cNvPr id="627224835" name="ZoneTexte 627224834">
            <a:extLst>
              <a:ext uri="{FF2B5EF4-FFF2-40B4-BE49-F238E27FC236}">
                <a16:creationId xmlns:a16="http://schemas.microsoft.com/office/drawing/2014/main" id="{2EEDAAD8-36F7-1E5C-CC2E-8745CCC4EBC1}"/>
              </a:ext>
            </a:extLst>
          </p:cNvPr>
          <p:cNvSpPr txBox="1"/>
          <p:nvPr/>
        </p:nvSpPr>
        <p:spPr bwMode="auto">
          <a:xfrm>
            <a:off x="1276272" y="5764415"/>
            <a:ext cx="2680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600" dirty="0">
                <a:solidFill>
                  <a:srgbClr val="B381D9"/>
                </a:solidFill>
                <a:latin typeface="Segoe UI"/>
                <a:cs typeface="Segoe UI"/>
              </a:rPr>
              <a:t>10</a:t>
            </a:r>
            <a:endParaRPr dirty="0"/>
          </a:p>
        </p:txBody>
      </p:sp>
      <p:sp>
        <p:nvSpPr>
          <p:cNvPr id="627224836" name="ZoneTexte 627224835">
            <a:extLst>
              <a:ext uri="{FF2B5EF4-FFF2-40B4-BE49-F238E27FC236}">
                <a16:creationId xmlns:a16="http://schemas.microsoft.com/office/drawing/2014/main" id="{3D78B5BD-EB3E-B06D-D11F-551E285D8DFF}"/>
              </a:ext>
            </a:extLst>
          </p:cNvPr>
          <p:cNvSpPr txBox="1"/>
          <p:nvPr/>
        </p:nvSpPr>
        <p:spPr bwMode="auto">
          <a:xfrm>
            <a:off x="1781915" y="5937610"/>
            <a:ext cx="280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600" dirty="0">
                <a:solidFill>
                  <a:srgbClr val="B381D9"/>
                </a:solidFill>
                <a:latin typeface="Segoe UI"/>
                <a:cs typeface="Segoe UI"/>
              </a:rPr>
              <a:t>22</a:t>
            </a:r>
            <a:endParaRPr dirty="0"/>
          </a:p>
        </p:txBody>
      </p:sp>
      <p:sp>
        <p:nvSpPr>
          <p:cNvPr id="627224837" name="Zone de texte 78">
            <a:extLst>
              <a:ext uri="{FF2B5EF4-FFF2-40B4-BE49-F238E27FC236}">
                <a16:creationId xmlns:a16="http://schemas.microsoft.com/office/drawing/2014/main" id="{FC7C13B6-5CBC-60D0-43BE-FB2C9C158C5D}"/>
              </a:ext>
            </a:extLst>
          </p:cNvPr>
          <p:cNvSpPr txBox="1"/>
          <p:nvPr/>
        </p:nvSpPr>
        <p:spPr bwMode="auto">
          <a:xfrm>
            <a:off x="1370786" y="5755636"/>
            <a:ext cx="643915" cy="18841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defRPr/>
            </a:pPr>
            <a:r>
              <a:rPr lang="fr-FR" sz="700" dirty="0">
                <a:solidFill>
                  <a:srgbClr val="7030A0"/>
                </a:solidFill>
                <a:latin typeface="Segoe UI"/>
                <a:ea typeface="Calibri"/>
                <a:cs typeface="Segoe UI"/>
              </a:rPr>
              <a:t>DD de </a:t>
            </a:r>
            <a:r>
              <a:rPr lang="fr-FR" sz="700" dirty="0" err="1">
                <a:solidFill>
                  <a:srgbClr val="7030A0"/>
                </a:solidFill>
                <a:latin typeface="Segoe UI"/>
                <a:ea typeface="Calibri"/>
                <a:cs typeface="Segoe UI"/>
              </a:rPr>
              <a:t>save</a:t>
            </a:r>
            <a:endParaRPr lang="fr-FR" sz="1100" dirty="0">
              <a:solidFill>
                <a:srgbClr val="7030A0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627224838" name="ZoneTexte 627224837">
            <a:extLst>
              <a:ext uri="{FF2B5EF4-FFF2-40B4-BE49-F238E27FC236}">
                <a16:creationId xmlns:a16="http://schemas.microsoft.com/office/drawing/2014/main" id="{951C68FD-5CA7-186B-A82B-1BE34FD3222F}"/>
              </a:ext>
            </a:extLst>
          </p:cNvPr>
          <p:cNvSpPr txBox="1"/>
          <p:nvPr/>
        </p:nvSpPr>
        <p:spPr bwMode="auto">
          <a:xfrm>
            <a:off x="1274050" y="6870250"/>
            <a:ext cx="2680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600" dirty="0">
                <a:solidFill>
                  <a:srgbClr val="B49F86"/>
                </a:solidFill>
                <a:latin typeface="Segoe UI"/>
                <a:cs typeface="Segoe UI"/>
              </a:rPr>
              <a:t>10</a:t>
            </a:r>
            <a:endParaRPr dirty="0"/>
          </a:p>
        </p:txBody>
      </p:sp>
      <p:sp>
        <p:nvSpPr>
          <p:cNvPr id="627224839" name="ZoneTexte 627224838">
            <a:extLst>
              <a:ext uri="{FF2B5EF4-FFF2-40B4-BE49-F238E27FC236}">
                <a16:creationId xmlns:a16="http://schemas.microsoft.com/office/drawing/2014/main" id="{D96B1B40-1364-E7C9-D83D-7EC302792854}"/>
              </a:ext>
            </a:extLst>
          </p:cNvPr>
          <p:cNvSpPr txBox="1"/>
          <p:nvPr/>
        </p:nvSpPr>
        <p:spPr bwMode="auto">
          <a:xfrm>
            <a:off x="1773139" y="7046725"/>
            <a:ext cx="280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600" dirty="0">
                <a:solidFill>
                  <a:srgbClr val="B49F86"/>
                </a:solidFill>
                <a:latin typeface="Segoe UI"/>
                <a:cs typeface="Segoe UI"/>
              </a:rPr>
              <a:t>22</a:t>
            </a:r>
            <a:endParaRPr dirty="0"/>
          </a:p>
        </p:txBody>
      </p:sp>
      <p:sp>
        <p:nvSpPr>
          <p:cNvPr id="627224840" name="Zone de texte 78">
            <a:extLst>
              <a:ext uri="{FF2B5EF4-FFF2-40B4-BE49-F238E27FC236}">
                <a16:creationId xmlns:a16="http://schemas.microsoft.com/office/drawing/2014/main" id="{8FFA4B1B-9FAE-D54F-FC41-DCAFE994DF8A}"/>
              </a:ext>
            </a:extLst>
          </p:cNvPr>
          <p:cNvSpPr txBox="1"/>
          <p:nvPr/>
        </p:nvSpPr>
        <p:spPr bwMode="auto">
          <a:xfrm>
            <a:off x="1376512" y="6869081"/>
            <a:ext cx="676835" cy="18841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defRPr/>
            </a:pPr>
            <a:r>
              <a:rPr lang="fr-FR" sz="700" dirty="0">
                <a:solidFill>
                  <a:srgbClr val="5D4037"/>
                </a:solidFill>
                <a:latin typeface="Segoe UI"/>
                <a:ea typeface="Calibri"/>
                <a:cs typeface="Segoe UI"/>
              </a:rPr>
              <a:t>DD de </a:t>
            </a:r>
            <a:r>
              <a:rPr lang="fr-FR" sz="700" dirty="0" err="1">
                <a:solidFill>
                  <a:srgbClr val="5D4037"/>
                </a:solidFill>
                <a:latin typeface="Segoe UI"/>
                <a:ea typeface="Calibri"/>
                <a:cs typeface="Segoe UI"/>
              </a:rPr>
              <a:t>save</a:t>
            </a:r>
            <a:endParaRPr lang="fr-FR" sz="1100" dirty="0">
              <a:solidFill>
                <a:srgbClr val="5D4037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627224841" name="ZoneTexte 627224840">
            <a:extLst>
              <a:ext uri="{FF2B5EF4-FFF2-40B4-BE49-F238E27FC236}">
                <a16:creationId xmlns:a16="http://schemas.microsoft.com/office/drawing/2014/main" id="{34842E69-26D9-81C4-5686-EAE930ADCA96}"/>
              </a:ext>
            </a:extLst>
          </p:cNvPr>
          <p:cNvSpPr txBox="1"/>
          <p:nvPr/>
        </p:nvSpPr>
        <p:spPr bwMode="auto">
          <a:xfrm>
            <a:off x="1262107" y="7979948"/>
            <a:ext cx="2680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600" dirty="0">
                <a:solidFill>
                  <a:srgbClr val="ED7049"/>
                </a:solidFill>
                <a:latin typeface="Segoe UI"/>
                <a:cs typeface="Segoe UI"/>
              </a:rPr>
              <a:t>10</a:t>
            </a:r>
            <a:endParaRPr dirty="0"/>
          </a:p>
        </p:txBody>
      </p:sp>
      <p:sp>
        <p:nvSpPr>
          <p:cNvPr id="627224842" name="ZoneTexte 627224841">
            <a:extLst>
              <a:ext uri="{FF2B5EF4-FFF2-40B4-BE49-F238E27FC236}">
                <a16:creationId xmlns:a16="http://schemas.microsoft.com/office/drawing/2014/main" id="{420F54C0-BAB3-AB1A-9F73-650AF3DA63F9}"/>
              </a:ext>
            </a:extLst>
          </p:cNvPr>
          <p:cNvSpPr txBox="1"/>
          <p:nvPr/>
        </p:nvSpPr>
        <p:spPr bwMode="auto">
          <a:xfrm>
            <a:off x="1774304" y="8149861"/>
            <a:ext cx="280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600" dirty="0">
                <a:solidFill>
                  <a:srgbClr val="ED7049"/>
                </a:solidFill>
                <a:latin typeface="Segoe UI"/>
                <a:cs typeface="Segoe UI"/>
              </a:rPr>
              <a:t>22</a:t>
            </a:r>
            <a:endParaRPr dirty="0"/>
          </a:p>
        </p:txBody>
      </p:sp>
      <p:sp>
        <p:nvSpPr>
          <p:cNvPr id="627224843" name="Zone de texte 78">
            <a:extLst>
              <a:ext uri="{FF2B5EF4-FFF2-40B4-BE49-F238E27FC236}">
                <a16:creationId xmlns:a16="http://schemas.microsoft.com/office/drawing/2014/main" id="{001D6859-2552-1069-01E6-839B4ACC4EA4}"/>
              </a:ext>
            </a:extLst>
          </p:cNvPr>
          <p:cNvSpPr txBox="1"/>
          <p:nvPr/>
        </p:nvSpPr>
        <p:spPr bwMode="auto">
          <a:xfrm>
            <a:off x="1322347" y="7980535"/>
            <a:ext cx="676835" cy="18841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defRPr/>
            </a:pPr>
            <a:r>
              <a:rPr lang="fr-FR" sz="700" dirty="0">
                <a:solidFill>
                  <a:srgbClr val="C62828"/>
                </a:solidFill>
                <a:latin typeface="Segoe UI"/>
                <a:ea typeface="Calibri"/>
                <a:cs typeface="Segoe UI"/>
              </a:rPr>
              <a:t>DD de </a:t>
            </a:r>
            <a:r>
              <a:rPr lang="fr-FR" sz="700" dirty="0" err="1">
                <a:solidFill>
                  <a:srgbClr val="C62828"/>
                </a:solidFill>
                <a:latin typeface="Segoe UI"/>
                <a:ea typeface="Calibri"/>
                <a:cs typeface="Segoe UI"/>
              </a:rPr>
              <a:t>save</a:t>
            </a:r>
            <a:endParaRPr lang="fr-FR" sz="1100" dirty="0">
              <a:solidFill>
                <a:srgbClr val="C62828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627224844" name="ZoneTexte 627224843">
            <a:extLst>
              <a:ext uri="{FF2B5EF4-FFF2-40B4-BE49-F238E27FC236}">
                <a16:creationId xmlns:a16="http://schemas.microsoft.com/office/drawing/2014/main" id="{A1ED97AE-BF37-47DD-CE1B-A72ADF280B4B}"/>
              </a:ext>
            </a:extLst>
          </p:cNvPr>
          <p:cNvSpPr txBox="1"/>
          <p:nvPr/>
        </p:nvSpPr>
        <p:spPr bwMode="auto">
          <a:xfrm>
            <a:off x="1253482" y="9052362"/>
            <a:ext cx="2680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600" dirty="0">
                <a:solidFill>
                  <a:srgbClr val="76B54B"/>
                </a:solidFill>
                <a:latin typeface="Segoe UI"/>
                <a:cs typeface="Segoe UI"/>
              </a:rPr>
              <a:t>10</a:t>
            </a:r>
            <a:endParaRPr dirty="0"/>
          </a:p>
        </p:txBody>
      </p:sp>
      <p:sp>
        <p:nvSpPr>
          <p:cNvPr id="627224845" name="ZoneTexte 627224844">
            <a:extLst>
              <a:ext uri="{FF2B5EF4-FFF2-40B4-BE49-F238E27FC236}">
                <a16:creationId xmlns:a16="http://schemas.microsoft.com/office/drawing/2014/main" id="{CF5A95E5-EA61-5C25-1899-AAE63DEAAF82}"/>
              </a:ext>
            </a:extLst>
          </p:cNvPr>
          <p:cNvSpPr txBox="1"/>
          <p:nvPr/>
        </p:nvSpPr>
        <p:spPr bwMode="auto">
          <a:xfrm>
            <a:off x="1780087" y="9219920"/>
            <a:ext cx="280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600" dirty="0">
                <a:solidFill>
                  <a:srgbClr val="76B54B"/>
                </a:solidFill>
                <a:latin typeface="Segoe UI"/>
                <a:cs typeface="Segoe UI"/>
              </a:rPr>
              <a:t>22</a:t>
            </a:r>
            <a:endParaRPr dirty="0"/>
          </a:p>
        </p:txBody>
      </p:sp>
      <p:sp>
        <p:nvSpPr>
          <p:cNvPr id="627224846" name="Zone de texte 78">
            <a:extLst>
              <a:ext uri="{FF2B5EF4-FFF2-40B4-BE49-F238E27FC236}">
                <a16:creationId xmlns:a16="http://schemas.microsoft.com/office/drawing/2014/main" id="{5A8AC7F0-1DC6-CB4A-2C0A-BB7640D442E3}"/>
              </a:ext>
            </a:extLst>
          </p:cNvPr>
          <p:cNvSpPr txBox="1"/>
          <p:nvPr/>
        </p:nvSpPr>
        <p:spPr bwMode="auto">
          <a:xfrm>
            <a:off x="1337867" y="9049085"/>
            <a:ext cx="676835" cy="18841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defRPr/>
            </a:pPr>
            <a:r>
              <a:rPr lang="fr-FR" sz="700" dirty="0">
                <a:solidFill>
                  <a:srgbClr val="385723"/>
                </a:solidFill>
                <a:latin typeface="Segoe UI"/>
                <a:ea typeface="Calibri"/>
                <a:cs typeface="Segoe UI"/>
              </a:rPr>
              <a:t>DD de </a:t>
            </a:r>
            <a:r>
              <a:rPr lang="fr-FR" sz="700" dirty="0" err="1">
                <a:solidFill>
                  <a:srgbClr val="385723"/>
                </a:solidFill>
                <a:latin typeface="Segoe UI"/>
                <a:ea typeface="Calibri"/>
                <a:cs typeface="Segoe UI"/>
              </a:rPr>
              <a:t>save</a:t>
            </a:r>
            <a:endParaRPr lang="fr-FR" sz="1100" dirty="0">
              <a:solidFill>
                <a:srgbClr val="385723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627224847" name="ZoneTexte 627224846">
            <a:extLst>
              <a:ext uri="{FF2B5EF4-FFF2-40B4-BE49-F238E27FC236}">
                <a16:creationId xmlns:a16="http://schemas.microsoft.com/office/drawing/2014/main" id="{4728B061-8AF6-1074-739B-6DAD29FDF5F1}"/>
              </a:ext>
            </a:extLst>
          </p:cNvPr>
          <p:cNvSpPr txBox="1"/>
          <p:nvPr/>
        </p:nvSpPr>
        <p:spPr bwMode="auto">
          <a:xfrm>
            <a:off x="1277327" y="10161108"/>
            <a:ext cx="2680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600" dirty="0">
                <a:solidFill>
                  <a:srgbClr val="8FAADC"/>
                </a:solidFill>
                <a:latin typeface="Segoe UI"/>
                <a:cs typeface="Segoe UI"/>
              </a:rPr>
              <a:t>10</a:t>
            </a:r>
            <a:endParaRPr dirty="0"/>
          </a:p>
        </p:txBody>
      </p:sp>
      <p:sp>
        <p:nvSpPr>
          <p:cNvPr id="627224848" name="ZoneTexte 627224847">
            <a:extLst>
              <a:ext uri="{FF2B5EF4-FFF2-40B4-BE49-F238E27FC236}">
                <a16:creationId xmlns:a16="http://schemas.microsoft.com/office/drawing/2014/main" id="{CD849D61-2802-E793-EEFF-E1F1BE3AB9B4}"/>
              </a:ext>
            </a:extLst>
          </p:cNvPr>
          <p:cNvSpPr txBox="1"/>
          <p:nvPr/>
        </p:nvSpPr>
        <p:spPr bwMode="auto">
          <a:xfrm>
            <a:off x="1782968" y="10336562"/>
            <a:ext cx="280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600" dirty="0">
                <a:solidFill>
                  <a:srgbClr val="8FAADC"/>
                </a:solidFill>
                <a:latin typeface="Segoe UI"/>
                <a:cs typeface="Segoe UI"/>
              </a:rPr>
              <a:t>22</a:t>
            </a:r>
            <a:endParaRPr dirty="0"/>
          </a:p>
        </p:txBody>
      </p:sp>
      <p:sp>
        <p:nvSpPr>
          <p:cNvPr id="627224849" name="Zone de texte 78">
            <a:extLst>
              <a:ext uri="{FF2B5EF4-FFF2-40B4-BE49-F238E27FC236}">
                <a16:creationId xmlns:a16="http://schemas.microsoft.com/office/drawing/2014/main" id="{24CE68A8-C78B-4801-5CB2-A061BAA437D8}"/>
              </a:ext>
            </a:extLst>
          </p:cNvPr>
          <p:cNvSpPr txBox="1"/>
          <p:nvPr/>
        </p:nvSpPr>
        <p:spPr bwMode="auto">
          <a:xfrm>
            <a:off x="1366515" y="10157908"/>
            <a:ext cx="676835" cy="18841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defRPr/>
            </a:pPr>
            <a:r>
              <a:rPr lang="fr-FR" sz="700" dirty="0">
                <a:solidFill>
                  <a:srgbClr val="2F5597"/>
                </a:solidFill>
                <a:latin typeface="Segoe UI"/>
                <a:ea typeface="Calibri"/>
                <a:cs typeface="Segoe UI"/>
              </a:rPr>
              <a:t>DD de </a:t>
            </a:r>
            <a:r>
              <a:rPr lang="fr-FR" sz="700" dirty="0" err="1">
                <a:solidFill>
                  <a:srgbClr val="2F5597"/>
                </a:solidFill>
                <a:latin typeface="Segoe UI"/>
                <a:ea typeface="Calibri"/>
                <a:cs typeface="Segoe UI"/>
              </a:rPr>
              <a:t>save</a:t>
            </a:r>
            <a:endParaRPr lang="fr-FR" sz="1100" dirty="0">
              <a:solidFill>
                <a:srgbClr val="2F5597"/>
              </a:solidFill>
              <a:latin typeface="Segoe UI"/>
              <a:ea typeface="Calibr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3688385" name="Imag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450" y="11739135"/>
            <a:ext cx="907803" cy="9078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0512071" name="Groupe 8"/>
          <p:cNvGrpSpPr/>
          <p:nvPr/>
        </p:nvGrpSpPr>
        <p:grpSpPr bwMode="auto">
          <a:xfrm>
            <a:off x="7250648" y="9386"/>
            <a:ext cx="2077721" cy="1168967"/>
            <a:chOff x="309879" y="596816"/>
            <a:chExt cx="2077721" cy="116896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318313" y="596816"/>
              <a:ext cx="659560" cy="659560"/>
            </a:xfrm>
            <a:prstGeom prst="rect">
              <a:avLst/>
            </a:prstGeom>
            <a:noFill/>
          </p:spPr>
        </p:pic>
        <p:sp>
          <p:nvSpPr>
            <p:cNvPr id="19" name="ZoneTexte 18"/>
            <p:cNvSpPr txBox="1"/>
            <p:nvPr/>
          </p:nvSpPr>
          <p:spPr bwMode="auto">
            <a:xfrm>
              <a:off x="801737" y="828832"/>
              <a:ext cx="1139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fr-F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rPr>
                <a:t>Boucliers</a:t>
              </a:r>
              <a:endParaRPr lang="fr-FR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5" name="Rectangle : avec coins arrondis en haut 4"/>
            <p:cNvSpPr/>
            <p:nvPr/>
          </p:nvSpPr>
          <p:spPr bwMode="auto">
            <a:xfrm>
              <a:off x="355600" y="1148080"/>
              <a:ext cx="2032000" cy="23191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600">
                <a:latin typeface="Segoe UI"/>
                <a:cs typeface="Segoe UI"/>
              </a:endParaRPr>
            </a:p>
          </p:txBody>
        </p:sp>
        <p:sp>
          <p:nvSpPr>
            <p:cNvPr id="22" name="Rectangle : avec coins arrondis en haut 21"/>
            <p:cNvSpPr/>
            <p:nvPr/>
          </p:nvSpPr>
          <p:spPr bwMode="auto">
            <a:xfrm rot="10800000">
              <a:off x="355600" y="1378909"/>
              <a:ext cx="2032000" cy="38687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600">
                <a:latin typeface="Segoe UI"/>
                <a:cs typeface="Segoe UI"/>
              </a:endParaRPr>
            </a:p>
          </p:txBody>
        </p:sp>
        <p:sp>
          <p:nvSpPr>
            <p:cNvPr id="6" name="ZoneTexte 5"/>
            <p:cNvSpPr txBox="1"/>
            <p:nvPr/>
          </p:nvSpPr>
          <p:spPr bwMode="auto">
            <a:xfrm>
              <a:off x="309880" y="1121757"/>
              <a:ext cx="4787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5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Equipé</a:t>
              </a:r>
              <a:endParaRPr/>
            </a:p>
          </p:txBody>
        </p:sp>
        <p:sp>
          <p:nvSpPr>
            <p:cNvPr id="24" name="ZoneTexte 23"/>
            <p:cNvSpPr txBox="1"/>
            <p:nvPr/>
          </p:nvSpPr>
          <p:spPr bwMode="auto">
            <a:xfrm>
              <a:off x="309879" y="1347062"/>
              <a:ext cx="4787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5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Effets</a:t>
              </a:r>
              <a:endParaRPr/>
            </a:p>
          </p:txBody>
        </p:sp>
      </p:grpSp>
      <p:grpSp>
        <p:nvGrpSpPr>
          <p:cNvPr id="1104913302" name="Groupe 9"/>
          <p:cNvGrpSpPr/>
          <p:nvPr/>
        </p:nvGrpSpPr>
        <p:grpSpPr bwMode="auto">
          <a:xfrm>
            <a:off x="2556459" y="-17131"/>
            <a:ext cx="2077721" cy="1159346"/>
            <a:chOff x="5310006" y="615765"/>
            <a:chExt cx="2077721" cy="1159346"/>
          </a:xfrm>
        </p:grpSpPr>
        <p:pic>
          <p:nvPicPr>
            <p:cNvPr id="1042" name="Picture 18"/>
            <p:cNvPicPr>
              <a:picLocks noChangeAspect="1" noChangeArrowheads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5310006" y="615765"/>
              <a:ext cx="627891" cy="627891"/>
            </a:xfrm>
            <a:prstGeom prst="rect">
              <a:avLst/>
            </a:prstGeom>
            <a:noFill/>
          </p:spPr>
        </p:pic>
        <p:grpSp>
          <p:nvGrpSpPr>
            <p:cNvPr id="33" name="Groupe 32"/>
            <p:cNvGrpSpPr/>
            <p:nvPr/>
          </p:nvGrpSpPr>
          <p:grpSpPr bwMode="auto">
            <a:xfrm>
              <a:off x="5310006" y="838161"/>
              <a:ext cx="2077721" cy="936950"/>
              <a:chOff x="309879" y="828832"/>
              <a:chExt cx="2077721" cy="936950"/>
            </a:xfrm>
          </p:grpSpPr>
          <p:sp>
            <p:nvSpPr>
              <p:cNvPr id="35" name="ZoneTexte 3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Chapeaux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36" name="Rectangle : avec coins arrondis en haut 3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37" name="Rectangle : avec coins arrondis en haut 3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38" name="ZoneTexte 3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39" name="ZoneTexte 3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413267728" name="Groupe 10"/>
          <p:cNvGrpSpPr/>
          <p:nvPr/>
        </p:nvGrpSpPr>
        <p:grpSpPr bwMode="auto">
          <a:xfrm>
            <a:off x="4854111" y="1078439"/>
            <a:ext cx="2077721" cy="1165647"/>
            <a:chOff x="5853529" y="4531256"/>
            <a:chExt cx="2077721" cy="1165647"/>
          </a:xfrm>
        </p:grpSpPr>
        <p:pic>
          <p:nvPicPr>
            <p:cNvPr id="1044" name="Picture 20"/>
            <p:cNvPicPr>
              <a:picLocks noChangeAspect="1" noChangeArrowheads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5861603" y="4531256"/>
              <a:ext cx="671151" cy="671151"/>
            </a:xfrm>
            <a:prstGeom prst="rect">
              <a:avLst/>
            </a:prstGeom>
            <a:noFill/>
          </p:spPr>
        </p:pic>
        <p:grpSp>
          <p:nvGrpSpPr>
            <p:cNvPr id="44" name="Groupe 43"/>
            <p:cNvGrpSpPr/>
            <p:nvPr/>
          </p:nvGrpSpPr>
          <p:grpSpPr bwMode="auto">
            <a:xfrm>
              <a:off x="5853529" y="4759952"/>
              <a:ext cx="2077721" cy="936950"/>
              <a:chOff x="309879" y="828832"/>
              <a:chExt cx="2077721" cy="936950"/>
            </a:xfrm>
          </p:grpSpPr>
          <p:sp>
            <p:nvSpPr>
              <p:cNvPr id="45" name="ZoneTexte 4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Capes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6" name="Rectangle : avec coins arrondis en haut 4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47" name="Rectangle : avec coins arrondis en haut 4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48" name="ZoneTexte 4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49" name="ZoneTexte 4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620075943" name="Groupe 11"/>
          <p:cNvGrpSpPr/>
          <p:nvPr/>
        </p:nvGrpSpPr>
        <p:grpSpPr bwMode="auto">
          <a:xfrm>
            <a:off x="7165614" y="952048"/>
            <a:ext cx="2162754" cy="1291813"/>
            <a:chOff x="3192972" y="5225068"/>
            <a:chExt cx="2162754" cy="1291813"/>
          </a:xfrm>
        </p:grpSpPr>
        <p:pic>
          <p:nvPicPr>
            <p:cNvPr id="1038" name="Picture 14"/>
            <p:cNvPicPr>
              <a:picLocks noChangeAspect="1" noChangeArrowheads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3192972" y="5225068"/>
              <a:ext cx="952500" cy="952500"/>
            </a:xfrm>
            <a:prstGeom prst="rect">
              <a:avLst/>
            </a:prstGeom>
            <a:noFill/>
          </p:spPr>
        </p:pic>
        <p:grpSp>
          <p:nvGrpSpPr>
            <p:cNvPr id="54" name="Groupe 53"/>
            <p:cNvGrpSpPr/>
            <p:nvPr/>
          </p:nvGrpSpPr>
          <p:grpSpPr bwMode="auto">
            <a:xfrm>
              <a:off x="3278005" y="5579931"/>
              <a:ext cx="2077721" cy="936950"/>
              <a:chOff x="309879" y="828832"/>
              <a:chExt cx="2077721" cy="936950"/>
            </a:xfrm>
          </p:grpSpPr>
          <p:sp>
            <p:nvSpPr>
              <p:cNvPr id="55" name="ZoneTexte 5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Ceintures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56" name="Rectangle : avec coins arrondis en haut 5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57" name="Rectangle : avec coins arrondis en haut 5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58" name="ZoneTexte 5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59" name="ZoneTexte 5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575882735" name="Groupe 12"/>
          <p:cNvGrpSpPr/>
          <p:nvPr/>
        </p:nvGrpSpPr>
        <p:grpSpPr bwMode="auto">
          <a:xfrm>
            <a:off x="2597760" y="1129732"/>
            <a:ext cx="2077721" cy="1126123"/>
            <a:chOff x="415157" y="4148056"/>
            <a:chExt cx="2077721" cy="1126123"/>
          </a:xfrm>
        </p:grpSpPr>
        <p:pic>
          <p:nvPicPr>
            <p:cNvPr id="1040" name="Picture 16"/>
            <p:cNvPicPr>
              <a:picLocks noChangeAspect="1" noChangeArrowheads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493903" y="4148056"/>
              <a:ext cx="613540" cy="613540"/>
            </a:xfrm>
            <a:prstGeom prst="rect">
              <a:avLst/>
            </a:prstGeom>
            <a:noFill/>
          </p:spPr>
        </p:pic>
        <p:grpSp>
          <p:nvGrpSpPr>
            <p:cNvPr id="64" name="Groupe 63"/>
            <p:cNvGrpSpPr/>
            <p:nvPr/>
          </p:nvGrpSpPr>
          <p:grpSpPr bwMode="auto">
            <a:xfrm>
              <a:off x="415157" y="4337229"/>
              <a:ext cx="2077721" cy="936950"/>
              <a:chOff x="309879" y="828832"/>
              <a:chExt cx="2077721" cy="936950"/>
            </a:xfrm>
          </p:grpSpPr>
          <p:sp>
            <p:nvSpPr>
              <p:cNvPr id="65" name="ZoneTexte 6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Bottes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66" name="Rectangle : avec coins arrondis en haut 6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67" name="Rectangle : avec coins arrondis en haut 6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68" name="ZoneTexte 6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69" name="ZoneTexte 6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219265394" name="Groupe 13"/>
          <p:cNvGrpSpPr/>
          <p:nvPr/>
        </p:nvGrpSpPr>
        <p:grpSpPr bwMode="auto">
          <a:xfrm>
            <a:off x="272830" y="53357"/>
            <a:ext cx="2077721" cy="1077064"/>
            <a:chOff x="929598" y="6506409"/>
            <a:chExt cx="2077721" cy="1077064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1040045" y="6506409"/>
              <a:ext cx="521542" cy="521542"/>
            </a:xfrm>
            <a:prstGeom prst="rect">
              <a:avLst/>
            </a:prstGeom>
            <a:noFill/>
          </p:spPr>
        </p:pic>
        <p:grpSp>
          <p:nvGrpSpPr>
            <p:cNvPr id="80" name="Groupe 79"/>
            <p:cNvGrpSpPr/>
            <p:nvPr/>
          </p:nvGrpSpPr>
          <p:grpSpPr bwMode="auto">
            <a:xfrm>
              <a:off x="929598" y="6646523"/>
              <a:ext cx="2077721" cy="936950"/>
              <a:chOff x="309879" y="828832"/>
              <a:chExt cx="2077721" cy="936950"/>
            </a:xfrm>
          </p:grpSpPr>
          <p:sp>
            <p:nvSpPr>
              <p:cNvPr id="81" name="ZoneTexte 80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Amulettes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82" name="Rectangle : avec coins arrondis en haut 81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83" name="Rectangle : avec coins arrondis en haut 82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84" name="ZoneTexte 83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85" name="ZoneTexte 84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404293151" name="Groupe 14"/>
          <p:cNvGrpSpPr/>
          <p:nvPr/>
        </p:nvGrpSpPr>
        <p:grpSpPr bwMode="auto">
          <a:xfrm>
            <a:off x="2560181" y="2219392"/>
            <a:ext cx="2242014" cy="1161273"/>
            <a:chOff x="4290740" y="9132259"/>
            <a:chExt cx="2242014" cy="1161273"/>
          </a:xfrm>
        </p:grpSpPr>
        <p:pic>
          <p:nvPicPr>
            <p:cNvPr id="1046" name="Picture 22"/>
            <p:cNvPicPr>
              <a:picLocks noChangeAspect="1" noChangeArrowheads="1"/>
            </p:cNvPicPr>
            <p:nvPr/>
          </p:nvPicPr>
          <p:blipFill rotWithShape="1">
            <a:blip r:embed="rId10"/>
            <a:stretch/>
          </p:blipFill>
          <p:spPr bwMode="auto">
            <a:xfrm>
              <a:off x="4290740" y="9132259"/>
              <a:ext cx="618846" cy="618846"/>
            </a:xfrm>
            <a:prstGeom prst="rect">
              <a:avLst/>
            </a:prstGeom>
            <a:noFill/>
          </p:spPr>
        </p:pic>
        <p:grpSp>
          <p:nvGrpSpPr>
            <p:cNvPr id="101" name="Groupe 100"/>
            <p:cNvGrpSpPr/>
            <p:nvPr/>
          </p:nvGrpSpPr>
          <p:grpSpPr bwMode="auto">
            <a:xfrm>
              <a:off x="4294004" y="9391734"/>
              <a:ext cx="2238750" cy="901798"/>
              <a:chOff x="309879" y="863985"/>
              <a:chExt cx="2238750" cy="901798"/>
            </a:xfrm>
          </p:grpSpPr>
          <p:sp>
            <p:nvSpPr>
              <p:cNvPr id="102" name="ZoneTexte 101"/>
              <p:cNvSpPr txBox="1"/>
              <p:nvPr/>
            </p:nvSpPr>
            <p:spPr bwMode="auto">
              <a:xfrm>
                <a:off x="657323" y="863985"/>
                <a:ext cx="18913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Montures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03" name="Rectangle : avec coins arrondis en haut 102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4" name="Rectangle : avec coins arrondis en haut 103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5" name="ZoneTexte 104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106" name="ZoneTexte 105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889302378" name="Groupe 20"/>
          <p:cNvGrpSpPr/>
          <p:nvPr/>
        </p:nvGrpSpPr>
        <p:grpSpPr bwMode="auto">
          <a:xfrm>
            <a:off x="295688" y="1112365"/>
            <a:ext cx="2077721" cy="1799415"/>
            <a:chOff x="6731887" y="7712438"/>
            <a:chExt cx="2077721" cy="1799415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6777606" y="7712438"/>
              <a:ext cx="563036" cy="563036"/>
            </a:xfrm>
            <a:prstGeom prst="rect">
              <a:avLst/>
            </a:prstGeom>
            <a:noFill/>
          </p:spPr>
        </p:pic>
        <p:grpSp>
          <p:nvGrpSpPr>
            <p:cNvPr id="20" name="Groupe 19"/>
            <p:cNvGrpSpPr/>
            <p:nvPr/>
          </p:nvGrpSpPr>
          <p:grpSpPr bwMode="auto">
            <a:xfrm>
              <a:off x="6731887" y="7916476"/>
              <a:ext cx="2077721" cy="1595377"/>
              <a:chOff x="6731887" y="7916476"/>
              <a:chExt cx="2077721" cy="1595377"/>
            </a:xfrm>
          </p:grpSpPr>
          <p:grpSp>
            <p:nvGrpSpPr>
              <p:cNvPr id="90" name="Groupe 89"/>
              <p:cNvGrpSpPr/>
              <p:nvPr/>
            </p:nvGrpSpPr>
            <p:grpSpPr bwMode="auto">
              <a:xfrm>
                <a:off x="6731887" y="7916476"/>
                <a:ext cx="2077721" cy="936950"/>
                <a:chOff x="309879" y="828832"/>
                <a:chExt cx="2077721" cy="936950"/>
              </a:xfrm>
            </p:grpSpPr>
            <p:sp>
              <p:nvSpPr>
                <p:cNvPr id="91" name="ZoneTexte 90"/>
                <p:cNvSpPr txBox="1"/>
                <p:nvPr/>
              </p:nvSpPr>
              <p:spPr bwMode="auto">
                <a:xfrm>
                  <a:off x="801737" y="828832"/>
                  <a:ext cx="113972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Anneaux</a:t>
                  </a:r>
                  <a:endParaRPr lang="fr-FR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92" name="Rectangle : avec coins arrondis en haut 91"/>
                <p:cNvSpPr/>
                <p:nvPr/>
              </p:nvSpPr>
              <p:spPr bwMode="auto">
                <a:xfrm>
                  <a:off x="355600" y="1148080"/>
                  <a:ext cx="2032000" cy="231911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93" name="Rectangle : avec coins arrondis en haut 92"/>
                <p:cNvSpPr/>
                <p:nvPr/>
              </p:nvSpPr>
              <p:spPr bwMode="auto">
                <a:xfrm rot="10800000">
                  <a:off x="355600" y="1378909"/>
                  <a:ext cx="2032000" cy="386873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94" name="ZoneTexte 93"/>
                <p:cNvSpPr txBox="1"/>
                <p:nvPr/>
              </p:nvSpPr>
              <p:spPr bwMode="auto">
                <a:xfrm>
                  <a:off x="309880" y="1121757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Equipé</a:t>
                  </a:r>
                  <a:endParaRPr/>
                </a:p>
              </p:txBody>
            </p:sp>
            <p:sp>
              <p:nvSpPr>
                <p:cNvPr id="95" name="ZoneTexte 94"/>
                <p:cNvSpPr txBox="1"/>
                <p:nvPr/>
              </p:nvSpPr>
              <p:spPr bwMode="auto">
                <a:xfrm>
                  <a:off x="309879" y="1347062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Effets</a:t>
                  </a:r>
                  <a:endParaRPr/>
                </a:p>
              </p:txBody>
            </p:sp>
          </p:grpSp>
          <p:grpSp>
            <p:nvGrpSpPr>
              <p:cNvPr id="16" name="Groupe 15"/>
              <p:cNvGrpSpPr/>
              <p:nvPr/>
            </p:nvGrpSpPr>
            <p:grpSpPr bwMode="auto">
              <a:xfrm>
                <a:off x="6731887" y="8867827"/>
                <a:ext cx="2077721" cy="644026"/>
                <a:chOff x="6884287" y="8361800"/>
                <a:chExt cx="2077721" cy="644026"/>
              </a:xfrm>
            </p:grpSpPr>
            <p:sp>
              <p:nvSpPr>
                <p:cNvPr id="114" name="Rectangle : avec coins arrondis en haut 113"/>
                <p:cNvSpPr/>
                <p:nvPr/>
              </p:nvSpPr>
              <p:spPr bwMode="auto">
                <a:xfrm>
                  <a:off x="6930008" y="8388123"/>
                  <a:ext cx="2032000" cy="231911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15" name="Rectangle : avec coins arrondis en haut 114"/>
                <p:cNvSpPr/>
                <p:nvPr/>
              </p:nvSpPr>
              <p:spPr bwMode="auto">
                <a:xfrm rot="10800000">
                  <a:off x="6930008" y="8618953"/>
                  <a:ext cx="2032000" cy="386873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16" name="ZoneTexte 115"/>
                <p:cNvSpPr txBox="1"/>
                <p:nvPr/>
              </p:nvSpPr>
              <p:spPr bwMode="auto">
                <a:xfrm>
                  <a:off x="6884288" y="8361800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Equipé</a:t>
                  </a:r>
                  <a:endParaRPr/>
                </a:p>
              </p:txBody>
            </p:sp>
            <p:sp>
              <p:nvSpPr>
                <p:cNvPr id="117" name="ZoneTexte 116"/>
                <p:cNvSpPr txBox="1"/>
                <p:nvPr/>
              </p:nvSpPr>
              <p:spPr bwMode="auto">
                <a:xfrm>
                  <a:off x="6884287" y="8587105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Effets</a:t>
                  </a:r>
                  <a:endParaRPr/>
                </a:p>
              </p:txBody>
            </p:sp>
          </p:grpSp>
        </p:grpSp>
      </p:grpSp>
      <p:grpSp>
        <p:nvGrpSpPr>
          <p:cNvPr id="1538445976" name="Groupe 22"/>
          <p:cNvGrpSpPr/>
          <p:nvPr/>
        </p:nvGrpSpPr>
        <p:grpSpPr bwMode="auto">
          <a:xfrm>
            <a:off x="4836017" y="29387"/>
            <a:ext cx="2077721" cy="1151614"/>
            <a:chOff x="1157931" y="8608687"/>
            <a:chExt cx="2077721" cy="1151614"/>
          </a:xfrm>
        </p:grpSpPr>
        <p:pic>
          <p:nvPicPr>
            <p:cNvPr id="1032" name="Picture 8"/>
            <p:cNvPicPr>
              <a:picLocks noChangeAspect="1" noChangeArrowheads="1"/>
            </p:cNvPicPr>
            <p:nvPr/>
          </p:nvPicPr>
          <p:blipFill rotWithShape="1">
            <a:blip r:embed="rId12"/>
            <a:stretch/>
          </p:blipFill>
          <p:spPr bwMode="auto">
            <a:xfrm>
              <a:off x="1279418" y="8608687"/>
              <a:ext cx="618846" cy="618846"/>
            </a:xfrm>
            <a:prstGeom prst="rect">
              <a:avLst/>
            </a:prstGeom>
            <a:noFill/>
          </p:spPr>
        </p:pic>
        <p:grpSp>
          <p:nvGrpSpPr>
            <p:cNvPr id="123" name="Groupe 122"/>
            <p:cNvGrpSpPr/>
            <p:nvPr/>
          </p:nvGrpSpPr>
          <p:grpSpPr bwMode="auto">
            <a:xfrm>
              <a:off x="1157931" y="8823351"/>
              <a:ext cx="2077721" cy="936950"/>
              <a:chOff x="309879" y="828832"/>
              <a:chExt cx="2077721" cy="936950"/>
            </a:xfrm>
          </p:grpSpPr>
          <p:sp>
            <p:nvSpPr>
              <p:cNvPr id="124" name="ZoneTexte 123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Armes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25" name="Rectangle : avec coins arrondis en haut 124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26" name="Rectangle : avec coins arrondis en haut 125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27" name="ZoneTexte 126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128" name="ZoneTexte 127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pic>
        <p:nvPicPr>
          <p:cNvPr id="360710153" name="Picture 34" descr="Portée"/>
          <p:cNvPicPr>
            <a:picLocks noChangeAspect="1" noChangeArrowheads="1"/>
          </p:cNvPicPr>
          <p:nvPr/>
        </p:nvPicPr>
        <p:blipFill rotWithShape="1">
          <a:blip r:embed="rId13">
            <a:biLevel thresh="25000"/>
          </a:blip>
          <a:stretch/>
        </p:blipFill>
        <p:spPr bwMode="auto">
          <a:xfrm>
            <a:off x="8361471" y="6859648"/>
            <a:ext cx="207970" cy="209550"/>
          </a:xfrm>
          <a:prstGeom prst="rect">
            <a:avLst/>
          </a:prstGeom>
          <a:noFill/>
        </p:spPr>
      </p:pic>
      <p:grpSp>
        <p:nvGrpSpPr>
          <p:cNvPr id="1936567469" name="Groupe 75"/>
          <p:cNvGrpSpPr/>
          <p:nvPr/>
        </p:nvGrpSpPr>
        <p:grpSpPr bwMode="auto">
          <a:xfrm>
            <a:off x="411778" y="3133707"/>
            <a:ext cx="4068959" cy="1281681"/>
            <a:chOff x="0" y="0"/>
            <a:chExt cx="4068959" cy="1281681"/>
          </a:xfrm>
        </p:grpSpPr>
        <p:grpSp>
          <p:nvGrpSpPr>
            <p:cNvPr id="32" name="Groupe 31"/>
            <p:cNvGrpSpPr/>
            <p:nvPr/>
          </p:nvGrpSpPr>
          <p:grpSpPr bwMode="auto">
            <a:xfrm>
              <a:off x="0" y="0"/>
              <a:ext cx="4068717" cy="1281681"/>
              <a:chOff x="0" y="0"/>
              <a:chExt cx="4068717" cy="1281681"/>
            </a:xfrm>
          </p:grpSpPr>
          <p:grpSp>
            <p:nvGrpSpPr>
              <p:cNvPr id="28" name="Groupe 27"/>
              <p:cNvGrpSpPr/>
              <p:nvPr/>
            </p:nvGrpSpPr>
            <p:grpSpPr bwMode="auto">
              <a:xfrm>
                <a:off x="88" y="0"/>
                <a:ext cx="4068628" cy="1281681"/>
                <a:chOff x="0" y="0"/>
                <a:chExt cx="4068628" cy="1281681"/>
              </a:xfrm>
            </p:grpSpPr>
            <p:pic>
              <p:nvPicPr>
                <p:cNvPr id="1048" name="Picture 24"/>
                <p:cNvPicPr>
                  <a:picLocks noChangeAspect="1" noChangeArrowheads="1"/>
                </p:cNvPicPr>
                <p:nvPr/>
              </p:nvPicPr>
              <p:blipFill rotWithShape="1">
                <a:blip r:embed="rId14"/>
                <a:stretch/>
              </p:blipFill>
              <p:spPr bwMode="auto">
                <a:xfrm>
                  <a:off x="33899" y="0"/>
                  <a:ext cx="417987" cy="417987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136" name="Groupe 135"/>
                <p:cNvGrpSpPr/>
                <p:nvPr/>
              </p:nvGrpSpPr>
              <p:grpSpPr bwMode="auto">
                <a:xfrm>
                  <a:off x="0" y="92495"/>
                  <a:ext cx="4068628" cy="1189185"/>
                  <a:chOff x="0" y="0"/>
                  <a:chExt cx="4068628" cy="1189185"/>
                </a:xfrm>
              </p:grpSpPr>
              <p:sp>
                <p:nvSpPr>
                  <p:cNvPr id="137" name="ZoneTexte 136"/>
                  <p:cNvSpPr txBox="1"/>
                  <p:nvPr/>
                </p:nvSpPr>
                <p:spPr bwMode="auto">
                  <a:xfrm>
                    <a:off x="301722" y="0"/>
                    <a:ext cx="1545528" cy="2746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Dofus et Trophées</a:t>
                    </a:r>
                    <a:endParaRPr lang="fr-F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2" name="Rectangle : avec coins arrondis en haut 141"/>
                  <p:cNvSpPr/>
                  <p:nvPr/>
                </p:nvSpPr>
                <p:spPr bwMode="auto">
                  <a:xfrm>
                    <a:off x="0" y="327272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 bwMode="auto">
                  <a:xfrm>
                    <a:off x="2036628" y="327319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4" name="Rectangle 143"/>
                  <p:cNvSpPr/>
                  <p:nvPr/>
                </p:nvSpPr>
                <p:spPr bwMode="auto">
                  <a:xfrm>
                    <a:off x="2036628" y="543319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5" name="Rectangle : avec coins arrondis en haut 144"/>
                  <p:cNvSpPr/>
                  <p:nvPr/>
                </p:nvSpPr>
                <p:spPr bwMode="auto">
                  <a:xfrm rot="10800000">
                    <a:off x="2036557" y="973185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</p:grpSp>
          </p:grpSp>
          <p:sp>
            <p:nvSpPr>
              <p:cNvPr id="147" name="Rectangle 146"/>
              <p:cNvSpPr/>
              <p:nvPr/>
            </p:nvSpPr>
            <p:spPr bwMode="auto">
              <a:xfrm>
                <a:off x="0" y="633435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48" name="Rectangle 147"/>
              <p:cNvSpPr/>
              <p:nvPr/>
            </p:nvSpPr>
            <p:spPr bwMode="auto">
              <a:xfrm>
                <a:off x="303" y="848741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 bwMode="auto">
              <a:xfrm>
                <a:off x="1269" y="1063049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</p:grpSp>
        <p:sp>
          <p:nvSpPr>
            <p:cNvPr id="187" name="Rectangle 186"/>
            <p:cNvSpPr/>
            <p:nvPr/>
          </p:nvSpPr>
          <p:spPr bwMode="auto">
            <a:xfrm>
              <a:off x="2036959" y="849348"/>
              <a:ext cx="2032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600">
                <a:latin typeface="Segoe UI"/>
                <a:cs typeface="Segoe UI"/>
              </a:endParaRPr>
            </a:p>
          </p:txBody>
        </p:sp>
      </p:grpSp>
      <p:sp>
        <p:nvSpPr>
          <p:cNvPr id="806047683" name="ZoneTexte 1"/>
          <p:cNvSpPr txBox="1"/>
          <p:nvPr/>
        </p:nvSpPr>
        <p:spPr bwMode="auto">
          <a:xfrm>
            <a:off x="1112892" y="12005336"/>
            <a:ext cx="1265090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 b="0" i="0">
                <a:solidFill>
                  <a:srgbClr val="90A4AE"/>
                </a:solidFill>
                <a:latin typeface="Segoe UI"/>
                <a:cs typeface="Segoe UI"/>
              </a:rPr>
              <a:t>Krosmoz JDR </a:t>
            </a:r>
            <a:r>
              <a:rPr lang="fr-FR" sz="900" b="0" i="0">
                <a:solidFill>
                  <a:srgbClr val="90A4AE"/>
                </a:solidFill>
                <a:latin typeface="Segoe UI"/>
                <a:cs typeface="Segoe UI"/>
              </a:rPr>
              <a:t>version </a:t>
            </a:r>
            <a:r>
              <a:rPr lang="el-GR" sz="900" b="0" i="0">
                <a:solidFill>
                  <a:srgbClr val="90A4AE"/>
                </a:solidFill>
                <a:latin typeface="Segoe UI"/>
                <a:cs typeface="Segoe UI"/>
              </a:rPr>
              <a:t>α</a:t>
            </a:r>
            <a:r>
              <a:rPr lang="el-GR" sz="900">
                <a:solidFill>
                  <a:srgbClr val="90A4AE"/>
                </a:solidFill>
                <a:latin typeface="Segoe UI"/>
                <a:cs typeface="Segoe UI"/>
              </a:rPr>
              <a:t> </a:t>
            </a:r>
            <a:r>
              <a:rPr lang="fr-FR" sz="900">
                <a:solidFill>
                  <a:srgbClr val="90A4AE"/>
                </a:solidFill>
                <a:latin typeface="Segoe UI"/>
                <a:cs typeface="Segoe UI"/>
              </a:rPr>
              <a:t>0.1</a:t>
            </a:r>
            <a:r>
              <a:rPr lang="el-GR" sz="900" b="0" i="0">
                <a:solidFill>
                  <a:srgbClr val="90A4AE"/>
                </a:solidFill>
                <a:latin typeface="Segoe UI"/>
                <a:cs typeface="Segoe UI"/>
              </a:rPr>
              <a:t>.</a:t>
            </a:r>
            <a:r>
              <a:rPr lang="fr-FR" sz="900" b="0" i="0">
                <a:solidFill>
                  <a:srgbClr val="90A4AE"/>
                </a:solidFill>
                <a:latin typeface="Segoe UI"/>
                <a:cs typeface="Segoe UI"/>
              </a:rPr>
              <a:t>3.4</a:t>
            </a:r>
            <a:endParaRPr/>
          </a:p>
          <a:p>
            <a:pPr algn="ctr">
              <a:defRPr/>
            </a:pPr>
            <a:r>
              <a:rPr lang="fr-FR" sz="800">
                <a:solidFill>
                  <a:srgbClr val="90A4AE"/>
                </a:solidFill>
                <a:latin typeface="Segoe UI"/>
                <a:cs typeface="Segoe UI"/>
              </a:rPr>
              <a:t>Version fiche personnage 0.1.3.9</a:t>
            </a:r>
            <a:endParaRPr lang="fr-FR" sz="1000">
              <a:latin typeface="Segoe UI"/>
              <a:cs typeface="Segoe UI"/>
            </a:endParaRPr>
          </a:p>
        </p:txBody>
      </p:sp>
      <p:grpSp>
        <p:nvGrpSpPr>
          <p:cNvPr id="1760829362" name="Groupe 60"/>
          <p:cNvGrpSpPr/>
          <p:nvPr/>
        </p:nvGrpSpPr>
        <p:grpSpPr bwMode="auto">
          <a:xfrm>
            <a:off x="2499377" y="8683583"/>
            <a:ext cx="6999523" cy="3919482"/>
            <a:chOff x="199017" y="4612240"/>
            <a:chExt cx="9140054" cy="2246508"/>
          </a:xfrm>
        </p:grpSpPr>
        <p:grpSp>
          <p:nvGrpSpPr>
            <p:cNvPr id="62" name="Groupe 61"/>
            <p:cNvGrpSpPr/>
            <p:nvPr/>
          </p:nvGrpSpPr>
          <p:grpSpPr bwMode="auto">
            <a:xfrm>
              <a:off x="245778" y="4612240"/>
              <a:ext cx="9093293" cy="2246508"/>
              <a:chOff x="245778" y="4612240"/>
              <a:chExt cx="9093293" cy="2246508"/>
            </a:xfrm>
          </p:grpSpPr>
          <p:sp>
            <p:nvSpPr>
              <p:cNvPr id="109" name="Rectangle : coins arrondis 108"/>
              <p:cNvSpPr/>
              <p:nvPr/>
            </p:nvSpPr>
            <p:spPr bwMode="auto">
              <a:xfrm>
                <a:off x="245778" y="4754683"/>
                <a:ext cx="9093293" cy="21040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110" name="ZoneTexte 109"/>
              <p:cNvSpPr txBox="1"/>
              <p:nvPr/>
            </p:nvSpPr>
            <p:spPr bwMode="auto">
              <a:xfrm>
                <a:off x="3897798" y="4612240"/>
                <a:ext cx="1895121" cy="1916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72000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Consommables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70" name="ZoneTexte 69"/>
            <p:cNvSpPr txBox="1"/>
            <p:nvPr/>
          </p:nvSpPr>
          <p:spPr bwMode="auto">
            <a:xfrm>
              <a:off x="199017" y="4642982"/>
              <a:ext cx="827000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Quantité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132" name="ZoneTexte 131"/>
            <p:cNvSpPr txBox="1"/>
            <p:nvPr/>
          </p:nvSpPr>
          <p:spPr bwMode="auto">
            <a:xfrm>
              <a:off x="890633" y="4642982"/>
              <a:ext cx="1222069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Dénomination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aphicFrame>
        <p:nvGraphicFramePr>
          <p:cNvPr id="1071876149" name="Tableau 173"/>
          <p:cNvGraphicFramePr>
            <a:graphicFrameLocks noGrp="1"/>
          </p:cNvGraphicFramePr>
          <p:nvPr/>
        </p:nvGraphicFramePr>
        <p:xfrm>
          <a:off x="2594180" y="8999774"/>
          <a:ext cx="685081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506610673" name="Groupe 162"/>
          <p:cNvGrpSpPr/>
          <p:nvPr/>
        </p:nvGrpSpPr>
        <p:grpSpPr bwMode="auto">
          <a:xfrm>
            <a:off x="2529979" y="4571425"/>
            <a:ext cx="6963714" cy="4000093"/>
            <a:chOff x="245778" y="4582056"/>
            <a:chExt cx="9093293" cy="2584752"/>
          </a:xfrm>
        </p:grpSpPr>
        <p:grpSp>
          <p:nvGrpSpPr>
            <p:cNvPr id="164" name="Groupe 163"/>
            <p:cNvGrpSpPr/>
            <p:nvPr/>
          </p:nvGrpSpPr>
          <p:grpSpPr bwMode="auto">
            <a:xfrm>
              <a:off x="245778" y="4582056"/>
              <a:ext cx="9093293" cy="2584752"/>
              <a:chOff x="245778" y="4582056"/>
              <a:chExt cx="9093293" cy="2584752"/>
            </a:xfrm>
          </p:grpSpPr>
          <p:sp>
            <p:nvSpPr>
              <p:cNvPr id="167" name="Rectangle : coins arrondis 166"/>
              <p:cNvSpPr/>
              <p:nvPr/>
            </p:nvSpPr>
            <p:spPr bwMode="auto">
              <a:xfrm>
                <a:off x="245778" y="4754684"/>
                <a:ext cx="9093293" cy="24121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168" name="ZoneTexte 167"/>
              <p:cNvSpPr txBox="1"/>
              <p:nvPr/>
            </p:nvSpPr>
            <p:spPr bwMode="auto">
              <a:xfrm>
                <a:off x="4171485" y="4582056"/>
                <a:ext cx="1241877" cy="1925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36000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Objets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165" name="ZoneTexte 164"/>
            <p:cNvSpPr txBox="1"/>
            <p:nvPr/>
          </p:nvSpPr>
          <p:spPr bwMode="auto">
            <a:xfrm>
              <a:off x="277992" y="4630737"/>
              <a:ext cx="644855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Valeur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166" name="ZoneTexte 165"/>
            <p:cNvSpPr txBox="1"/>
            <p:nvPr/>
          </p:nvSpPr>
          <p:spPr bwMode="auto">
            <a:xfrm>
              <a:off x="890633" y="4630147"/>
              <a:ext cx="1222069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Dénomination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aphicFrame>
        <p:nvGraphicFramePr>
          <p:cNvPr id="1412817785" name="Tableau 173"/>
          <p:cNvGraphicFramePr>
            <a:graphicFrameLocks noGrp="1"/>
          </p:cNvGraphicFramePr>
          <p:nvPr/>
        </p:nvGraphicFramePr>
        <p:xfrm>
          <a:off x="2588974" y="4867833"/>
          <a:ext cx="68508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253042645" name="Groupe 1119"/>
          <p:cNvGrpSpPr/>
          <p:nvPr/>
        </p:nvGrpSpPr>
        <p:grpSpPr bwMode="auto">
          <a:xfrm>
            <a:off x="245776" y="4577899"/>
            <a:ext cx="2089204" cy="5901349"/>
            <a:chOff x="0" y="0"/>
            <a:chExt cx="2089204" cy="5901349"/>
          </a:xfrm>
        </p:grpSpPr>
        <p:grpSp>
          <p:nvGrpSpPr>
            <p:cNvPr id="1103" name="Groupe 1102"/>
            <p:cNvGrpSpPr/>
            <p:nvPr/>
          </p:nvGrpSpPr>
          <p:grpSpPr bwMode="auto">
            <a:xfrm>
              <a:off x="0" y="0"/>
              <a:ext cx="2089204" cy="5901349"/>
              <a:chOff x="0" y="0"/>
              <a:chExt cx="2089204" cy="5901349"/>
            </a:xfrm>
          </p:grpSpPr>
          <p:grpSp>
            <p:nvGrpSpPr>
              <p:cNvPr id="146" name="Groupe 145"/>
              <p:cNvGrpSpPr/>
              <p:nvPr/>
            </p:nvGrpSpPr>
            <p:grpSpPr bwMode="auto">
              <a:xfrm>
                <a:off x="0" y="0"/>
                <a:ext cx="2089204" cy="5901349"/>
                <a:chOff x="0" y="0"/>
                <a:chExt cx="2089204" cy="5901349"/>
              </a:xfrm>
            </p:grpSpPr>
            <p:sp>
              <p:nvSpPr>
                <p:cNvPr id="150" name="Rectangle : coins arrondis 149"/>
                <p:cNvSpPr/>
                <p:nvPr/>
              </p:nvSpPr>
              <p:spPr bwMode="auto">
                <a:xfrm>
                  <a:off x="0" y="0"/>
                  <a:ext cx="2089204" cy="590134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51" name="Zone de texte 26"/>
                <p:cNvSpPr txBox="1"/>
                <p:nvPr/>
              </p:nvSpPr>
              <p:spPr bwMode="auto">
                <a:xfrm>
                  <a:off x="0" y="1549109"/>
                  <a:ext cx="1565056" cy="32521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12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Métiers</a:t>
                  </a:r>
                </a:p>
              </p:txBody>
            </p:sp>
          </p:grpSp>
          <p:cxnSp>
            <p:nvCxnSpPr>
              <p:cNvPr id="111" name="Connecteur droit 110"/>
              <p:cNvCxnSpPr/>
              <p:nvPr/>
            </p:nvCxnSpPr>
            <p:spPr bwMode="auto">
              <a:xfrm>
                <a:off x="242096" y="2487317"/>
                <a:ext cx="111129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onnecteur droit 111"/>
              <p:cNvCxnSpPr/>
              <p:nvPr/>
            </p:nvCxnSpPr>
            <p:spPr bwMode="auto">
              <a:xfrm>
                <a:off x="242096" y="2764838"/>
                <a:ext cx="111129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Connecteur droit 112"/>
              <p:cNvCxnSpPr/>
              <p:nvPr/>
            </p:nvCxnSpPr>
            <p:spPr bwMode="auto">
              <a:xfrm>
                <a:off x="242096" y="3027358"/>
                <a:ext cx="111129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Connecteur droit 118"/>
              <p:cNvCxnSpPr/>
              <p:nvPr/>
            </p:nvCxnSpPr>
            <p:spPr bwMode="auto">
              <a:xfrm>
                <a:off x="242096" y="3824483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Connecteur droit 120"/>
              <p:cNvCxnSpPr/>
              <p:nvPr/>
            </p:nvCxnSpPr>
            <p:spPr bwMode="auto">
              <a:xfrm>
                <a:off x="242096" y="4099941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121"/>
              <p:cNvCxnSpPr/>
              <p:nvPr/>
            </p:nvCxnSpPr>
            <p:spPr bwMode="auto">
              <a:xfrm>
                <a:off x="242096" y="4377462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5" name="Connecteur droit 1094"/>
              <p:cNvCxnSpPr/>
              <p:nvPr/>
            </p:nvCxnSpPr>
            <p:spPr bwMode="auto">
              <a:xfrm>
                <a:off x="242096" y="4668423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6" name="Connecteur droit 1095"/>
              <p:cNvCxnSpPr/>
              <p:nvPr/>
            </p:nvCxnSpPr>
            <p:spPr bwMode="auto">
              <a:xfrm>
                <a:off x="242096" y="4945944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7" name="Connecteur droit 1096"/>
              <p:cNvCxnSpPr/>
              <p:nvPr/>
            </p:nvCxnSpPr>
            <p:spPr bwMode="auto">
              <a:xfrm>
                <a:off x="242096" y="5208464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8" name="Connecteur droit 1097"/>
              <p:cNvCxnSpPr/>
              <p:nvPr/>
            </p:nvCxnSpPr>
            <p:spPr bwMode="auto">
              <a:xfrm>
                <a:off x="242096" y="5485986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9" name="Connecteur droit 1098"/>
              <p:cNvCxnSpPr/>
              <p:nvPr/>
            </p:nvCxnSpPr>
            <p:spPr bwMode="auto">
              <a:xfrm>
                <a:off x="242096" y="5741005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Zone de texte 26"/>
            <p:cNvSpPr txBox="1"/>
            <p:nvPr/>
          </p:nvSpPr>
          <p:spPr bwMode="auto">
            <a:xfrm>
              <a:off x="0" y="16288"/>
              <a:ext cx="2089205" cy="28993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rPr>
                <a:t>Langues</a:t>
              </a:r>
              <a:endParaRPr/>
            </a:p>
          </p:txBody>
        </p:sp>
        <p:cxnSp>
          <p:nvCxnSpPr>
            <p:cNvPr id="51" name="Connecteur droit 50"/>
            <p:cNvCxnSpPr/>
            <p:nvPr/>
          </p:nvCxnSpPr>
          <p:spPr bwMode="auto">
            <a:xfrm>
              <a:off x="242096" y="1970176"/>
              <a:ext cx="111129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51"/>
            <p:cNvCxnSpPr/>
            <p:nvPr/>
          </p:nvCxnSpPr>
          <p:spPr bwMode="auto">
            <a:xfrm>
              <a:off x="242096" y="2232696"/>
              <a:ext cx="111129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18" name="Groupe 1117"/>
            <p:cNvGrpSpPr/>
            <p:nvPr/>
          </p:nvGrpSpPr>
          <p:grpSpPr bwMode="auto">
            <a:xfrm>
              <a:off x="242096" y="425562"/>
              <a:ext cx="1605008" cy="1072581"/>
              <a:chOff x="0" y="0"/>
              <a:chExt cx="1605008" cy="1072581"/>
            </a:xfrm>
          </p:grpSpPr>
          <p:cxnSp>
            <p:nvCxnSpPr>
              <p:cNvPr id="30" name="Connecteur droit 29"/>
              <p:cNvCxnSpPr/>
              <p:nvPr/>
            </p:nvCxnSpPr>
            <p:spPr bwMode="auto">
              <a:xfrm>
                <a:off x="0" y="0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/>
              <p:cNvCxnSpPr/>
              <p:nvPr/>
            </p:nvCxnSpPr>
            <p:spPr bwMode="auto">
              <a:xfrm>
                <a:off x="0" y="277520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/>
              <p:cNvCxnSpPr/>
              <p:nvPr/>
            </p:nvCxnSpPr>
            <p:spPr bwMode="auto">
              <a:xfrm>
                <a:off x="0" y="540040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/>
              <p:cNvCxnSpPr/>
              <p:nvPr/>
            </p:nvCxnSpPr>
            <p:spPr bwMode="auto">
              <a:xfrm>
                <a:off x="0" y="817561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necteur droit 40"/>
              <p:cNvCxnSpPr/>
              <p:nvPr/>
            </p:nvCxnSpPr>
            <p:spPr bwMode="auto">
              <a:xfrm>
                <a:off x="0" y="1072581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40130195" name="Groupe 1120"/>
          <p:cNvGrpSpPr/>
          <p:nvPr/>
        </p:nvGrpSpPr>
        <p:grpSpPr bwMode="auto">
          <a:xfrm>
            <a:off x="156754" y="10566558"/>
            <a:ext cx="2193797" cy="1389650"/>
            <a:chOff x="-225399" y="11386932"/>
            <a:chExt cx="2193797" cy="1389650"/>
          </a:xfrm>
        </p:grpSpPr>
        <p:grpSp>
          <p:nvGrpSpPr>
            <p:cNvPr id="1122" name="Groupe 1121"/>
            <p:cNvGrpSpPr/>
            <p:nvPr/>
          </p:nvGrpSpPr>
          <p:grpSpPr bwMode="auto">
            <a:xfrm>
              <a:off x="-119905" y="11386932"/>
              <a:ext cx="2088303" cy="1389650"/>
              <a:chOff x="-119905" y="11333592"/>
              <a:chExt cx="2088303" cy="1389650"/>
            </a:xfrm>
          </p:grpSpPr>
          <p:grpSp>
            <p:nvGrpSpPr>
              <p:cNvPr id="1128" name="Groupe 1127"/>
              <p:cNvGrpSpPr/>
              <p:nvPr/>
            </p:nvGrpSpPr>
            <p:grpSpPr bwMode="auto">
              <a:xfrm>
                <a:off x="-119905" y="11333592"/>
                <a:ext cx="2088303" cy="1389650"/>
                <a:chOff x="57175" y="11363130"/>
                <a:chExt cx="2088303" cy="1389650"/>
              </a:xfrm>
            </p:grpSpPr>
            <p:grpSp>
              <p:nvGrpSpPr>
                <p:cNvPr id="1130" name="Groupe 1129"/>
                <p:cNvGrpSpPr/>
                <p:nvPr/>
              </p:nvGrpSpPr>
              <p:grpSpPr bwMode="auto">
                <a:xfrm>
                  <a:off x="960704" y="11363130"/>
                  <a:ext cx="1184774" cy="1090998"/>
                  <a:chOff x="5148472" y="5268167"/>
                  <a:chExt cx="1184774" cy="1090998"/>
                </a:xfrm>
              </p:grpSpPr>
              <p:sp>
                <p:nvSpPr>
                  <p:cNvPr id="1135" name="Rectangle : coins arrondis 1134"/>
                  <p:cNvSpPr/>
                  <p:nvPr/>
                </p:nvSpPr>
                <p:spPr bwMode="auto">
                  <a:xfrm>
                    <a:off x="5148472" y="5697798"/>
                    <a:ext cx="1044101" cy="661367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1136" name="ZoneTexte 1135"/>
                  <p:cNvSpPr txBox="1"/>
                  <p:nvPr/>
                </p:nvSpPr>
                <p:spPr bwMode="auto">
                  <a:xfrm>
                    <a:off x="5312979" y="5268167"/>
                    <a:ext cx="102026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Exemple</a:t>
                    </a:r>
                    <a:endParaRPr/>
                  </a:p>
                </p:txBody>
              </p:sp>
            </p:grpSp>
            <p:sp>
              <p:nvSpPr>
                <p:cNvPr id="1131" name="Zone de texte 80"/>
                <p:cNvSpPr txBox="1"/>
                <p:nvPr/>
              </p:nvSpPr>
              <p:spPr bwMode="auto">
                <a:xfrm>
                  <a:off x="880406" y="12429834"/>
                  <a:ext cx="1252045" cy="32294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[Provenance des valeurs]</a:t>
                  </a:r>
                  <a:r>
                    <a:rPr lang="fr-FR" sz="1000" baseline="30000">
                      <a:solidFill>
                        <a:srgbClr val="7F7F7F"/>
                      </a:solidFill>
                      <a:latin typeface="Segoe UI"/>
                      <a:ea typeface="Calibri"/>
                      <a:cs typeface="Segoe UI"/>
                    </a:rPr>
                    <a:t>+</a:t>
                  </a:r>
                  <a:endParaRPr/>
                </a:p>
                <a:p>
                  <a:pPr algn="ctr">
                    <a:defRPr/>
                  </a:pPr>
                  <a:r>
                    <a:rPr lang="fr-FR" sz="800" baseline="300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+</a:t>
                  </a:r>
                  <a:r>
                    <a:rPr lang="fr-FR" sz="6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Arrondi au supérieur</a:t>
                  </a:r>
                  <a:r>
                    <a:rPr lang="fr-FR" sz="600" baseline="300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 </a:t>
                  </a:r>
                  <a:endParaRPr/>
                </a:p>
                <a:p>
                  <a:pPr algn="ctr">
                    <a:defRPr/>
                  </a:pPr>
                  <a:r>
                    <a:rPr lang="fr-FR" sz="800" baseline="300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–</a:t>
                  </a:r>
                  <a:r>
                    <a:rPr lang="fr-FR" sz="600" baseline="300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 </a:t>
                  </a:r>
                  <a:r>
                    <a:rPr lang="fr-FR" sz="6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Arrondi à l’inférieur</a:t>
                  </a:r>
                </a:p>
              </p:txBody>
            </p:sp>
            <p:sp>
              <p:nvSpPr>
                <p:cNvPr id="1132" name="Zone de texte 80"/>
                <p:cNvSpPr txBox="1"/>
                <p:nvPr/>
              </p:nvSpPr>
              <p:spPr bwMode="auto">
                <a:xfrm>
                  <a:off x="941263" y="11817311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Val. de base</a:t>
                  </a:r>
                  <a:endParaRPr lang="fr-FR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133" name="Zone de texte 80"/>
                <p:cNvSpPr txBox="1"/>
                <p:nvPr/>
              </p:nvSpPr>
              <p:spPr bwMode="auto">
                <a:xfrm>
                  <a:off x="1306717" y="12216684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Val. max</a:t>
                  </a:r>
                  <a:endParaRPr lang="fr-FR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134" name="Zone de texte 80"/>
                <p:cNvSpPr txBox="1"/>
                <p:nvPr/>
              </p:nvSpPr>
              <p:spPr bwMode="auto">
                <a:xfrm>
                  <a:off x="57175" y="12069375"/>
                  <a:ext cx="736269" cy="42973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>
                    <a:lnSpc>
                      <a:spcPct val="107000"/>
                    </a:lnSpc>
                    <a:defRPr/>
                  </a:pPr>
                  <a:r>
                    <a:rPr lang="fr-FR" sz="7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Couleur de la caractéristique principale</a:t>
                  </a:r>
                  <a:endParaRPr/>
                </a:p>
              </p:txBody>
            </p:sp>
          </p:grpSp>
          <p:cxnSp>
            <p:nvCxnSpPr>
              <p:cNvPr id="1129" name="Connecteur droit avec flèche 1128"/>
              <p:cNvCxnSpPr>
                <a:stCxn id="1134" idx="3"/>
              </p:cNvCxnSpPr>
              <p:nvPr/>
            </p:nvCxnSpPr>
            <p:spPr bwMode="auto">
              <a:xfrm flipV="1">
                <a:off x="616364" y="12187146"/>
                <a:ext cx="441016" cy="6755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3" name="Groupe 1122"/>
            <p:cNvGrpSpPr/>
            <p:nvPr/>
          </p:nvGrpSpPr>
          <p:grpSpPr bwMode="auto">
            <a:xfrm>
              <a:off x="1458264" y="11826011"/>
              <a:ext cx="441718" cy="312640"/>
              <a:chOff x="5954840" y="4693816"/>
              <a:chExt cx="441718" cy="312640"/>
            </a:xfrm>
          </p:grpSpPr>
          <p:cxnSp>
            <p:nvCxnSpPr>
              <p:cNvPr id="1126" name="Connecteur : en angle 1125"/>
              <p:cNvCxnSpPr/>
              <p:nvPr/>
            </p:nvCxnSpPr>
            <p:spPr bwMode="auto">
              <a:xfrm>
                <a:off x="6025603" y="4693816"/>
                <a:ext cx="288000" cy="288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60606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7" name="ZoneTexte 1126"/>
              <p:cNvSpPr txBox="1"/>
              <p:nvPr/>
            </p:nvSpPr>
            <p:spPr bwMode="auto">
              <a:xfrm>
                <a:off x="5954840" y="4852567"/>
                <a:ext cx="441718" cy="1538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400" spc="-20">
                    <a:solidFill>
                      <a:srgbClr val="606060"/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cxnSp>
          <p:nvCxnSpPr>
            <p:cNvPr id="1124" name="Connecteur droit avec flèche 1123"/>
            <p:cNvCxnSpPr/>
            <p:nvPr/>
          </p:nvCxnSpPr>
          <p:spPr bwMode="auto">
            <a:xfrm>
              <a:off x="723101" y="11618097"/>
              <a:ext cx="890526" cy="31368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5" name="Zone de texte 80"/>
            <p:cNvSpPr txBox="1"/>
            <p:nvPr/>
          </p:nvSpPr>
          <p:spPr bwMode="auto">
            <a:xfrm>
              <a:off x="-225399" y="11410067"/>
              <a:ext cx="956139" cy="523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>
                <a:defRPr/>
              </a:pPr>
              <a:r>
                <a:rPr lang="fr-FR" sz="8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rPr>
                <a:t>Bonus lié à la monture</a:t>
              </a:r>
              <a:endParaRPr/>
            </a:p>
            <a:p>
              <a:pPr algn="r">
                <a:defRPr/>
              </a:pPr>
              <a:r>
                <a:rPr lang="fr-FR" sz="6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rPr>
                <a:t>Ne compte pas dans le calcul de la Val. max</a:t>
              </a:r>
            </a:p>
          </p:txBody>
        </p:sp>
      </p:grpSp>
      <p:grpSp>
        <p:nvGrpSpPr>
          <p:cNvPr id="1650000853" name="Groupe 77"/>
          <p:cNvGrpSpPr/>
          <p:nvPr/>
        </p:nvGrpSpPr>
        <p:grpSpPr bwMode="auto">
          <a:xfrm>
            <a:off x="4882658" y="2199265"/>
            <a:ext cx="4445711" cy="2373851"/>
            <a:chOff x="4865929" y="2214494"/>
            <a:chExt cx="4445711" cy="2373851"/>
          </a:xfrm>
        </p:grpSpPr>
        <p:grpSp>
          <p:nvGrpSpPr>
            <p:cNvPr id="27" name="Groupe 26"/>
            <p:cNvGrpSpPr/>
            <p:nvPr/>
          </p:nvGrpSpPr>
          <p:grpSpPr bwMode="auto">
            <a:xfrm>
              <a:off x="8185410" y="3081012"/>
              <a:ext cx="1122103" cy="223200"/>
              <a:chOff x="8171779" y="2984681"/>
              <a:chExt cx="1156589" cy="220656"/>
            </a:xfrm>
          </p:grpSpPr>
          <p:sp>
            <p:nvSpPr>
              <p:cNvPr id="29" name="Rectangle 28"/>
              <p:cNvSpPr/>
              <p:nvPr/>
            </p:nvSpPr>
            <p:spPr bwMode="auto"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73" name="ZoneTexte 72"/>
              <p:cNvSpPr txBox="1"/>
              <p:nvPr/>
            </p:nvSpPr>
            <p:spPr bwMode="auto"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Bonus de soin</a:t>
                </a:r>
                <a:endParaRPr/>
              </a:p>
            </p:txBody>
          </p:sp>
          <p:pic>
            <p:nvPicPr>
              <p:cNvPr id="74" name="Picture 14"/>
              <p:cNvPicPr>
                <a:picLocks noChangeAspect="1" noChangeArrowheads="1"/>
              </p:cNvPicPr>
              <p:nvPr/>
            </p:nvPicPr>
            <p:blipFill rotWithShape="1">
              <a:blip r:embed="rId15"/>
              <a:stretch/>
            </p:blipFill>
            <p:spPr bwMode="auto">
              <a:xfrm>
                <a:off x="9183559" y="3046846"/>
                <a:ext cx="108000" cy="103586"/>
              </a:xfrm>
              <a:prstGeom prst="rect">
                <a:avLst/>
              </a:prstGeom>
              <a:noFill/>
            </p:spPr>
          </p:pic>
        </p:grpSp>
        <p:grpSp>
          <p:nvGrpSpPr>
            <p:cNvPr id="158" name="Groupe 157"/>
            <p:cNvGrpSpPr/>
            <p:nvPr/>
          </p:nvGrpSpPr>
          <p:grpSpPr bwMode="auto">
            <a:xfrm>
              <a:off x="8190666" y="2658191"/>
              <a:ext cx="1116000" cy="223200"/>
              <a:chOff x="8181228" y="2731741"/>
              <a:chExt cx="1145311" cy="257898"/>
            </a:xfrm>
          </p:grpSpPr>
          <p:sp>
            <p:nvSpPr>
              <p:cNvPr id="1065" name="Rectangle : avec coins arrondis en haut 1064"/>
              <p:cNvSpPr/>
              <p:nvPr/>
            </p:nvSpPr>
            <p:spPr bwMode="auto">
              <a:xfrm>
                <a:off x="8235025" y="2757728"/>
                <a:ext cx="1091513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29" name="ZoneTexte 1028"/>
              <p:cNvSpPr txBox="1"/>
              <p:nvPr/>
            </p:nvSpPr>
            <p:spPr bwMode="auto">
              <a:xfrm>
                <a:off x="8181228" y="2731741"/>
                <a:ext cx="5688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Points de bouclier</a:t>
                </a:r>
                <a:endParaRPr/>
              </a:p>
            </p:txBody>
          </p:sp>
          <p:pic>
            <p:nvPicPr>
              <p:cNvPr id="7" name="Picture 40"/>
              <p:cNvPicPr>
                <a:picLocks noChangeArrowheads="1"/>
              </p:cNvPicPr>
              <p:nvPr/>
            </p:nvPicPr>
            <p:blipFill rotWithShape="1">
              <a:blip r:embed="rId16"/>
              <a:stretch/>
            </p:blipFill>
            <p:spPr bwMode="auto">
              <a:xfrm>
                <a:off x="9180272" y="2821277"/>
                <a:ext cx="98121" cy="112310"/>
              </a:xfrm>
              <a:prstGeom prst="rect">
                <a:avLst/>
              </a:prstGeom>
              <a:noFill/>
            </p:spPr>
          </p:pic>
        </p:grpSp>
        <p:pic>
          <p:nvPicPr>
            <p:cNvPr id="75" name="Picture 22"/>
            <p:cNvPicPr>
              <a:picLocks noChangeAspect="1" noChangeArrowheads="1"/>
            </p:cNvPicPr>
            <p:nvPr/>
          </p:nvPicPr>
          <p:blipFill rotWithShape="1">
            <a:blip r:embed="rId10"/>
            <a:stretch/>
          </p:blipFill>
          <p:spPr bwMode="auto">
            <a:xfrm>
              <a:off x="4872071" y="2214494"/>
              <a:ext cx="669607" cy="618846"/>
            </a:xfrm>
            <a:prstGeom prst="rect">
              <a:avLst/>
            </a:prstGeom>
            <a:noFill/>
          </p:spPr>
        </p:pic>
        <p:sp>
          <p:nvSpPr>
            <p:cNvPr id="77" name="ZoneTexte 76"/>
            <p:cNvSpPr txBox="1"/>
            <p:nvPr/>
          </p:nvSpPr>
          <p:spPr bwMode="auto">
            <a:xfrm>
              <a:off x="5251547" y="2473969"/>
              <a:ext cx="17913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fr-F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rPr>
                <a:t>Familiers</a:t>
              </a:r>
              <a:endParaRPr lang="fr-FR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  <a:cs typeface="Segoe UI"/>
              </a:endParaRPr>
            </a:p>
          </p:txBody>
        </p:sp>
        <p:grpSp>
          <p:nvGrpSpPr>
            <p:cNvPr id="1149" name="Groupe 1148"/>
            <p:cNvGrpSpPr/>
            <p:nvPr/>
          </p:nvGrpSpPr>
          <p:grpSpPr bwMode="auto">
            <a:xfrm>
              <a:off x="4865929" y="2731741"/>
              <a:ext cx="2183524" cy="1735484"/>
              <a:chOff x="4812589" y="2731741"/>
              <a:chExt cx="2183524" cy="1735484"/>
            </a:xfrm>
          </p:grpSpPr>
          <p:grpSp>
            <p:nvGrpSpPr>
              <p:cNvPr id="156" name="Groupe 155"/>
              <p:cNvGrpSpPr/>
              <p:nvPr/>
            </p:nvGrpSpPr>
            <p:grpSpPr bwMode="auto">
              <a:xfrm>
                <a:off x="5890191" y="4254332"/>
                <a:ext cx="1105922" cy="212893"/>
                <a:chOff x="7083873" y="3837035"/>
                <a:chExt cx="1150049" cy="232890"/>
              </a:xfrm>
            </p:grpSpPr>
            <p:sp>
              <p:nvSpPr>
                <p:cNvPr id="175" name="Rectangle 174"/>
                <p:cNvSpPr/>
                <p:nvPr/>
              </p:nvSpPr>
              <p:spPr bwMode="auto">
                <a:xfrm>
                  <a:off x="7129693" y="3853925"/>
                  <a:ext cx="1104229" cy="2160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84" name="ZoneTexte 183"/>
                <p:cNvSpPr txBox="1"/>
                <p:nvPr/>
              </p:nvSpPr>
              <p:spPr bwMode="auto">
                <a:xfrm>
                  <a:off x="7083873" y="383703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2F5597"/>
                      </a:solidFill>
                      <a:latin typeface="Segoe UI"/>
                      <a:cs typeface="Segoe UI"/>
                    </a:rPr>
                    <a:t>Tacle</a:t>
                  </a:r>
                  <a:endParaRPr/>
                </a:p>
              </p:txBody>
            </p:sp>
            <p:pic>
              <p:nvPicPr>
                <p:cNvPr id="1074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17"/>
                <a:stretch/>
              </p:blipFill>
              <p:spPr bwMode="auto">
                <a:xfrm>
                  <a:off x="8094125" y="3904805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9" name="Groupe 98"/>
              <p:cNvGrpSpPr/>
              <p:nvPr/>
            </p:nvGrpSpPr>
            <p:grpSpPr bwMode="auto">
              <a:xfrm>
                <a:off x="5874081" y="4047663"/>
                <a:ext cx="1122031" cy="223200"/>
                <a:chOff x="5913776" y="4068308"/>
                <a:chExt cx="1156632" cy="216219"/>
              </a:xfrm>
            </p:grpSpPr>
            <p:sp>
              <p:nvSpPr>
                <p:cNvPr id="1033" name="Rectangle : avec coins arrondis en haut 1032"/>
                <p:cNvSpPr/>
                <p:nvPr/>
              </p:nvSpPr>
              <p:spPr bwMode="auto">
                <a:xfrm rot="10800000">
                  <a:off x="5974135" y="4068526"/>
                  <a:ext cx="1096273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3" name="ZoneTexte 1062"/>
                <p:cNvSpPr txBox="1"/>
                <p:nvPr/>
              </p:nvSpPr>
              <p:spPr bwMode="auto">
                <a:xfrm>
                  <a:off x="5913776" y="40683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Touche</a:t>
                  </a:r>
                  <a:endParaRPr/>
                </a:p>
              </p:txBody>
            </p:sp>
            <p:pic>
              <p:nvPicPr>
                <p:cNvPr id="1087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18"/>
                <a:stretch/>
              </p:blipFill>
              <p:spPr bwMode="auto">
                <a:xfrm>
                  <a:off x="6928398" y="4116738"/>
                  <a:ext cx="101231" cy="101231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07" name="Groupe 106"/>
              <p:cNvGrpSpPr/>
              <p:nvPr/>
            </p:nvGrpSpPr>
            <p:grpSpPr bwMode="auto">
              <a:xfrm>
                <a:off x="5881667" y="3825118"/>
                <a:ext cx="1112858" cy="223200"/>
                <a:chOff x="5921364" y="3829882"/>
                <a:chExt cx="1149046" cy="240615"/>
              </a:xfrm>
            </p:grpSpPr>
            <p:sp>
              <p:nvSpPr>
                <p:cNvPr id="1031" name="Rectangle 1030"/>
                <p:cNvSpPr/>
                <p:nvPr/>
              </p:nvSpPr>
              <p:spPr bwMode="auto">
                <a:xfrm>
                  <a:off x="5974137" y="3854497"/>
                  <a:ext cx="1096273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solidFill>
                      <a:srgbClr val="ED7049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2" name="ZoneTexte 1061"/>
                <p:cNvSpPr txBox="1"/>
                <p:nvPr/>
              </p:nvSpPr>
              <p:spPr bwMode="auto">
                <a:xfrm>
                  <a:off x="5921364" y="382988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ED7049"/>
                      </a:solidFill>
                      <a:latin typeface="Segoe UI"/>
                      <a:cs typeface="Segoe UI"/>
                    </a:rPr>
                    <a:t>Ini</a:t>
                  </a:r>
                  <a:endParaRPr/>
                </a:p>
              </p:txBody>
            </p:sp>
            <p:pic>
              <p:nvPicPr>
                <p:cNvPr id="1080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19"/>
                <a:stretch/>
              </p:blipFill>
              <p:spPr bwMode="auto">
                <a:xfrm>
                  <a:off x="6925276" y="3903173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08" name="Groupe 107"/>
              <p:cNvGrpSpPr/>
              <p:nvPr/>
            </p:nvGrpSpPr>
            <p:grpSpPr bwMode="auto">
              <a:xfrm>
                <a:off x="5883575" y="3625630"/>
                <a:ext cx="1110950" cy="223200"/>
                <a:chOff x="5923269" y="3625632"/>
                <a:chExt cx="1147140" cy="228865"/>
              </a:xfrm>
            </p:grpSpPr>
            <p:sp>
              <p:nvSpPr>
                <p:cNvPr id="1030" name="Rectangle 1029"/>
                <p:cNvSpPr/>
                <p:nvPr/>
              </p:nvSpPr>
              <p:spPr bwMode="auto">
                <a:xfrm>
                  <a:off x="5974137" y="3638497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1" name="ZoneTexte 1060"/>
                <p:cNvSpPr txBox="1"/>
                <p:nvPr/>
              </p:nvSpPr>
              <p:spPr bwMode="auto">
                <a:xfrm>
                  <a:off x="5923269" y="362563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PO</a:t>
                  </a:r>
                  <a:endParaRPr/>
                </a:p>
              </p:txBody>
            </p:sp>
            <p:pic>
              <p:nvPicPr>
                <p:cNvPr id="1079" name="Picture 46"/>
                <p:cNvPicPr>
                  <a:picLocks noChangeAspect="1" noChangeArrowheads="1"/>
                </p:cNvPicPr>
                <p:nvPr/>
              </p:nvPicPr>
              <p:blipFill rotWithShape="1">
                <a:blip r:embed="rId20"/>
                <a:stretch/>
              </p:blipFill>
              <p:spPr bwMode="auto">
                <a:xfrm>
                  <a:off x="6924388" y="3692081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30" name="Groupe 129"/>
              <p:cNvGrpSpPr/>
              <p:nvPr/>
            </p:nvGrpSpPr>
            <p:grpSpPr bwMode="auto">
              <a:xfrm>
                <a:off x="5875669" y="3414675"/>
                <a:ext cx="1118856" cy="223200"/>
                <a:chOff x="5913776" y="3417852"/>
                <a:chExt cx="1153597" cy="220821"/>
              </a:xfrm>
            </p:grpSpPr>
            <p:sp>
              <p:nvSpPr>
                <p:cNvPr id="1037" name="Rectangle 1036"/>
                <p:cNvSpPr/>
                <p:nvPr/>
              </p:nvSpPr>
              <p:spPr bwMode="auto">
                <a:xfrm>
                  <a:off x="5972309" y="3422673"/>
                  <a:ext cx="1095064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0" name="ZoneTexte 1059"/>
                <p:cNvSpPr txBox="1"/>
                <p:nvPr/>
              </p:nvSpPr>
              <p:spPr bwMode="auto">
                <a:xfrm>
                  <a:off x="5913776" y="341785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PM</a:t>
                  </a:r>
                  <a:endParaRPr/>
                </a:p>
              </p:txBody>
            </p:sp>
            <p:pic>
              <p:nvPicPr>
                <p:cNvPr id="1078" name="Picture 42"/>
                <p:cNvPicPr>
                  <a:picLocks noChangeAspect="1" noChangeArrowheads="1"/>
                </p:cNvPicPr>
                <p:nvPr/>
              </p:nvPicPr>
              <p:blipFill rotWithShape="1">
                <a:blip r:embed="rId21"/>
                <a:stretch/>
              </p:blipFill>
              <p:spPr bwMode="auto">
                <a:xfrm>
                  <a:off x="6919747" y="3477995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87" name="Groupe 86"/>
              <p:cNvGrpSpPr/>
              <p:nvPr/>
            </p:nvGrpSpPr>
            <p:grpSpPr bwMode="auto">
              <a:xfrm>
                <a:off x="5874692" y="3195910"/>
                <a:ext cx="1118245" cy="223200"/>
                <a:chOff x="5914390" y="3194323"/>
                <a:chExt cx="1156020" cy="228223"/>
              </a:xfrm>
            </p:grpSpPr>
            <p:sp>
              <p:nvSpPr>
                <p:cNvPr id="1035" name="Rectangle 1034"/>
                <p:cNvSpPr/>
                <p:nvPr/>
              </p:nvSpPr>
              <p:spPr bwMode="auto">
                <a:xfrm>
                  <a:off x="5974137" y="3206545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9" name="ZoneTexte 1058"/>
                <p:cNvSpPr txBox="1"/>
                <p:nvPr/>
              </p:nvSpPr>
              <p:spPr bwMode="auto">
                <a:xfrm>
                  <a:off x="5914390" y="319432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PA</a:t>
                  </a:r>
                  <a:endParaRPr/>
                </a:p>
              </p:txBody>
            </p:sp>
            <p:pic>
              <p:nvPicPr>
                <p:cNvPr id="1077" name="Picture 40"/>
                <p:cNvPicPr>
                  <a:picLocks noChangeAspect="1" noChangeArrowheads="1"/>
                </p:cNvPicPr>
                <p:nvPr/>
              </p:nvPicPr>
              <p:blipFill rotWithShape="1">
                <a:blip r:embed="rId22"/>
                <a:stretch/>
              </p:blipFill>
              <p:spPr bwMode="auto">
                <a:xfrm>
                  <a:off x="6928087" y="3260673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55" name="Groupe 154"/>
              <p:cNvGrpSpPr/>
              <p:nvPr/>
            </p:nvGrpSpPr>
            <p:grpSpPr bwMode="auto">
              <a:xfrm>
                <a:off x="4825785" y="4243544"/>
                <a:ext cx="1108290" cy="223200"/>
                <a:chOff x="7083873" y="3617545"/>
                <a:chExt cx="1150049" cy="236380"/>
              </a:xfrm>
            </p:grpSpPr>
            <p:sp>
              <p:nvSpPr>
                <p:cNvPr id="141" name="Rectangle 140"/>
                <p:cNvSpPr/>
                <p:nvPr/>
              </p:nvSpPr>
              <p:spPr bwMode="auto">
                <a:xfrm>
                  <a:off x="7129693" y="3637925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83" name="ZoneTexte 182"/>
                <p:cNvSpPr txBox="1"/>
                <p:nvPr/>
              </p:nvSpPr>
              <p:spPr bwMode="auto">
                <a:xfrm>
                  <a:off x="7083873" y="361754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548235"/>
                      </a:solidFill>
                      <a:latin typeface="Segoe UI"/>
                      <a:cs typeface="Segoe UI"/>
                    </a:rPr>
                    <a:t>Fuite</a:t>
                  </a:r>
                  <a:endParaRPr/>
                </a:p>
              </p:txBody>
            </p:sp>
            <p:pic>
              <p:nvPicPr>
                <p:cNvPr id="1073" name="Picture 46"/>
                <p:cNvPicPr>
                  <a:picLocks noChangeAspect="1" noChangeArrowheads="1"/>
                </p:cNvPicPr>
                <p:nvPr/>
              </p:nvPicPr>
              <p:blipFill rotWithShape="1">
                <a:blip r:embed="rId23"/>
                <a:stretch/>
              </p:blipFill>
              <p:spPr bwMode="auto">
                <a:xfrm>
                  <a:off x="8087869" y="3690425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8" name="Groupe 97"/>
              <p:cNvGrpSpPr/>
              <p:nvPr/>
            </p:nvGrpSpPr>
            <p:grpSpPr bwMode="auto">
              <a:xfrm>
                <a:off x="4816420" y="4038561"/>
                <a:ext cx="1116000" cy="223200"/>
                <a:chOff x="4816420" y="4060793"/>
                <a:chExt cx="1159543" cy="223734"/>
              </a:xfrm>
            </p:grpSpPr>
            <p:sp>
              <p:nvSpPr>
                <p:cNvPr id="1047" name="Rectangle : avec coins arrondis en haut 1046"/>
                <p:cNvSpPr/>
                <p:nvPr/>
              </p:nvSpPr>
              <p:spPr bwMode="auto">
                <a:xfrm rot="10800000">
                  <a:off x="4871734" y="4068526"/>
                  <a:ext cx="1104229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7" name="ZoneTexte 1056"/>
                <p:cNvSpPr txBox="1"/>
                <p:nvPr/>
              </p:nvSpPr>
              <p:spPr bwMode="auto">
                <a:xfrm>
                  <a:off x="4816420" y="406079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2F5597"/>
                      </a:solidFill>
                      <a:latin typeface="Segoe UI"/>
                      <a:cs typeface="Segoe UI"/>
                    </a:rPr>
                    <a:t>Chance</a:t>
                  </a:r>
                  <a:endParaRPr/>
                </a:p>
              </p:txBody>
            </p:sp>
            <p:pic>
              <p:nvPicPr>
                <p:cNvPr id="1088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24"/>
                <a:stretch/>
              </p:blipFill>
              <p:spPr bwMode="auto">
                <a:xfrm>
                  <a:off x="5835366" y="4113354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7" name="Groupe 96"/>
              <p:cNvGrpSpPr/>
              <p:nvPr/>
            </p:nvGrpSpPr>
            <p:grpSpPr bwMode="auto">
              <a:xfrm>
                <a:off x="4825913" y="3823315"/>
                <a:ext cx="1106575" cy="223200"/>
                <a:chOff x="4825914" y="3837607"/>
                <a:chExt cx="1150049" cy="232890"/>
              </a:xfrm>
            </p:grpSpPr>
            <p:sp>
              <p:nvSpPr>
                <p:cNvPr id="1045" name="Rectangle 1044"/>
                <p:cNvSpPr/>
                <p:nvPr/>
              </p:nvSpPr>
              <p:spPr bwMode="auto">
                <a:xfrm>
                  <a:off x="4871734" y="3854497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6" name="ZoneTexte 1055"/>
                <p:cNvSpPr txBox="1"/>
                <p:nvPr/>
              </p:nvSpPr>
              <p:spPr bwMode="auto">
                <a:xfrm>
                  <a:off x="4825914" y="383760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548235"/>
                      </a:solidFill>
                      <a:latin typeface="Segoe UI"/>
                      <a:cs typeface="Segoe UI"/>
                    </a:rPr>
                    <a:t>Agi</a:t>
                  </a:r>
                  <a:endParaRPr/>
                </a:p>
              </p:txBody>
            </p:sp>
            <p:pic>
              <p:nvPicPr>
                <p:cNvPr id="1085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25"/>
                <a:stretch/>
              </p:blipFill>
              <p:spPr bwMode="auto">
                <a:xfrm>
                  <a:off x="5832734" y="3909687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6" name="Groupe 95"/>
              <p:cNvGrpSpPr/>
              <p:nvPr/>
            </p:nvGrpSpPr>
            <p:grpSpPr bwMode="auto">
              <a:xfrm>
                <a:off x="4825913" y="3614941"/>
                <a:ext cx="1106575" cy="223200"/>
                <a:chOff x="4825914" y="3618117"/>
                <a:chExt cx="1150049" cy="236380"/>
              </a:xfrm>
            </p:grpSpPr>
            <p:sp>
              <p:nvSpPr>
                <p:cNvPr id="1043" name="Rectangle 1042"/>
                <p:cNvSpPr/>
                <p:nvPr/>
              </p:nvSpPr>
              <p:spPr bwMode="auto">
                <a:xfrm>
                  <a:off x="4871734" y="3638497"/>
                  <a:ext cx="1104229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solidFill>
                      <a:srgbClr val="ED7049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5" name="ZoneTexte 1054"/>
                <p:cNvSpPr txBox="1"/>
                <p:nvPr/>
              </p:nvSpPr>
              <p:spPr bwMode="auto">
                <a:xfrm>
                  <a:off x="4825914" y="361811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ED7049"/>
                      </a:solidFill>
                      <a:latin typeface="Segoe UI"/>
                      <a:cs typeface="Segoe UI"/>
                    </a:rPr>
                    <a:t>Intel</a:t>
                  </a:r>
                  <a:endParaRPr/>
                </a:p>
              </p:txBody>
            </p:sp>
            <p:pic>
              <p:nvPicPr>
                <p:cNvPr id="1084" name="Picture 46"/>
                <p:cNvPicPr>
                  <a:picLocks noChangeAspect="1" noChangeArrowheads="1"/>
                </p:cNvPicPr>
                <p:nvPr/>
              </p:nvPicPr>
              <p:blipFill rotWithShape="1">
                <a:blip r:embed="rId26"/>
                <a:stretch/>
              </p:blipFill>
              <p:spPr bwMode="auto">
                <a:xfrm>
                  <a:off x="5832520" y="3696093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89" name="Groupe 88"/>
              <p:cNvGrpSpPr/>
              <p:nvPr/>
            </p:nvGrpSpPr>
            <p:grpSpPr bwMode="auto">
              <a:xfrm>
                <a:off x="4819596" y="3410337"/>
                <a:ext cx="1112892" cy="223200"/>
                <a:chOff x="4816420" y="3410337"/>
                <a:chExt cx="1157716" cy="228335"/>
              </a:xfrm>
            </p:grpSpPr>
            <p:sp>
              <p:nvSpPr>
                <p:cNvPr id="1051" name="Rectangle 1050"/>
                <p:cNvSpPr/>
                <p:nvPr/>
              </p:nvSpPr>
              <p:spPr bwMode="auto">
                <a:xfrm>
                  <a:off x="4869907" y="3422673"/>
                  <a:ext cx="1104229" cy="216000"/>
                </a:xfrm>
                <a:prstGeom prst="rect">
                  <a:avLst/>
                </a:prstGeom>
                <a:solidFill>
                  <a:srgbClr val="EFE1D5"/>
                </a:solidFill>
                <a:ln>
                  <a:solidFill>
                    <a:srgbClr val="5547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4" name="ZoneTexte 1053"/>
                <p:cNvSpPr txBox="1"/>
                <p:nvPr/>
              </p:nvSpPr>
              <p:spPr bwMode="auto">
                <a:xfrm>
                  <a:off x="4816420" y="341033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554735"/>
                      </a:solidFill>
                      <a:latin typeface="Segoe UI"/>
                      <a:cs typeface="Segoe UI"/>
                    </a:rPr>
                    <a:t>Force</a:t>
                  </a:r>
                  <a:endParaRPr/>
                </a:p>
              </p:txBody>
            </p:sp>
            <p:pic>
              <p:nvPicPr>
                <p:cNvPr id="1083" name="Picture 42"/>
                <p:cNvPicPr>
                  <a:picLocks noChangeAspect="1" noChangeArrowheads="1"/>
                </p:cNvPicPr>
                <p:nvPr/>
              </p:nvPicPr>
              <p:blipFill rotWithShape="1">
                <a:blip r:embed="rId27"/>
                <a:stretch/>
              </p:blipFill>
              <p:spPr bwMode="auto">
                <a:xfrm>
                  <a:off x="5821320" y="3478011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148" name="Groupe 1147"/>
              <p:cNvGrpSpPr/>
              <p:nvPr/>
            </p:nvGrpSpPr>
            <p:grpSpPr bwMode="auto">
              <a:xfrm>
                <a:off x="4822264" y="2731741"/>
                <a:ext cx="2169900" cy="258234"/>
                <a:chOff x="4822264" y="2731741"/>
                <a:chExt cx="2169900" cy="258234"/>
              </a:xfrm>
            </p:grpSpPr>
            <p:sp>
              <p:nvSpPr>
                <p:cNvPr id="1039" name="Rectangle : avec coins arrondis en haut 1038"/>
                <p:cNvSpPr/>
                <p:nvPr/>
              </p:nvSpPr>
              <p:spPr bwMode="auto">
                <a:xfrm>
                  <a:off x="4871734" y="2758064"/>
                  <a:ext cx="2120430" cy="231911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41" name="ZoneTexte 1040"/>
                <p:cNvSpPr txBox="1"/>
                <p:nvPr/>
              </p:nvSpPr>
              <p:spPr bwMode="auto">
                <a:xfrm>
                  <a:off x="4822264" y="2731741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Nom</a:t>
                  </a:r>
                  <a:endParaRPr/>
                </a:p>
              </p:txBody>
            </p:sp>
          </p:grpSp>
          <p:grpSp>
            <p:nvGrpSpPr>
              <p:cNvPr id="86" name="Groupe 85"/>
              <p:cNvGrpSpPr/>
              <p:nvPr/>
            </p:nvGrpSpPr>
            <p:grpSpPr bwMode="auto">
              <a:xfrm>
                <a:off x="5877299" y="2985253"/>
                <a:ext cx="1116000" cy="223200"/>
                <a:chOff x="5913820" y="2985253"/>
                <a:chExt cx="1156590" cy="220656"/>
              </a:xfrm>
            </p:grpSpPr>
            <p:sp>
              <p:nvSpPr>
                <p:cNvPr id="1034" name="Rectangle 1033"/>
                <p:cNvSpPr/>
                <p:nvPr/>
              </p:nvSpPr>
              <p:spPr bwMode="auto">
                <a:xfrm>
                  <a:off x="5965260" y="2992516"/>
                  <a:ext cx="1105150" cy="21339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8" name="ZoneTexte 1057"/>
                <p:cNvSpPr txBox="1"/>
                <p:nvPr/>
              </p:nvSpPr>
              <p:spPr bwMode="auto">
                <a:xfrm>
                  <a:off x="5913820" y="298525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Niveau</a:t>
                  </a:r>
                  <a:endParaRPr/>
                </a:p>
              </p:txBody>
            </p:sp>
          </p:grpSp>
          <p:grpSp>
            <p:nvGrpSpPr>
              <p:cNvPr id="88" name="Groupe 87"/>
              <p:cNvGrpSpPr/>
              <p:nvPr/>
            </p:nvGrpSpPr>
            <p:grpSpPr bwMode="auto">
              <a:xfrm>
                <a:off x="4812589" y="3180453"/>
                <a:ext cx="1119899" cy="241888"/>
                <a:chOff x="4809414" y="3186808"/>
                <a:chExt cx="1230616" cy="255476"/>
              </a:xfrm>
            </p:grpSpPr>
            <p:sp>
              <p:nvSpPr>
                <p:cNvPr id="1050" name="Rectangle 1049"/>
                <p:cNvSpPr/>
                <p:nvPr/>
              </p:nvSpPr>
              <p:spPr bwMode="auto">
                <a:xfrm>
                  <a:off x="4873481" y="3206545"/>
                  <a:ext cx="1166549" cy="235738"/>
                </a:xfrm>
                <a:prstGeom prst="rect">
                  <a:avLst/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3" name="ZoneTexte 1052"/>
                <p:cNvSpPr txBox="1"/>
                <p:nvPr/>
              </p:nvSpPr>
              <p:spPr bwMode="auto">
                <a:xfrm>
                  <a:off x="4809414" y="31868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7030A0"/>
                      </a:solidFill>
                      <a:latin typeface="Segoe UI"/>
                      <a:cs typeface="Segoe UI"/>
                    </a:rPr>
                    <a:t>Sagesse</a:t>
                  </a:r>
                  <a:endParaRPr/>
                </a:p>
              </p:txBody>
            </p:sp>
            <p:pic>
              <p:nvPicPr>
                <p:cNvPr id="1082" name="Picture 40"/>
                <p:cNvPicPr>
                  <a:picLocks noChangeAspect="1" noChangeArrowheads="1"/>
                </p:cNvPicPr>
                <p:nvPr/>
              </p:nvPicPr>
              <p:blipFill rotWithShape="1">
                <a:blip r:embed="rId28"/>
                <a:stretch/>
              </p:blipFill>
              <p:spPr bwMode="auto">
                <a:xfrm>
                  <a:off x="5862765" y="3261312"/>
                  <a:ext cx="108001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72" name="Groupe 71"/>
              <p:cNvGrpSpPr/>
              <p:nvPr/>
            </p:nvGrpSpPr>
            <p:grpSpPr bwMode="auto">
              <a:xfrm>
                <a:off x="4816464" y="2977737"/>
                <a:ext cx="1116000" cy="223200"/>
                <a:chOff x="4816464" y="2977738"/>
                <a:chExt cx="1159499" cy="228171"/>
              </a:xfrm>
            </p:grpSpPr>
            <p:sp>
              <p:nvSpPr>
                <p:cNvPr id="1049" name="Rectangle 1048"/>
                <p:cNvSpPr/>
                <p:nvPr/>
              </p:nvSpPr>
              <p:spPr bwMode="auto">
                <a:xfrm>
                  <a:off x="4871734" y="2992516"/>
                  <a:ext cx="1104229" cy="21339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2" name="ZoneTexte 1051"/>
                <p:cNvSpPr txBox="1"/>
                <p:nvPr/>
              </p:nvSpPr>
              <p:spPr bwMode="auto">
                <a:xfrm>
                  <a:off x="4816464" y="297773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accent4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Vitalité</a:t>
                  </a:r>
                  <a:endParaRPr/>
                </a:p>
              </p:txBody>
            </p:sp>
            <p:pic>
              <p:nvPicPr>
                <p:cNvPr id="1086" name="Picture 40"/>
                <p:cNvPicPr>
                  <a:picLocks noChangeAspect="1" noChangeArrowheads="1"/>
                </p:cNvPicPr>
                <p:nvPr/>
              </p:nvPicPr>
              <p:blipFill rotWithShape="1">
                <a:blip r:embed="rId29"/>
                <a:stretch/>
              </p:blipFill>
              <p:spPr bwMode="auto">
                <a:xfrm>
                  <a:off x="5839654" y="3033163"/>
                  <a:ext cx="102005" cy="102005"/>
                </a:xfrm>
                <a:prstGeom prst="rect">
                  <a:avLst/>
                </a:prstGeom>
                <a:noFill/>
              </p:spPr>
            </p:pic>
          </p:grpSp>
        </p:grpSp>
        <p:grpSp>
          <p:nvGrpSpPr>
            <p:cNvPr id="1146" name="Groupe 1145"/>
            <p:cNvGrpSpPr/>
            <p:nvPr/>
          </p:nvGrpSpPr>
          <p:grpSpPr bwMode="auto">
            <a:xfrm>
              <a:off x="7134225" y="2459037"/>
              <a:ext cx="1106583" cy="221577"/>
              <a:chOff x="6841321" y="2199106"/>
              <a:chExt cx="1142781" cy="238310"/>
            </a:xfrm>
          </p:grpSpPr>
          <p:sp>
            <p:nvSpPr>
              <p:cNvPr id="3" name="Rectangle : avec coins arrondis en haut 2"/>
              <p:cNvSpPr/>
              <p:nvPr/>
            </p:nvSpPr>
            <p:spPr bwMode="auto">
              <a:xfrm rot="10800000">
                <a:off x="6887115" y="2221416"/>
                <a:ext cx="1096987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1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" name="ZoneTexte 3"/>
              <p:cNvSpPr txBox="1"/>
              <p:nvPr/>
            </p:nvSpPr>
            <p:spPr bwMode="auto">
              <a:xfrm>
                <a:off x="6841321" y="219910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Créature</a:t>
                </a:r>
                <a:endParaRPr/>
              </a:p>
            </p:txBody>
          </p:sp>
        </p:grpSp>
        <p:grpSp>
          <p:nvGrpSpPr>
            <p:cNvPr id="171" name="Groupe 170"/>
            <p:cNvGrpSpPr/>
            <p:nvPr/>
          </p:nvGrpSpPr>
          <p:grpSpPr bwMode="auto">
            <a:xfrm>
              <a:off x="8186966" y="4365145"/>
              <a:ext cx="1124674" cy="223200"/>
              <a:chOff x="8171734" y="4072968"/>
              <a:chExt cx="1156632" cy="216219"/>
            </a:xfrm>
          </p:grpSpPr>
          <p:sp>
            <p:nvSpPr>
              <p:cNvPr id="42" name="Rectangle : avec coins arrondis en haut 41"/>
              <p:cNvSpPr/>
              <p:nvPr/>
            </p:nvSpPr>
            <p:spPr bwMode="auto"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60" name="ZoneTexte 59"/>
              <p:cNvSpPr txBox="1"/>
              <p:nvPr/>
            </p:nvSpPr>
            <p:spPr bwMode="auto">
              <a:xfrm>
                <a:off x="8171734" y="4072968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Critique</a:t>
                </a:r>
                <a:endParaRPr/>
              </a:p>
            </p:txBody>
          </p:sp>
          <p:pic>
            <p:nvPicPr>
              <p:cNvPr id="63" name="Picture 44"/>
              <p:cNvPicPr>
                <a:picLocks noChangeAspect="1" noChangeArrowheads="1"/>
              </p:cNvPicPr>
              <p:nvPr/>
            </p:nvPicPr>
            <p:blipFill rotWithShape="1">
              <a:blip r:embed="rId30"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</p:spPr>
          </p:pic>
        </p:grpSp>
        <p:grpSp>
          <p:nvGrpSpPr>
            <p:cNvPr id="170" name="Groupe 169"/>
            <p:cNvGrpSpPr/>
            <p:nvPr/>
          </p:nvGrpSpPr>
          <p:grpSpPr bwMode="auto">
            <a:xfrm>
              <a:off x="8194872" y="4142508"/>
              <a:ext cx="1115181" cy="223200"/>
              <a:chOff x="8181228" y="3844550"/>
              <a:chExt cx="1147140" cy="225375"/>
            </a:xfrm>
          </p:grpSpPr>
          <p:sp>
            <p:nvSpPr>
              <p:cNvPr id="133" name="Rectangle 132"/>
              <p:cNvSpPr/>
              <p:nvPr/>
            </p:nvSpPr>
            <p:spPr bwMode="auto"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27" name="ZoneTexte 1026"/>
              <p:cNvSpPr txBox="1"/>
              <p:nvPr/>
            </p:nvSpPr>
            <p:spPr bwMode="auto"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2F5597"/>
                    </a:solidFill>
                    <a:latin typeface="Segoe UI"/>
                    <a:cs typeface="Segoe UI"/>
                  </a:rPr>
                  <a:t>Rés. Eau</a:t>
                </a:r>
                <a:endParaRPr/>
              </a:p>
            </p:txBody>
          </p:sp>
          <p:pic>
            <p:nvPicPr>
              <p:cNvPr id="1068" name="Picture 10"/>
              <p:cNvPicPr>
                <a:picLocks noChangeAspect="1" noChangeArrowheads="1"/>
              </p:cNvPicPr>
              <p:nvPr/>
            </p:nvPicPr>
            <p:blipFill rotWithShape="1">
              <a:blip r:embed="rId31"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62" name="Groupe 161"/>
            <p:cNvGrpSpPr/>
            <p:nvPr/>
          </p:nvGrpSpPr>
          <p:grpSpPr bwMode="auto">
            <a:xfrm>
              <a:off x="8194873" y="3929370"/>
              <a:ext cx="1113592" cy="223200"/>
              <a:chOff x="8181228" y="3625060"/>
              <a:chExt cx="1147140" cy="228865"/>
            </a:xfrm>
          </p:grpSpPr>
          <p:sp>
            <p:nvSpPr>
              <p:cNvPr id="100" name="Rectangle 99"/>
              <p:cNvSpPr/>
              <p:nvPr/>
            </p:nvSpPr>
            <p:spPr bwMode="auto"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25" name="ZoneTexte 1024"/>
              <p:cNvSpPr txBox="1"/>
              <p:nvPr/>
            </p:nvSpPr>
            <p:spPr bwMode="auto"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48235"/>
                    </a:solidFill>
                    <a:latin typeface="Segoe UI"/>
                    <a:cs typeface="Segoe UI"/>
                  </a:rPr>
                  <a:t>Rés. Air</a:t>
                </a:r>
                <a:endParaRPr/>
              </a:p>
            </p:txBody>
          </p:sp>
          <p:pic>
            <p:nvPicPr>
              <p:cNvPr id="1069" name="Picture 12"/>
              <p:cNvPicPr>
                <a:picLocks noChangeAspect="1" noChangeArrowheads="1"/>
              </p:cNvPicPr>
              <p:nvPr/>
            </p:nvPicPr>
            <p:blipFill rotWithShape="1">
              <a:blip r:embed="rId32"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61" name="Groupe 160"/>
            <p:cNvGrpSpPr/>
            <p:nvPr/>
          </p:nvGrpSpPr>
          <p:grpSpPr bwMode="auto">
            <a:xfrm>
              <a:off x="8186967" y="3718414"/>
              <a:ext cx="1121497" cy="223200"/>
              <a:chOff x="8171735" y="3417280"/>
              <a:chExt cx="1154806" cy="220821"/>
            </a:xfrm>
          </p:grpSpPr>
          <p:sp>
            <p:nvSpPr>
              <p:cNvPr id="138" name="Rectangle 137"/>
              <p:cNvSpPr/>
              <p:nvPr/>
            </p:nvSpPr>
            <p:spPr bwMode="auto"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rgbClr val="ED7049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024" name="ZoneTexte 1023"/>
              <p:cNvSpPr txBox="1"/>
              <p:nvPr/>
            </p:nvSpPr>
            <p:spPr bwMode="auto"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ED7049"/>
                    </a:solidFill>
                    <a:latin typeface="Segoe UI"/>
                    <a:cs typeface="Segoe UI"/>
                  </a:rPr>
                  <a:t>Rés. Feu</a:t>
                </a:r>
                <a:endParaRPr/>
              </a:p>
            </p:txBody>
          </p:sp>
          <p:pic>
            <p:nvPicPr>
              <p:cNvPr id="1067" name="Picture 6"/>
              <p:cNvPicPr>
                <a:picLocks noChangeAspect="1" noChangeArrowheads="1"/>
              </p:cNvPicPr>
              <p:nvPr/>
            </p:nvPicPr>
            <p:blipFill rotWithShape="1">
              <a:blip r:embed="rId33"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60" name="Groupe 159"/>
            <p:cNvGrpSpPr/>
            <p:nvPr/>
          </p:nvGrpSpPr>
          <p:grpSpPr bwMode="auto">
            <a:xfrm>
              <a:off x="8178373" y="3501237"/>
              <a:ext cx="1130091" cy="223200"/>
              <a:chOff x="8164729" y="3193751"/>
              <a:chExt cx="1163639" cy="228223"/>
            </a:xfrm>
          </p:grpSpPr>
          <p:sp>
            <p:nvSpPr>
              <p:cNvPr id="135" name="Rectangle 134"/>
              <p:cNvSpPr/>
              <p:nvPr/>
            </p:nvSpPr>
            <p:spPr bwMode="auto"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1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88" name="ZoneTexte 187"/>
              <p:cNvSpPr txBox="1"/>
              <p:nvPr/>
            </p:nvSpPr>
            <p:spPr bwMode="auto"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54735"/>
                    </a:solidFill>
                    <a:latin typeface="Segoe UI"/>
                    <a:cs typeface="Segoe UI"/>
                  </a:rPr>
                  <a:t>Rés. Terre</a:t>
                </a:r>
                <a:endParaRPr/>
              </a:p>
            </p:txBody>
          </p:sp>
          <p:pic>
            <p:nvPicPr>
              <p:cNvPr id="1066" name="Picture 4"/>
              <p:cNvPicPr>
                <a:picLocks noChangeAspect="1" noChangeArrowheads="1"/>
              </p:cNvPicPr>
              <p:nvPr/>
            </p:nvPicPr>
            <p:blipFill rotWithShape="1">
              <a:blip r:embed="rId34"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59" name="Groupe 158"/>
            <p:cNvGrpSpPr/>
            <p:nvPr/>
          </p:nvGrpSpPr>
          <p:grpSpPr bwMode="auto">
            <a:xfrm>
              <a:off x="8185423" y="3290579"/>
              <a:ext cx="1123042" cy="223200"/>
              <a:chOff x="8171779" y="2984681"/>
              <a:chExt cx="1156589" cy="220656"/>
            </a:xfrm>
          </p:grpSpPr>
          <p:sp>
            <p:nvSpPr>
              <p:cNvPr id="134" name="Rectangle 133"/>
              <p:cNvSpPr/>
              <p:nvPr/>
            </p:nvSpPr>
            <p:spPr bwMode="auto"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85" name="ZoneTexte 184"/>
              <p:cNvSpPr txBox="1"/>
              <p:nvPr/>
            </p:nvSpPr>
            <p:spPr bwMode="auto"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Rés. Neutre</a:t>
                </a:r>
                <a:endParaRPr/>
              </a:p>
            </p:txBody>
          </p:sp>
          <p:pic>
            <p:nvPicPr>
              <p:cNvPr id="1070" name="Picture 14"/>
              <p:cNvPicPr>
                <a:picLocks noChangeAspect="1" noChangeArrowheads="1"/>
              </p:cNvPicPr>
              <p:nvPr/>
            </p:nvPicPr>
            <p:blipFill rotWithShape="1">
              <a:blip r:embed="rId35"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54" name="Groupe 153"/>
            <p:cNvGrpSpPr/>
            <p:nvPr/>
          </p:nvGrpSpPr>
          <p:grpSpPr bwMode="auto">
            <a:xfrm>
              <a:off x="7129462" y="3075879"/>
              <a:ext cx="1114443" cy="223200"/>
              <a:chOff x="7074379" y="3409764"/>
              <a:chExt cx="1157716" cy="228335"/>
            </a:xfrm>
          </p:grpSpPr>
          <p:sp>
            <p:nvSpPr>
              <p:cNvPr id="179" name="Rectangle 178"/>
              <p:cNvSpPr/>
              <p:nvPr/>
            </p:nvSpPr>
            <p:spPr bwMode="auto">
              <a:xfrm>
                <a:off x="7127866" y="3422101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82" name="ZoneTexte 181"/>
              <p:cNvSpPr txBox="1"/>
              <p:nvPr/>
            </p:nvSpPr>
            <p:spPr bwMode="auto">
              <a:xfrm>
                <a:off x="7074379" y="3409764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7030A0"/>
                    </a:solidFill>
                    <a:latin typeface="Segoe UI"/>
                    <a:cs typeface="Segoe UI"/>
                  </a:rPr>
                  <a:t>Esquive PM</a:t>
                </a:r>
                <a:endParaRPr/>
              </a:p>
            </p:txBody>
          </p:sp>
          <p:pic>
            <p:nvPicPr>
              <p:cNvPr id="1072" name="Picture 42"/>
              <p:cNvPicPr>
                <a:picLocks noChangeAspect="1" noChangeArrowheads="1"/>
              </p:cNvPicPr>
              <p:nvPr/>
            </p:nvPicPr>
            <p:blipFill rotWithShape="1">
              <a:blip r:embed="rId36"/>
              <a:stretch/>
            </p:blipFill>
            <p:spPr bwMode="auto">
              <a:xfrm>
                <a:off x="8090383" y="3476478"/>
                <a:ext cx="108000" cy="104072"/>
              </a:xfrm>
              <a:prstGeom prst="rect">
                <a:avLst/>
              </a:prstGeom>
              <a:noFill/>
            </p:spPr>
          </p:pic>
        </p:grpSp>
        <p:grpSp>
          <p:nvGrpSpPr>
            <p:cNvPr id="157" name="Groupe 156"/>
            <p:cNvGrpSpPr/>
            <p:nvPr/>
          </p:nvGrpSpPr>
          <p:grpSpPr bwMode="auto">
            <a:xfrm>
              <a:off x="8184326" y="2857680"/>
              <a:ext cx="1122350" cy="234248"/>
              <a:chOff x="7067784" y="4047941"/>
              <a:chExt cx="1166144" cy="246221"/>
            </a:xfrm>
          </p:grpSpPr>
          <p:sp>
            <p:nvSpPr>
              <p:cNvPr id="50" name="Rectangle : avec coins arrondis en haut 49"/>
              <p:cNvSpPr/>
              <p:nvPr/>
            </p:nvSpPr>
            <p:spPr bwMode="auto">
              <a:xfrm rot="10800000">
                <a:off x="7129698" y="4073187"/>
                <a:ext cx="1104230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FF2CC"/>
              </a:solidFill>
              <a:ln>
                <a:solidFill>
                  <a:srgbClr val="7F6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53" name="ZoneTexte 52"/>
              <p:cNvSpPr txBox="1"/>
              <p:nvPr/>
            </p:nvSpPr>
            <p:spPr bwMode="auto">
              <a:xfrm>
                <a:off x="7067784" y="4047941"/>
                <a:ext cx="61074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7F6000"/>
                    </a:solidFill>
                    <a:latin typeface="Segoe UI"/>
                    <a:cs typeface="Segoe UI"/>
                  </a:rPr>
                  <a:t>Points de vie temporaires</a:t>
                </a:r>
                <a:endParaRPr/>
              </a:p>
            </p:txBody>
          </p:sp>
          <p:pic>
            <p:nvPicPr>
              <p:cNvPr id="71" name="Picture 44"/>
              <p:cNvPicPr>
                <a:picLocks noChangeAspect="1" noChangeArrowheads="1"/>
              </p:cNvPicPr>
              <p:nvPr/>
            </p:nvPicPr>
            <p:blipFill rotWithShape="1">
              <a:blip r:embed="rId37"/>
              <a:stretch/>
            </p:blipFill>
            <p:spPr bwMode="auto">
              <a:xfrm>
                <a:off x="8093327" y="412302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42" name="Groupe 1141"/>
            <p:cNvGrpSpPr/>
            <p:nvPr/>
          </p:nvGrpSpPr>
          <p:grpSpPr bwMode="auto">
            <a:xfrm>
              <a:off x="7122812" y="4363871"/>
              <a:ext cx="1122027" cy="223200"/>
              <a:chOff x="8171734" y="4072968"/>
              <a:chExt cx="1156632" cy="216219"/>
            </a:xfrm>
          </p:grpSpPr>
          <p:sp>
            <p:nvSpPr>
              <p:cNvPr id="1143" name="Rectangle : avec coins arrondis en haut 1142"/>
              <p:cNvSpPr/>
              <p:nvPr/>
            </p:nvSpPr>
            <p:spPr bwMode="auto"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144" name="ZoneTexte 1143"/>
              <p:cNvSpPr txBox="1"/>
              <p:nvPr/>
            </p:nvSpPr>
            <p:spPr bwMode="auto">
              <a:xfrm>
                <a:off x="8171734" y="4072968"/>
                <a:ext cx="58386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Dmg multiple</a:t>
                </a:r>
                <a:endParaRPr lang="fr-FR" sz="5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endParaRPr>
              </a:p>
            </p:txBody>
          </p:sp>
          <p:pic>
            <p:nvPicPr>
              <p:cNvPr id="1145" name="Picture 44"/>
              <p:cNvPicPr>
                <a:picLocks noChangeAspect="1" noChangeArrowheads="1"/>
              </p:cNvPicPr>
              <p:nvPr/>
            </p:nvPicPr>
            <p:blipFill rotWithShape="1">
              <a:blip r:embed="rId38"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</p:spPr>
          </p:pic>
        </p:grpSp>
        <p:grpSp>
          <p:nvGrpSpPr>
            <p:cNvPr id="1112" name="Groupe 1111"/>
            <p:cNvGrpSpPr/>
            <p:nvPr/>
          </p:nvGrpSpPr>
          <p:grpSpPr bwMode="auto">
            <a:xfrm>
              <a:off x="7132307" y="4139646"/>
              <a:ext cx="1112533" cy="223200"/>
              <a:chOff x="8181228" y="3844550"/>
              <a:chExt cx="1147140" cy="225375"/>
            </a:xfrm>
          </p:grpSpPr>
          <p:sp>
            <p:nvSpPr>
              <p:cNvPr id="1113" name="Rectangle 1112"/>
              <p:cNvSpPr/>
              <p:nvPr/>
            </p:nvSpPr>
            <p:spPr bwMode="auto"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114" name="ZoneTexte 1113"/>
              <p:cNvSpPr txBox="1"/>
              <p:nvPr/>
            </p:nvSpPr>
            <p:spPr bwMode="auto"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2F5597"/>
                    </a:solidFill>
                    <a:latin typeface="Segoe UI"/>
                    <a:cs typeface="Segoe UI"/>
                  </a:rPr>
                  <a:t>Dmg. Eau</a:t>
                </a:r>
                <a:endParaRPr/>
              </a:p>
            </p:txBody>
          </p:sp>
          <p:pic>
            <p:nvPicPr>
              <p:cNvPr id="1115" name="Picture 10"/>
              <p:cNvPicPr>
                <a:picLocks noChangeAspect="1" noChangeArrowheads="1"/>
              </p:cNvPicPr>
              <p:nvPr/>
            </p:nvPicPr>
            <p:blipFill rotWithShape="1">
              <a:blip r:embed="rId39"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16" name="Groupe 1115"/>
            <p:cNvGrpSpPr/>
            <p:nvPr/>
          </p:nvGrpSpPr>
          <p:grpSpPr bwMode="auto">
            <a:xfrm>
              <a:off x="7132307" y="3926508"/>
              <a:ext cx="1112533" cy="223200"/>
              <a:chOff x="8181228" y="3625060"/>
              <a:chExt cx="1147140" cy="228865"/>
            </a:xfrm>
          </p:grpSpPr>
          <p:sp>
            <p:nvSpPr>
              <p:cNvPr id="1117" name="Rectangle 1116"/>
              <p:cNvSpPr/>
              <p:nvPr/>
            </p:nvSpPr>
            <p:spPr bwMode="auto"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119" name="ZoneTexte 1118"/>
              <p:cNvSpPr txBox="1"/>
              <p:nvPr/>
            </p:nvSpPr>
            <p:spPr bwMode="auto"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48235"/>
                    </a:solidFill>
                    <a:latin typeface="Segoe UI"/>
                    <a:cs typeface="Segoe UI"/>
                  </a:rPr>
                  <a:t>Dmg. Air</a:t>
                </a:r>
                <a:endParaRPr/>
              </a:p>
            </p:txBody>
          </p:sp>
          <p:pic>
            <p:nvPicPr>
              <p:cNvPr id="1137" name="Picture 12"/>
              <p:cNvPicPr>
                <a:picLocks noChangeAspect="1" noChangeArrowheads="1"/>
              </p:cNvPicPr>
              <p:nvPr/>
            </p:nvPicPr>
            <p:blipFill rotWithShape="1">
              <a:blip r:embed="rId40"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08" name="Groupe 1107"/>
            <p:cNvGrpSpPr/>
            <p:nvPr/>
          </p:nvGrpSpPr>
          <p:grpSpPr bwMode="auto">
            <a:xfrm>
              <a:off x="7124401" y="3715554"/>
              <a:ext cx="1118851" cy="223200"/>
              <a:chOff x="8171735" y="3417280"/>
              <a:chExt cx="1154806" cy="220821"/>
            </a:xfrm>
          </p:grpSpPr>
          <p:sp>
            <p:nvSpPr>
              <p:cNvPr id="1109" name="Rectangle 1108"/>
              <p:cNvSpPr/>
              <p:nvPr/>
            </p:nvSpPr>
            <p:spPr bwMode="auto"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rgbClr val="ED7049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110" name="ZoneTexte 1109"/>
              <p:cNvSpPr txBox="1"/>
              <p:nvPr/>
            </p:nvSpPr>
            <p:spPr bwMode="auto"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ED7049"/>
                    </a:solidFill>
                    <a:latin typeface="Segoe UI"/>
                    <a:cs typeface="Segoe UI"/>
                  </a:rPr>
                  <a:t>Dmg. Feu</a:t>
                </a:r>
                <a:endParaRPr/>
              </a:p>
            </p:txBody>
          </p:sp>
          <p:pic>
            <p:nvPicPr>
              <p:cNvPr id="1111" name="Picture 6"/>
              <p:cNvPicPr>
                <a:picLocks noChangeAspect="1" noChangeArrowheads="1"/>
              </p:cNvPicPr>
              <p:nvPr/>
            </p:nvPicPr>
            <p:blipFill rotWithShape="1">
              <a:blip r:embed="rId41"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04" name="Groupe 1103"/>
            <p:cNvGrpSpPr/>
            <p:nvPr/>
          </p:nvGrpSpPr>
          <p:grpSpPr bwMode="auto">
            <a:xfrm>
              <a:off x="7117395" y="3496789"/>
              <a:ext cx="1125857" cy="223200"/>
              <a:chOff x="8164729" y="3193751"/>
              <a:chExt cx="1163639" cy="228223"/>
            </a:xfrm>
          </p:grpSpPr>
          <p:sp>
            <p:nvSpPr>
              <p:cNvPr id="1105" name="Rectangle 1104"/>
              <p:cNvSpPr/>
              <p:nvPr/>
            </p:nvSpPr>
            <p:spPr bwMode="auto"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1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106" name="ZoneTexte 1105"/>
              <p:cNvSpPr txBox="1"/>
              <p:nvPr/>
            </p:nvSpPr>
            <p:spPr bwMode="auto"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54735"/>
                    </a:solidFill>
                    <a:latin typeface="Segoe UI"/>
                    <a:cs typeface="Segoe UI"/>
                  </a:rPr>
                  <a:t>Dmg. Terre</a:t>
                </a:r>
                <a:endParaRPr/>
              </a:p>
            </p:txBody>
          </p:sp>
          <p:pic>
            <p:nvPicPr>
              <p:cNvPr id="1107" name="Picture 4"/>
              <p:cNvPicPr>
                <a:picLocks noChangeAspect="1" noChangeArrowheads="1"/>
              </p:cNvPicPr>
              <p:nvPr/>
            </p:nvPicPr>
            <p:blipFill rotWithShape="1">
              <a:blip r:embed="rId42"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38" name="Groupe 1137"/>
            <p:cNvGrpSpPr/>
            <p:nvPr/>
          </p:nvGrpSpPr>
          <p:grpSpPr bwMode="auto">
            <a:xfrm>
              <a:off x="7122857" y="3286131"/>
              <a:ext cx="1120395" cy="223200"/>
              <a:chOff x="8171779" y="2984681"/>
              <a:chExt cx="1156589" cy="220656"/>
            </a:xfrm>
          </p:grpSpPr>
          <p:sp>
            <p:nvSpPr>
              <p:cNvPr id="1139" name="Rectangle 1138"/>
              <p:cNvSpPr/>
              <p:nvPr/>
            </p:nvSpPr>
            <p:spPr bwMode="auto"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140" name="ZoneTexte 1139"/>
              <p:cNvSpPr txBox="1"/>
              <p:nvPr/>
            </p:nvSpPr>
            <p:spPr bwMode="auto"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Dmg. Neutre</a:t>
                </a:r>
                <a:endParaRPr/>
              </a:p>
            </p:txBody>
          </p:sp>
          <p:pic>
            <p:nvPicPr>
              <p:cNvPr id="1141" name="Picture 14"/>
              <p:cNvPicPr>
                <a:picLocks noChangeAspect="1" noChangeArrowheads="1"/>
              </p:cNvPicPr>
              <p:nvPr/>
            </p:nvPicPr>
            <p:blipFill rotWithShape="1">
              <a:blip r:embed="rId43"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53" name="Groupe 152"/>
            <p:cNvGrpSpPr/>
            <p:nvPr/>
          </p:nvGrpSpPr>
          <p:grpSpPr bwMode="auto">
            <a:xfrm>
              <a:off x="7120206" y="2867254"/>
              <a:ext cx="1121460" cy="223200"/>
              <a:chOff x="7067373" y="3186236"/>
              <a:chExt cx="1166549" cy="235738"/>
            </a:xfrm>
          </p:grpSpPr>
          <p:sp>
            <p:nvSpPr>
              <p:cNvPr id="178" name="Rectangle 177"/>
              <p:cNvSpPr/>
              <p:nvPr/>
            </p:nvSpPr>
            <p:spPr bwMode="auto">
              <a:xfrm>
                <a:off x="7129693" y="3205974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81" name="ZoneTexte 180"/>
              <p:cNvSpPr txBox="1"/>
              <p:nvPr/>
            </p:nvSpPr>
            <p:spPr bwMode="auto">
              <a:xfrm>
                <a:off x="7067373" y="3186236"/>
                <a:ext cx="62687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7030A0"/>
                    </a:solidFill>
                    <a:latin typeface="Segoe UI"/>
                    <a:cs typeface="Segoe UI"/>
                  </a:rPr>
                  <a:t>Esquive PA</a:t>
                </a:r>
                <a:endParaRPr/>
              </a:p>
            </p:txBody>
          </p:sp>
          <p:pic>
            <p:nvPicPr>
              <p:cNvPr id="1071" name="Picture 40"/>
              <p:cNvPicPr>
                <a:picLocks noChangeAspect="1" noChangeArrowheads="1"/>
              </p:cNvPicPr>
              <p:nvPr/>
            </p:nvPicPr>
            <p:blipFill rotWithShape="1">
              <a:blip r:embed="rId44"/>
              <a:stretch/>
            </p:blipFill>
            <p:spPr bwMode="auto">
              <a:xfrm>
                <a:off x="8092919" y="3257367"/>
                <a:ext cx="108000" cy="104072"/>
              </a:xfrm>
              <a:prstGeom prst="rect">
                <a:avLst/>
              </a:prstGeom>
              <a:noFill/>
            </p:spPr>
          </p:pic>
        </p:grpSp>
        <p:grpSp>
          <p:nvGrpSpPr>
            <p:cNvPr id="152" name="Groupe 151"/>
            <p:cNvGrpSpPr/>
            <p:nvPr/>
          </p:nvGrpSpPr>
          <p:grpSpPr bwMode="auto">
            <a:xfrm>
              <a:off x="7127572" y="2664625"/>
              <a:ext cx="1116000" cy="219862"/>
              <a:chOff x="7074423" y="2977166"/>
              <a:chExt cx="1159499" cy="228171"/>
            </a:xfrm>
          </p:grpSpPr>
          <p:sp>
            <p:nvSpPr>
              <p:cNvPr id="177" name="Rectangle 176"/>
              <p:cNvSpPr/>
              <p:nvPr/>
            </p:nvSpPr>
            <p:spPr bwMode="auto">
              <a:xfrm>
                <a:off x="7129693" y="2991944"/>
                <a:ext cx="1104229" cy="2133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80" name="ZoneTexte 179"/>
              <p:cNvSpPr txBox="1"/>
              <p:nvPr/>
            </p:nvSpPr>
            <p:spPr bwMode="auto">
              <a:xfrm>
                <a:off x="7074423" y="297716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CA</a:t>
                </a:r>
                <a:endParaRPr/>
              </a:p>
            </p:txBody>
          </p:sp>
          <p:pic>
            <p:nvPicPr>
              <p:cNvPr id="1075" name="Picture 40"/>
              <p:cNvPicPr>
                <a:picLocks noChangeAspect="1" noChangeArrowheads="1"/>
              </p:cNvPicPr>
              <p:nvPr/>
            </p:nvPicPr>
            <p:blipFill rotWithShape="1">
              <a:blip r:embed="rId45"/>
              <a:stretch/>
            </p:blipFill>
            <p:spPr bwMode="auto">
              <a:xfrm>
                <a:off x="8094829" y="3041787"/>
                <a:ext cx="102005" cy="102005"/>
              </a:xfrm>
              <a:prstGeom prst="rect">
                <a:avLst/>
              </a:prstGeom>
              <a:noFill/>
            </p:spPr>
          </p:pic>
        </p:grpSp>
        <p:grpSp>
          <p:nvGrpSpPr>
            <p:cNvPr id="131" name="Groupe 130"/>
            <p:cNvGrpSpPr/>
            <p:nvPr/>
          </p:nvGrpSpPr>
          <p:grpSpPr bwMode="auto">
            <a:xfrm>
              <a:off x="8196244" y="2457569"/>
              <a:ext cx="1109681" cy="223198"/>
              <a:chOff x="8181405" y="2492564"/>
              <a:chExt cx="1153283" cy="258231"/>
            </a:xfrm>
          </p:grpSpPr>
          <p:sp>
            <p:nvSpPr>
              <p:cNvPr id="139" name="Rectangle : avec coins arrondis en haut 138"/>
              <p:cNvSpPr/>
              <p:nvPr/>
            </p:nvSpPr>
            <p:spPr bwMode="auto">
              <a:xfrm>
                <a:off x="8230875" y="2518884"/>
                <a:ext cx="1103814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BE5D6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pic>
            <p:nvPicPr>
              <p:cNvPr id="1076" name="Picture 40"/>
              <p:cNvPicPr>
                <a:picLocks noChangeAspect="1" noChangeArrowheads="1"/>
              </p:cNvPicPr>
              <p:nvPr/>
            </p:nvPicPr>
            <p:blipFill rotWithShape="1">
              <a:blip r:embed="rId46"/>
              <a:stretch/>
            </p:blipFill>
            <p:spPr bwMode="auto">
              <a:xfrm>
                <a:off x="9178415" y="2564571"/>
                <a:ext cx="134301" cy="134301"/>
              </a:xfrm>
              <a:prstGeom prst="rect">
                <a:avLst/>
              </a:prstGeom>
              <a:noFill/>
            </p:spPr>
          </p:pic>
          <p:sp>
            <p:nvSpPr>
              <p:cNvPr id="140" name="ZoneTexte 139"/>
              <p:cNvSpPr txBox="1"/>
              <p:nvPr/>
            </p:nvSpPr>
            <p:spPr bwMode="auto">
              <a:xfrm>
                <a:off x="8181405" y="2492564"/>
                <a:ext cx="5180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843C0C"/>
                    </a:solidFill>
                    <a:latin typeface="Segoe UI"/>
                    <a:cs typeface="Segoe UI"/>
                  </a:rPr>
                  <a:t>Points de vie</a:t>
                </a:r>
                <a:endParaRPr/>
              </a:p>
            </p:txBody>
          </p:sp>
        </p:grpSp>
      </p:grpSp>
      <p:sp>
        <p:nvSpPr>
          <p:cNvPr id="1977353491" name="Zone de texte 26"/>
          <p:cNvSpPr txBox="1"/>
          <p:nvPr/>
        </p:nvSpPr>
        <p:spPr bwMode="auto">
          <a:xfrm>
            <a:off x="223578" y="7984438"/>
            <a:ext cx="2133598" cy="2199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799"/>
              </a:spcAft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  <a:latin typeface="Segoe UI"/>
                <a:ea typeface="Calibri"/>
                <a:cs typeface="Segoe UI"/>
              </a:rPr>
              <a:t>Autres informations</a:t>
            </a:r>
          </a:p>
        </p:txBody>
      </p:sp>
      <p:cxnSp>
        <p:nvCxnSpPr>
          <p:cNvPr id="42090279" name="Connecteur droit 110"/>
          <p:cNvCxnSpPr/>
          <p:nvPr/>
        </p:nvCxnSpPr>
        <p:spPr bwMode="auto">
          <a:xfrm>
            <a:off x="1810833" y="7068837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4247930" name="Connecteur droit 111"/>
          <p:cNvCxnSpPr/>
          <p:nvPr/>
        </p:nvCxnSpPr>
        <p:spPr bwMode="auto">
          <a:xfrm>
            <a:off x="1810833" y="7346358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617856" name="Connecteur droit 112"/>
          <p:cNvCxnSpPr/>
          <p:nvPr/>
        </p:nvCxnSpPr>
        <p:spPr bwMode="auto">
          <a:xfrm>
            <a:off x="1810833" y="7608879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0439133" name="Connecteur droit 50"/>
          <p:cNvCxnSpPr/>
          <p:nvPr/>
        </p:nvCxnSpPr>
        <p:spPr bwMode="auto">
          <a:xfrm>
            <a:off x="1810833" y="6551697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2834825" name="Connecteur droit 51"/>
          <p:cNvCxnSpPr/>
          <p:nvPr/>
        </p:nvCxnSpPr>
        <p:spPr bwMode="auto">
          <a:xfrm>
            <a:off x="1810833" y="6814217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007567" name="Zone de texte 26"/>
          <p:cNvSpPr txBox="1"/>
          <p:nvPr/>
        </p:nvSpPr>
        <p:spPr bwMode="auto">
          <a:xfrm>
            <a:off x="1778135" y="6179925"/>
            <a:ext cx="478746" cy="32521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799"/>
              </a:spcAft>
              <a:defRPr/>
            </a:pPr>
            <a:r>
              <a:rPr lang="fr-FR" sz="900">
                <a:solidFill>
                  <a:schemeClr val="bg1">
                    <a:lumMod val="50000"/>
                  </a:schemeClr>
                </a:solidFill>
                <a:latin typeface="Segoe UI"/>
                <a:ea typeface="Calibri"/>
                <a:cs typeface="Segoe UI"/>
              </a:rPr>
              <a:t>Nvx</a:t>
            </a:r>
          </a:p>
        </p:txBody>
      </p:sp>
      <p:cxnSp>
        <p:nvCxnSpPr>
          <p:cNvPr id="5048322" name="Connecteur droit 112"/>
          <p:cNvCxnSpPr/>
          <p:nvPr/>
        </p:nvCxnSpPr>
        <p:spPr bwMode="auto">
          <a:xfrm>
            <a:off x="487873" y="7874525"/>
            <a:ext cx="11112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2544377" name="Connecteur droit 112"/>
          <p:cNvCxnSpPr/>
          <p:nvPr/>
        </p:nvCxnSpPr>
        <p:spPr bwMode="auto">
          <a:xfrm>
            <a:off x="1810833" y="7874525"/>
            <a:ext cx="413350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Thème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Thème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972</Words>
  <Application>Microsoft Office PowerPoint</Application>
  <PresentationFormat>A3 (297 x 420 mm)</PresentationFormat>
  <Paragraphs>536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Semilight</vt:lpstr>
      <vt:lpstr>Segoe UI Semilight 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Samuel Bonneau</dc:creator>
  <cp:lastModifiedBy>Sam Bonneau</cp:lastModifiedBy>
  <cp:revision>931</cp:revision>
  <dcterms:created xsi:type="dcterms:W3CDTF">2022-03-19T18:49:26Z</dcterms:created>
  <dcterms:modified xsi:type="dcterms:W3CDTF">2026-10-17T11:50:18Z</dcterms:modified>
</cp:coreProperties>
</file>